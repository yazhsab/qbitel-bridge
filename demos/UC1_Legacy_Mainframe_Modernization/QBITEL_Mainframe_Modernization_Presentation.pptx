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9FF"/>
                </a:solidFill>
                <a:latin typeface="Calibri"/>
              </a:defRPr>
            </a:pPr>
            <a:r>
              <a:t>UC1 — LEGACY MAINFRAME MODERNIZATION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00D9FF"/>
                </a:solidFill>
                <a:latin typeface="Calibri"/>
              </a:defRPr>
            </a:pPr>
            <a:r>
              <a:t>QBITEL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1089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94A3B8"/>
                </a:solidFill>
                <a:latin typeface="Calibri"/>
              </a:defRPr>
            </a:pPr>
            <a:r>
              <a:t>AI-Powered Quantum-Safe Security for Legacy Systems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4389120"/>
            <a:ext cx="2011680" cy="118872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6177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FF88"/>
                </a:solidFill>
                <a:latin typeface="Calibri"/>
              </a:defRPr>
            </a:pPr>
            <a:r>
              <a:t>$3T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2120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Daily COBOL Transactions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0" y="4389120"/>
            <a:ext cx="2011680" cy="118872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46177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FF88"/>
                </a:solidFill>
                <a:latin typeface="Calibri"/>
              </a:defRPr>
            </a:pPr>
            <a:r>
              <a:t>60%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52120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Fortune 500 on Legacy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4389120"/>
            <a:ext cx="2011680" cy="118872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46177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FF88"/>
                </a:solidFill>
                <a:latin typeface="Calibri"/>
              </a:defRPr>
            </a:pPr>
            <a:r>
              <a:t>38yr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52120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Average System 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78240" y="4389120"/>
            <a:ext cx="2011680" cy="118872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0" y="46177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FF88"/>
                </a:solidFill>
                <a:latin typeface="Calibri"/>
              </a:defRPr>
            </a:pPr>
            <a:r>
              <a:t>4.5M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52120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Lines of COBOL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943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100% Open Source  |  Apache 2.0 License  |  Air-Gapped Capable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9F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E2E8F0"/>
                </a:solidFill>
                <a:latin typeface="Calibri"/>
              </a:defRPr>
            </a:pPr>
            <a:r>
              <a:t>Three Converging Crises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291840" cy="4114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9FF"/>
                </a:solidFill>
                <a:latin typeface="Calibri"/>
              </a:defRPr>
            </a:pPr>
            <a:r>
              <a:t>Legacy Crisis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8346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4757"/>
                </a:solidFill>
                <a:latin typeface="Calibri"/>
              </a:defRPr>
            </a:pPr>
            <a:r>
              <a:t>$2-10M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657600"/>
            <a:ext cx="2743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Cost to reverse-engineer ONE legacy system. Original developers retired. No documentation. 6-12 months per system.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011680"/>
            <a:ext cx="3291840" cy="4114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286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9FF"/>
                </a:solidFill>
                <a:latin typeface="Calibri"/>
              </a:defRPr>
            </a:pPr>
            <a:r>
              <a:t>Quantum Threat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8346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9F43"/>
                </a:solidFill>
                <a:latin typeface="Calibri"/>
              </a:defRPr>
            </a:pPr>
            <a:r>
              <a:t>5-10 years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657600"/>
            <a:ext cx="2743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Until RSA/ECC breaks. Nation-states are harvesting encrypted data TODAY for future quantum decryption.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011680"/>
            <a:ext cx="3291840" cy="4114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286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9FF"/>
                </a:solidFill>
                <a:latin typeface="Calibri"/>
              </a:defRPr>
            </a:pPr>
            <a:r>
              <a:t>Speed Gap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8346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D43B"/>
                </a:solidFill>
                <a:latin typeface="Calibri"/>
              </a:defRPr>
            </a:pPr>
            <a:r>
              <a:t>65 minutes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657600"/>
            <a:ext cx="2743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Average SOC response time. Machine-speed attacks happen in seconds. Humans can't keep up.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9FF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E2E8F0"/>
                </a:solidFill>
                <a:latin typeface="Calibri"/>
              </a:defRPr>
            </a:pPr>
            <a:r>
              <a:t>Five-Stage Modernization Journey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2011680" cy="4114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43000" y="2286000"/>
            <a:ext cx="548640" cy="548640"/>
          </a:xfrm>
          <a:prstGeom prst="ellipse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3317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A0B1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175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2E8F0"/>
                </a:solidFill>
                <a:latin typeface="Calibri"/>
              </a:defRPr>
            </a:pPr>
            <a:r>
              <a:t>Discover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47472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AI learns unknown protocols from raw traffic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75488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FF88"/>
                </a:solidFill>
                <a:latin typeface="Calibri"/>
              </a:defRPr>
            </a:pPr>
            <a:r>
              <a:t>2-4 hours vs 6-12 months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514600" y="3840480"/>
            <a:ext cx="228600" cy="182880"/>
          </a:xfrm>
          <a:prstGeom prst="rightArrow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743200" y="2011680"/>
            <a:ext cx="2011680" cy="4114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29000" y="2286000"/>
            <a:ext cx="548640" cy="548640"/>
          </a:xfrm>
          <a:prstGeom prst="ellipse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23317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A0B10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0175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2E8F0"/>
                </a:solidFill>
                <a:latin typeface="Calibri"/>
              </a:defRPr>
            </a:pPr>
            <a:r>
              <a:t>Protect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347472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NIST Level 5 PQC encryption wrapping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475488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FF88"/>
                </a:solidFill>
                <a:latin typeface="Calibri"/>
              </a:defRPr>
            </a:pPr>
            <a:r>
              <a:t>Zero code changes, &lt;1ms overhead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800600" y="3840480"/>
            <a:ext cx="228600" cy="182880"/>
          </a:xfrm>
          <a:prstGeom prst="rightArrow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200" y="2011680"/>
            <a:ext cx="2011680" cy="4114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15000" y="2286000"/>
            <a:ext cx="548640" cy="548640"/>
          </a:xfrm>
          <a:prstGeom prst="ellipse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15000" y="23317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A0B10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30175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2E8F0"/>
                </a:solidFill>
                <a:latin typeface="Calibri"/>
              </a:defRPr>
            </a:pPr>
            <a:r>
              <a:t>Translate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60" y="347472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Auto-generate REST APIs + SDKs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66360" y="475488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FF88"/>
                </a:solidFill>
                <a:latin typeface="Calibri"/>
              </a:defRPr>
            </a:pPr>
            <a:r>
              <a:t>6 languages in minutes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086600" y="3840480"/>
            <a:ext cx="228600" cy="182880"/>
          </a:xfrm>
          <a:prstGeom prst="rightArrow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15200" y="2011680"/>
            <a:ext cx="2011680" cy="4114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01000" y="2286000"/>
            <a:ext cx="548640" cy="548640"/>
          </a:xfrm>
          <a:prstGeom prst="ellipse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01000" y="23317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A0B10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0" y="30175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2E8F0"/>
                </a:solidFill>
                <a:latin typeface="Calibri"/>
              </a:defRPr>
            </a:pPr>
            <a:r>
              <a:t>Comply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2360" y="347472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9 compliance frameworks automated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52360" y="475488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FF88"/>
                </a:solidFill>
                <a:latin typeface="Calibri"/>
              </a:defRPr>
            </a:pPr>
            <a:r>
              <a:t>Reports in &lt;10 minutes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9372600" y="3840480"/>
            <a:ext cx="228600" cy="182880"/>
          </a:xfrm>
          <a:prstGeom prst="rightArrow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601200" y="2011680"/>
            <a:ext cx="2011680" cy="4114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287000" y="2286000"/>
            <a:ext cx="548640" cy="548640"/>
          </a:xfrm>
          <a:prstGeom prst="ellipse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87000" y="23317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A0B10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84080" y="30175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2E8F0"/>
                </a:solidFill>
                <a:latin typeface="Calibri"/>
              </a:defRPr>
            </a:pPr>
            <a:r>
              <a:t>Operate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38360" y="347472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Autonomous threat detection &amp; response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38360" y="475488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FF88"/>
                </a:solidFill>
                <a:latin typeface="Calibri"/>
              </a:defRPr>
            </a:pPr>
            <a:r>
              <a:t>78% autonomous, &lt;1s decisions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9FF"/>
                </a:solidFill>
                <a:latin typeface="Calibri"/>
              </a:defRPr>
            </a:pPr>
            <a:r>
              <a:t>PLATFORM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E2E8F0"/>
                </a:solidFill>
                <a:latin typeface="Calibri"/>
              </a:defRPr>
            </a:pPr>
            <a:r>
              <a:t>Four-Layer Polyglot 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515600" cy="960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05840" y="2029968"/>
            <a:ext cx="1828800" cy="502920"/>
          </a:xfrm>
          <a:prstGeom prst="roundRect">
            <a:avLst/>
          </a:prstGeom>
          <a:solidFill>
            <a:srgbClr val="61D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57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A0B10"/>
                </a:solidFill>
                <a:latin typeface="Calibri"/>
              </a:defRPr>
            </a:pPr>
            <a:r>
              <a:t>React / TypeScript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1965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2E8F0"/>
                </a:solidFill>
                <a:latin typeface="Calibri"/>
              </a:defRPr>
            </a:pPr>
            <a:r>
              <a:t>UI Console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23317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Admin Dashboard  •  Protocol Copilot  •  Marketplace  •  Real-Time Monitoring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71800"/>
            <a:ext cx="10515600" cy="960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05840" y="3172968"/>
            <a:ext cx="1828800" cy="502920"/>
          </a:xfrm>
          <a:prstGeom prst="roundRect">
            <a:avLst/>
          </a:prstGeom>
          <a:solidFill>
            <a:srgbClr val="00A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200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A0B10"/>
                </a:solidFill>
                <a:latin typeface="Calibri"/>
              </a:defRPr>
            </a:pPr>
            <a:r>
              <a:t>Go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3108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2E8F0"/>
                </a:solidFill>
                <a:latin typeface="Calibri"/>
              </a:defRPr>
            </a:pPr>
            <a:r>
              <a:t>Control Plane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34747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Service Orchestration  •  OPA Policies  •  Vault Secrets  •  gRPC Gateway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114800"/>
            <a:ext cx="10515600" cy="960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05840" y="4315968"/>
            <a:ext cx="1828800" cy="502920"/>
          </a:xfrm>
          <a:prstGeom prst="roundRect">
            <a:avLst/>
          </a:prstGeom>
          <a:solidFill>
            <a:srgbClr val="FFD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343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A0B10"/>
                </a:solidFill>
                <a:latin typeface="Calibri"/>
              </a:defRPr>
            </a:pPr>
            <a:r>
              <a:t>Python / FastAPI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4251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2E8F0"/>
                </a:solidFill>
                <a:latin typeface="Calibri"/>
              </a:defRPr>
            </a:pPr>
            <a:r>
              <a:t>AI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46177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Protocol Discovery  •  Multi-Agent System  •  LLM  •  RAG  •  Compliance Automation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257800"/>
            <a:ext cx="10515600" cy="960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05840" y="5458968"/>
            <a:ext cx="1828800" cy="502920"/>
          </a:xfrm>
          <a:prstGeom prst="roundRect">
            <a:avLst/>
          </a:prstGeom>
          <a:solidFill>
            <a:srgbClr val="DEA5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486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A0B10"/>
                </a:solidFill>
                <a:latin typeface="Calibri"/>
              </a:defRPr>
            </a:pPr>
            <a:r>
              <a:t>Rust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5394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2E8F0"/>
                </a:solidFill>
                <a:latin typeface="Calibri"/>
              </a:defRPr>
            </a:pPr>
            <a:r>
              <a:t>Data Plane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57607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PQC-TLS Termination  •  DPDK Packet Processing  •  DPI  •  Protocol Adapters  •  &lt;1ms Latency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Calibri"/>
              </a:defRPr>
            </a:pPr>
            <a:r>
              <a:t>100% Open Source  •  Apache 2.0  •  Air-Gapped On-Premise LLM (Ollama)  •  No Cloud Dependency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9FF"/>
                </a:solidFill>
                <a:latin typeface="Calibri"/>
              </a:defRPr>
            </a:pPr>
            <a:r>
              <a:t>POST-QUANTUM CRYPTOGRAPHY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E2E8F0"/>
                </a:solidFill>
                <a:latin typeface="Calibri"/>
              </a:defRPr>
            </a:pPr>
            <a:r>
              <a:t>NIST-Standardized Quantum-Safe Algorithms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2651760" cy="4572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9FF"/>
                </a:solidFill>
                <a:latin typeface="Calibri"/>
              </a:defRPr>
            </a:pPr>
            <a:r>
              <a:t>ML-KEM-768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23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FF88"/>
                </a:solidFill>
                <a:latin typeface="Calibri"/>
              </a:defRPr>
            </a:pPr>
            <a:r>
              <a:t>FIPS 203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Calibri"/>
              </a:defRPr>
            </a:pPr>
            <a:r>
              <a:t>Key Encapsulation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0040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1184B pub key</a:t>
            </a:r>
            <a:br/>
            <a:r>
              <a:t>1088B ciphertext</a:t>
            </a:r>
            <a:br/>
            <a:r>
              <a:t>32B shared secret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75488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FF88"/>
                </a:solidFill>
                <a:latin typeface="Calibri"/>
              </a:defRPr>
            </a:pPr>
            <a:r>
              <a:t>Use: TLS 1.3 key exchange, session keys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828800"/>
            <a:ext cx="2651760" cy="4572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2011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9FF"/>
                </a:solidFill>
                <a:latin typeface="Calibri"/>
              </a:defRPr>
            </a:pPr>
            <a:r>
              <a:t>ML-DSA-65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423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FF88"/>
                </a:solidFill>
                <a:latin typeface="Calibri"/>
              </a:defRPr>
            </a:pPr>
            <a:r>
              <a:t>FIPS 204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743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Calibri"/>
              </a:defRPr>
            </a:pPr>
            <a:r>
              <a:t>Digital Signatures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320040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1952B pub key</a:t>
            </a:r>
            <a:br/>
            <a:r>
              <a:t>3293B signature</a:t>
            </a:r>
            <a:br/>
            <a:r>
              <a:t>&lt;1ms sign/verify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475488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FF88"/>
                </a:solidFill>
                <a:latin typeface="Calibri"/>
              </a:defRPr>
            </a:pPr>
            <a:r>
              <a:t>Use: SWIFT message signing, audit trails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828800"/>
            <a:ext cx="2651760" cy="4572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2011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9FF"/>
                </a:solidFill>
                <a:latin typeface="Calibri"/>
              </a:defRPr>
            </a:pPr>
            <a:r>
              <a:t>SLH-DSA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423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FF88"/>
                </a:solidFill>
                <a:latin typeface="Calibri"/>
              </a:defRPr>
            </a:pPr>
            <a:r>
              <a:t>FIPS 205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743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Calibri"/>
              </a:defRPr>
            </a:pPr>
            <a:r>
              <a:t>Hash-Based Signatures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20040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Stateless design</a:t>
            </a:r>
            <a:br/>
            <a:r>
              <a:t>SPHINCS+ based</a:t>
            </a:r>
            <a:br/>
            <a:r>
              <a:t>Ultra-conservative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475488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FF88"/>
                </a:solidFill>
                <a:latin typeface="Calibri"/>
              </a:defRPr>
            </a:pPr>
            <a:r>
              <a:t>Use: Long-term document signing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0" y="1828800"/>
            <a:ext cx="2651760" cy="4572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0" y="2011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9FF"/>
                </a:solidFill>
                <a:latin typeface="Calibri"/>
              </a:defRPr>
            </a:pPr>
            <a:r>
              <a:t>Hybrid KEM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423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FF88"/>
                </a:solidFill>
                <a:latin typeface="Calibri"/>
              </a:defRPr>
            </a:pPr>
            <a:r>
              <a:t>X25519 + ML-KEM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743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Calibri"/>
              </a:defRPr>
            </a:pPr>
            <a:r>
              <a:t>Backward Compatible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320040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Classical + PQC</a:t>
            </a:r>
            <a:br/>
            <a:r>
              <a:t>TLS 1.3 ready</a:t>
            </a:r>
            <a:br/>
            <a:r>
              <a:t>CNSA 2.0 compliant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475488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FF88"/>
                </a:solidFill>
                <a:latin typeface="Calibri"/>
              </a:defRPr>
            </a:pPr>
            <a:r>
              <a:t>Use: Production TLS, gradual migration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9FF"/>
                </a:solidFill>
                <a:latin typeface="Calibri"/>
              </a:defRPr>
            </a:pPr>
            <a:r>
              <a:t>COMPETITIVE ADVANTAGE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E2E8F0"/>
                </a:solidFill>
                <a:latin typeface="Calibri"/>
              </a:defRPr>
            </a:pPr>
            <a:r>
              <a:t>Why QBITEL Bridge is the Best Choice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5394960" cy="1371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9FF"/>
                </a:solidFill>
                <a:latin typeface="Calibri"/>
              </a:defRPr>
            </a:pPr>
            <a:r>
              <a:t>Only Platform Combining All Three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7744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AI protocol discovery + quantum-safe crypto + autonomous security — no other vendor offers all three in a single solution.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394960" cy="1371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9659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FF88"/>
                </a:solidFill>
                <a:latin typeface="Calibri"/>
              </a:defRPr>
            </a:pPr>
            <a:r>
              <a:t>No Rip-and-Replace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37744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Legacy systems remain operational. We protect at the network layer — zero code changes, zero downtime. Competitors require full rewrites.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383280"/>
            <a:ext cx="5394960" cy="1371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5204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FF88"/>
                </a:solidFill>
                <a:latin typeface="Calibri"/>
              </a:defRPr>
            </a:pPr>
            <a:r>
              <a:t>100% Open Source (Apache 2.0)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93192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No open-core trap. No feature gating. Full enterprise capability in the free release. Same license as Kubernetes and Kafka.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383280"/>
            <a:ext cx="5394960" cy="1371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204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9FF"/>
                </a:solidFill>
                <a:latin typeface="Calibri"/>
              </a:defRPr>
            </a:pPr>
            <a:r>
              <a:t>Air-Gapped / On-Premise LLM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93192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Runs entirely on-premise with local Ollama models. No cloud dependency. Critical for defense, banking, and critical infrastructure.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937760"/>
            <a:ext cx="5394960" cy="1371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0749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FF88"/>
                </a:solidFill>
                <a:latin typeface="Calibri"/>
              </a:defRPr>
            </a:pPr>
            <a:r>
              <a:t>2-4 Hour Protocol Discovery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48640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What takes consultants 6-12 months and $2-10M, our AI does in hours from raw network traffic — fully automated.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937760"/>
            <a:ext cx="5394960" cy="1371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50749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9FF"/>
                </a:solidFill>
                <a:latin typeface="Calibri"/>
              </a:defRPr>
            </a:pPr>
            <a:r>
              <a:t>&lt;1 Second Autonomous Response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548640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78% of security incidents handled autonomously in under 1 second. SOC teams average 65 minutes. 900x faster.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9FF"/>
                </a:solidFill>
                <a:latin typeface="Calibri"/>
              </a:defRPr>
            </a:pPr>
            <a:r>
              <a:t>MARKET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E2E8F0"/>
                </a:solidFill>
                <a:latin typeface="Calibri"/>
              </a:defRPr>
            </a:pPr>
            <a:r>
              <a:t>QBITEL vs. The Competition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2670048" cy="640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2E8F0"/>
                </a:solidFill>
                <a:latin typeface="Calibri"/>
              </a:defRPr>
            </a:pPr>
            <a:r>
              <a:t>Capability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1828800"/>
            <a:ext cx="2212848" cy="640080"/>
          </a:xfrm>
          <a:prstGeom prst="roundRect">
            <a:avLst/>
          </a:prstGeom>
          <a:solidFill>
            <a:srgbClr val="00D9FF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40" y="1874519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A0B10"/>
                </a:solidFill>
                <a:latin typeface="Calibri"/>
              </a:defRPr>
            </a:pPr>
            <a:r>
              <a:t>QBITEL Bridge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1828800"/>
            <a:ext cx="2212848" cy="640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77840" y="1874519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2E8F0"/>
                </a:solidFill>
                <a:latin typeface="Calibri"/>
              </a:defRPr>
            </a:pPr>
            <a:r>
              <a:t>Traditional</a:t>
            </a:r>
            <a:br/>
            <a:r>
              <a:t>Security Vendors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1828800"/>
            <a:ext cx="2212848" cy="640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1874519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2E8F0"/>
                </a:solidFill>
                <a:latin typeface="Calibri"/>
              </a:defRPr>
            </a:pPr>
            <a:r>
              <a:t>Legacy</a:t>
            </a:r>
            <a:br/>
            <a:r>
              <a:t>Modernization</a:t>
            </a:r>
            <a:br/>
            <a:r>
              <a:t>Consultants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0" y="1828800"/>
            <a:ext cx="2212848" cy="640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49840" y="1874519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2E8F0"/>
                </a:solidFill>
                <a:latin typeface="Calibri"/>
              </a:defRPr>
            </a:pPr>
            <a:r>
              <a:t>PQC-Only</a:t>
            </a:r>
            <a:br/>
            <a:r>
              <a:t>Vendors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514600"/>
            <a:ext cx="2670048" cy="438912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560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2E8F0"/>
                </a:solidFill>
                <a:latin typeface="Calibri"/>
              </a:defRPr>
            </a:pPr>
            <a:r>
              <a:t>AI Protocol Discovery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0" y="2514600"/>
            <a:ext cx="2212848" cy="438912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91840" y="2560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FF88"/>
                </a:solidFill>
                <a:latin typeface="Calibri"/>
              </a:defRPr>
            </a:pPr>
            <a:r>
              <a:t>YES  (2-4 hrs)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0" y="2514600"/>
            <a:ext cx="2212848" cy="438912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77840" y="2560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4757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2514600"/>
            <a:ext cx="2212848" cy="438912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0" y="2560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9F43"/>
                </a:solidFill>
                <a:latin typeface="Calibri"/>
              </a:defRPr>
            </a:pPr>
            <a:r>
              <a:t>Manual  (6-12 mo)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58400" y="2514600"/>
            <a:ext cx="2212848" cy="438912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49840" y="2560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4757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017520"/>
            <a:ext cx="2670048" cy="438912"/>
          </a:xfrm>
          <a:prstGeom prst="roundRect">
            <a:avLst/>
          </a:prstGeom>
          <a:solidFill>
            <a:srgbClr val="0A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063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2E8F0"/>
                </a:solidFill>
                <a:latin typeface="Calibri"/>
              </a:defRPr>
            </a:pPr>
            <a:r>
              <a:t>Post-Quantum Crypto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0" y="3017520"/>
            <a:ext cx="2212848" cy="438912"/>
          </a:xfrm>
          <a:prstGeom prst="roundRect">
            <a:avLst/>
          </a:prstGeom>
          <a:solidFill>
            <a:srgbClr val="0A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91840" y="30632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FF88"/>
                </a:solidFill>
                <a:latin typeface="Calibri"/>
              </a:defRPr>
            </a:pPr>
            <a:r>
              <a:t>NIST Level 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0" y="3017520"/>
            <a:ext cx="2212848" cy="438912"/>
          </a:xfrm>
          <a:prstGeom prst="roundRect">
            <a:avLst/>
          </a:prstGeom>
          <a:solidFill>
            <a:srgbClr val="0A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77840" y="30632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9F43"/>
                </a:solidFill>
                <a:latin typeface="Calibri"/>
              </a:defRPr>
            </a:pPr>
            <a:r>
              <a:t>Classical only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0" y="3017520"/>
            <a:ext cx="2212848" cy="438912"/>
          </a:xfrm>
          <a:prstGeom prst="roundRect">
            <a:avLst/>
          </a:prstGeom>
          <a:solidFill>
            <a:srgbClr val="0A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63840" y="30632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4757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058400" y="3017520"/>
            <a:ext cx="2212848" cy="438912"/>
          </a:xfrm>
          <a:prstGeom prst="roundRect">
            <a:avLst/>
          </a:prstGeom>
          <a:solidFill>
            <a:srgbClr val="0A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49840" y="30632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3520440"/>
            <a:ext cx="2670048" cy="438912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35661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2E8F0"/>
                </a:solidFill>
                <a:latin typeface="Calibri"/>
              </a:defRPr>
            </a:pPr>
            <a:r>
              <a:t>Legacy System Protection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00400" y="3520440"/>
            <a:ext cx="2212848" cy="438912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91840" y="35661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FF88"/>
                </a:solidFill>
                <a:latin typeface="Calibri"/>
              </a:defRPr>
            </a:pPr>
            <a:r>
              <a:t>Zero downtime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0" y="3520440"/>
            <a:ext cx="2212848" cy="438912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577840" y="35661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9F43"/>
                </a:solidFill>
                <a:latin typeface="Calibri"/>
              </a:defRPr>
            </a:pPr>
            <a:r>
              <a:t>Requires changes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72400" y="3520440"/>
            <a:ext cx="2212848" cy="438912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63840" y="35661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9F43"/>
                </a:solidFill>
                <a:latin typeface="Calibri"/>
              </a:defRPr>
            </a:pPr>
            <a:r>
              <a:t>Rip &amp; replace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058400" y="3520440"/>
            <a:ext cx="2212848" cy="438912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149840" y="35661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4757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4023360"/>
            <a:ext cx="2670048" cy="438912"/>
          </a:xfrm>
          <a:prstGeom prst="roundRect">
            <a:avLst/>
          </a:prstGeom>
          <a:solidFill>
            <a:srgbClr val="0A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4069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2E8F0"/>
                </a:solidFill>
                <a:latin typeface="Calibri"/>
              </a:defRPr>
            </a:pPr>
            <a:r>
              <a:t>Autonomous Response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200400" y="4023360"/>
            <a:ext cx="2212848" cy="438912"/>
          </a:xfrm>
          <a:prstGeom prst="roundRect">
            <a:avLst/>
          </a:prstGeom>
          <a:solidFill>
            <a:srgbClr val="0A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91840" y="40690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FF88"/>
                </a:solidFill>
                <a:latin typeface="Calibri"/>
              </a:defRPr>
            </a:pPr>
            <a:r>
              <a:t>78% auto, &lt;1s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486400" y="4023360"/>
            <a:ext cx="2212848" cy="438912"/>
          </a:xfrm>
          <a:prstGeom prst="roundRect">
            <a:avLst/>
          </a:prstGeom>
          <a:solidFill>
            <a:srgbClr val="0A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577840" y="40690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9F43"/>
                </a:solidFill>
                <a:latin typeface="Calibri"/>
              </a:defRPr>
            </a:pPr>
            <a:r>
              <a:t>Manual SOC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772400" y="4023360"/>
            <a:ext cx="2212848" cy="438912"/>
          </a:xfrm>
          <a:prstGeom prst="roundRect">
            <a:avLst/>
          </a:prstGeom>
          <a:solidFill>
            <a:srgbClr val="0A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0" y="40690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4757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058400" y="4023360"/>
            <a:ext cx="2212848" cy="438912"/>
          </a:xfrm>
          <a:prstGeom prst="roundRect">
            <a:avLst/>
          </a:prstGeom>
          <a:solidFill>
            <a:srgbClr val="0A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149840" y="40690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4757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57200" y="4526280"/>
            <a:ext cx="2670048" cy="438912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8640" y="4572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2E8F0"/>
                </a:solidFill>
                <a:latin typeface="Calibri"/>
              </a:defRPr>
            </a:pPr>
            <a:r>
              <a:t>Compliance Automation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200400" y="4526280"/>
            <a:ext cx="2212848" cy="438912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291840" y="45720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FF88"/>
                </a:solidFill>
                <a:latin typeface="Calibri"/>
              </a:defRPr>
            </a:pPr>
            <a:r>
              <a:t>9 frameworks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486400" y="4526280"/>
            <a:ext cx="2212848" cy="438912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577840" y="45720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9F43"/>
                </a:solidFill>
                <a:latin typeface="Calibri"/>
              </a:defRPr>
            </a:pPr>
            <a:r>
              <a:t>Partial (2-3)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772400" y="4526280"/>
            <a:ext cx="2212848" cy="438912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863840" y="45720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9F43"/>
                </a:solidFill>
                <a:latin typeface="Calibri"/>
              </a:defRPr>
            </a:pPr>
            <a:r>
              <a:t>Manual audits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0058400" y="4526280"/>
            <a:ext cx="2212848" cy="438912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149840" y="45720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4757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57200" y="5029200"/>
            <a:ext cx="2670048" cy="438912"/>
          </a:xfrm>
          <a:prstGeom prst="roundRect">
            <a:avLst/>
          </a:prstGeom>
          <a:solidFill>
            <a:srgbClr val="0A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8640" y="5074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2E8F0"/>
                </a:solidFill>
                <a:latin typeface="Calibri"/>
              </a:defRPr>
            </a:pPr>
            <a:r>
              <a:t>Open Source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200400" y="5029200"/>
            <a:ext cx="2212848" cy="438912"/>
          </a:xfrm>
          <a:prstGeom prst="roundRect">
            <a:avLst/>
          </a:prstGeom>
          <a:solidFill>
            <a:srgbClr val="0A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291840" y="50749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FF88"/>
                </a:solidFill>
                <a:latin typeface="Calibri"/>
              </a:defRPr>
            </a:pPr>
            <a:r>
              <a:t>Apache 2.0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486400" y="5029200"/>
            <a:ext cx="2212848" cy="438912"/>
          </a:xfrm>
          <a:prstGeom prst="roundRect">
            <a:avLst/>
          </a:prstGeom>
          <a:solidFill>
            <a:srgbClr val="0A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577840" y="50749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Proprietary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772400" y="5029200"/>
            <a:ext cx="2212848" cy="438912"/>
          </a:xfrm>
          <a:prstGeom prst="roundRect">
            <a:avLst/>
          </a:prstGeom>
          <a:solidFill>
            <a:srgbClr val="0A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863840" y="50749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Proprietary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0058400" y="5029200"/>
            <a:ext cx="2212848" cy="438912"/>
          </a:xfrm>
          <a:prstGeom prst="roundRect">
            <a:avLst/>
          </a:prstGeom>
          <a:solidFill>
            <a:srgbClr val="0A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149840" y="50749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Mixed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57200" y="5532120"/>
            <a:ext cx="2670048" cy="438912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48640" y="55778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2E8F0"/>
                </a:solidFill>
                <a:latin typeface="Calibri"/>
              </a:defRPr>
            </a:pPr>
            <a:r>
              <a:t>Air-Gapped Capability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200400" y="5532120"/>
            <a:ext cx="2212848" cy="438912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291840" y="55778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FF88"/>
                </a:solidFill>
                <a:latin typeface="Calibri"/>
              </a:defRPr>
            </a:pPr>
            <a:r>
              <a:t>Full on-premise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486400" y="5532120"/>
            <a:ext cx="2212848" cy="438912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577840" y="55778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9F43"/>
                </a:solidFill>
                <a:latin typeface="Calibri"/>
              </a:defRPr>
            </a:pPr>
            <a:r>
              <a:t>Cloud required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7772400" y="5532120"/>
            <a:ext cx="2212848" cy="438912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863840" y="55778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4757"/>
                </a:solidFill>
                <a:latin typeface="Calibri"/>
              </a:defRPr>
            </a:pPr>
            <a:r>
              <a:t>N/A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10058400" y="5532120"/>
            <a:ext cx="2212848" cy="438912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0149840" y="55778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9F43"/>
                </a:solidFill>
                <a:latin typeface="Calibri"/>
              </a:defRPr>
            </a:pPr>
            <a:r>
              <a:t>Partial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457200" y="6035040"/>
            <a:ext cx="2670048" cy="438912"/>
          </a:xfrm>
          <a:prstGeom prst="roundRect">
            <a:avLst/>
          </a:prstGeom>
          <a:solidFill>
            <a:srgbClr val="0A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48640" y="60807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2E8F0"/>
                </a:solidFill>
                <a:latin typeface="Calibri"/>
              </a:defRPr>
            </a:pPr>
            <a:r>
              <a:t>Cost per System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3200400" y="6035040"/>
            <a:ext cx="2212848" cy="438912"/>
          </a:xfrm>
          <a:prstGeom prst="roundRect">
            <a:avLst/>
          </a:prstGeom>
          <a:solidFill>
            <a:srgbClr val="0A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291840" y="60807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FF88"/>
                </a:solidFill>
                <a:latin typeface="Calibri"/>
              </a:defRPr>
            </a:pPr>
            <a:r>
              <a:t>$200K-500K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5486400" y="6035040"/>
            <a:ext cx="2212848" cy="438912"/>
          </a:xfrm>
          <a:prstGeom prst="roundRect">
            <a:avLst/>
          </a:prstGeom>
          <a:solidFill>
            <a:srgbClr val="0A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577840" y="60807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$1-5M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7772400" y="6035040"/>
            <a:ext cx="2212848" cy="438912"/>
          </a:xfrm>
          <a:prstGeom prst="roundRect">
            <a:avLst/>
          </a:prstGeom>
          <a:solidFill>
            <a:srgbClr val="0A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863840" y="60807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$5-50M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10058400" y="6035040"/>
            <a:ext cx="2212848" cy="438912"/>
          </a:xfrm>
          <a:prstGeom prst="roundRect">
            <a:avLst/>
          </a:prstGeom>
          <a:solidFill>
            <a:srgbClr val="0A0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0149840" y="60807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$500K-2M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9FF"/>
                </a:solidFill>
                <a:latin typeface="Calibri"/>
              </a:defRPr>
            </a:pPr>
            <a:r>
              <a:t>BUSINESS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E2E8F0"/>
                </a:solidFill>
                <a:latin typeface="Calibri"/>
              </a:defRPr>
            </a:pPr>
            <a:r>
              <a:t>Measurable 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3383280" cy="2103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574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4757"/>
                </a:solidFill>
                <a:latin typeface="Calibri"/>
              </a:defRPr>
            </a:pPr>
            <a:r>
              <a:t>6-12 months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2304288"/>
            <a:ext cx="1920240" cy="25400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51460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FF88"/>
                </a:solidFill>
                <a:latin typeface="Calibri"/>
              </a:defRPr>
            </a:pPr>
            <a:r>
              <a:t>2-4 hours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918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Protocol Discovery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1828800"/>
            <a:ext cx="3383280" cy="2103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59" y="20574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4757"/>
                </a:solidFill>
                <a:latin typeface="Calibri"/>
              </a:defRPr>
            </a:pPr>
            <a:r>
              <a:t>None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199" y="2304288"/>
            <a:ext cx="1920240" cy="25400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59" y="251460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FF88"/>
                </a:solidFill>
                <a:latin typeface="Calibri"/>
              </a:defRPr>
            </a:pPr>
            <a:r>
              <a:t>NIST Level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32918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Quantum Readiness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9" y="1828800"/>
            <a:ext cx="3383280" cy="2103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9" y="20574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4757"/>
                </a:solidFill>
                <a:latin typeface="Calibri"/>
              </a:defRPr>
            </a:pPr>
            <a:r>
              <a:t>65 minutes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78239" y="2304288"/>
            <a:ext cx="1920240" cy="25400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9" y="251460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FF88"/>
                </a:solidFill>
                <a:latin typeface="Calibri"/>
              </a:defRPr>
            </a:pPr>
            <a:r>
              <a:t>&lt;1 second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9" y="32918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Security Response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206240"/>
            <a:ext cx="3383280" cy="2103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4348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4757"/>
                </a:solidFill>
                <a:latin typeface="Calibri"/>
              </a:defRPr>
            </a:pPr>
            <a:r>
              <a:t>2-4 weeks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80160" y="4681728"/>
            <a:ext cx="1920240" cy="25400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89204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FF88"/>
                </a:solidFill>
                <a:latin typeface="Calibri"/>
              </a:defRPr>
            </a:pPr>
            <a:r>
              <a:t>&lt;10 minutes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6692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Compliance Reports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79" y="4206240"/>
            <a:ext cx="3383280" cy="2103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59" y="44348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4757"/>
                </a:solidFill>
                <a:latin typeface="Calibri"/>
              </a:defRPr>
            </a:pPr>
            <a:r>
              <a:t>$5-50M / system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199" y="4681728"/>
            <a:ext cx="1920240" cy="25400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80559" y="489204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FF88"/>
                </a:solidFill>
                <a:latin typeface="Calibri"/>
              </a:defRPr>
            </a:pPr>
            <a:r>
              <a:t>$200K-500K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59" y="56692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Integration Cost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19" y="4206240"/>
            <a:ext cx="3383280" cy="2103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599" y="44348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4757"/>
                </a:solidFill>
                <a:latin typeface="Calibri"/>
              </a:defRPr>
            </a:pPr>
            <a:r>
              <a:t>$10-50 / event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78239" y="4681728"/>
            <a:ext cx="1920240" cy="25400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599" y="489204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FF88"/>
                </a:solidFill>
                <a:latin typeface="Calibri"/>
              </a:defRPr>
            </a:pPr>
            <a:r>
              <a:t>&lt;$0.01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599" y="56692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Security Cost / Event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9FF"/>
                </a:solidFill>
                <a:latin typeface="Calibri"/>
              </a:defRPr>
            </a:pPr>
            <a: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E2E8F0"/>
                </a:solidFill>
                <a:latin typeface="Calibri"/>
              </a:defRPr>
            </a:pPr>
            <a:r>
              <a:t>9 Regulatory Frameworks Automated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3383280" cy="12344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9FF"/>
                </a:solidFill>
                <a:latin typeface="Calibri"/>
              </a:defRPr>
            </a:pPr>
            <a:r>
              <a:t>PCI-DSS 4.0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Payment card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20116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00FF88"/>
                </a:solidFill>
                <a:latin typeface="Calibri"/>
              </a:defRPr>
            </a:pPr>
            <a:r>
              <a:t>94%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697480"/>
            <a:ext cx="2926080" cy="76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697480"/>
            <a:ext cx="2750515" cy="7620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97679" y="1828800"/>
            <a:ext cx="3383280" cy="12344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79" y="19659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9FF"/>
                </a:solidFill>
                <a:latin typeface="Calibri"/>
              </a:defRPr>
            </a:pPr>
            <a:r>
              <a:t>DORA (EU)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79" y="22860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Digital resilience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79" y="20116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00FF88"/>
                </a:solidFill>
                <a:latin typeface="Calibri"/>
              </a:defRPr>
            </a:pPr>
            <a:r>
              <a:t>91%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26279" y="2697480"/>
            <a:ext cx="2926080" cy="76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26279" y="2697480"/>
            <a:ext cx="2662732" cy="7620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46719" y="1828800"/>
            <a:ext cx="3383280" cy="12344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19" y="19659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9FF"/>
                </a:solidFill>
                <a:latin typeface="Calibri"/>
              </a:defRPr>
            </a:pPr>
            <a:r>
              <a:t>SOX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22860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Financial controls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19" y="20116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00FF88"/>
                </a:solidFill>
                <a:latin typeface="Calibri"/>
              </a:defRPr>
            </a:pPr>
            <a:r>
              <a:t>97%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75319" y="2697480"/>
            <a:ext cx="2926080" cy="76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75319" y="2697480"/>
            <a:ext cx="2838297" cy="7620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3291840"/>
            <a:ext cx="3383280" cy="12344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4290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9FF"/>
                </a:solidFill>
                <a:latin typeface="Calibri"/>
              </a:defRPr>
            </a:pPr>
            <a:r>
              <a:t>NIST 800-53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37490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Federal security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34747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00FF88"/>
                </a:solidFill>
                <a:latin typeface="Calibri"/>
              </a:defRPr>
            </a:pPr>
            <a:r>
              <a:t>89%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4160520"/>
            <a:ext cx="2926080" cy="76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" y="4160520"/>
            <a:ext cx="2604211" cy="7620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297679" y="3291840"/>
            <a:ext cx="3383280" cy="12344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26279" y="34290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9FF"/>
                </a:solidFill>
                <a:latin typeface="Calibri"/>
              </a:defRPr>
            </a:pPr>
            <a:r>
              <a:t>HIPAA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79" y="37490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Healthcare data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79" y="34747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00FF88"/>
                </a:solidFill>
                <a:latin typeface="Calibri"/>
              </a:defRPr>
            </a:pPr>
            <a:r>
              <a:t>92%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26279" y="4160520"/>
            <a:ext cx="2926080" cy="76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26279" y="4160520"/>
            <a:ext cx="2691993" cy="7620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046719" y="3291840"/>
            <a:ext cx="3383280" cy="12344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75319" y="34290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9FF"/>
                </a:solidFill>
                <a:latin typeface="Calibri"/>
              </a:defRPr>
            </a:pPr>
            <a:r>
              <a:t>ISO 27001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19" y="37490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InfoSec management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32719" y="34747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00FF88"/>
                </a:solidFill>
                <a:latin typeface="Calibri"/>
              </a:defRPr>
            </a:pPr>
            <a:r>
              <a:t>95%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75319" y="4160520"/>
            <a:ext cx="2926080" cy="76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275319" y="4160520"/>
            <a:ext cx="2779776" cy="7620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48640" y="4754880"/>
            <a:ext cx="3383280" cy="12344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48920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9FF"/>
                </a:solidFill>
                <a:latin typeface="Calibri"/>
              </a:defRPr>
            </a:pPr>
            <a:r>
              <a:t>BASEL III/IV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" y="52120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Banking risk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834640" y="49377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00FF88"/>
                </a:solidFill>
                <a:latin typeface="Calibri"/>
              </a:defRPr>
            </a:pPr>
            <a:r>
              <a:t>90%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" y="5623560"/>
            <a:ext cx="2926080" cy="76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77240" y="5623560"/>
            <a:ext cx="2633472" cy="7620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4297679" y="4754880"/>
            <a:ext cx="3383280" cy="12344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26279" y="48920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9FF"/>
                </a:solidFill>
                <a:latin typeface="Calibri"/>
              </a:defRPr>
            </a:pPr>
            <a:r>
              <a:t>NERC-CIP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26279" y="52120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Critical infrastructure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83679" y="49377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00FF88"/>
                </a:solidFill>
                <a:latin typeface="Calibri"/>
              </a:defRPr>
            </a:pPr>
            <a:r>
              <a:t>88%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26279" y="5623560"/>
            <a:ext cx="2926080" cy="76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526279" y="5623560"/>
            <a:ext cx="2574950" cy="7620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8046719" y="4754880"/>
            <a:ext cx="3383280" cy="12344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75319" y="48920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9FF"/>
                </a:solidFill>
                <a:latin typeface="Calibri"/>
              </a:defRPr>
            </a:pPr>
            <a:r>
              <a:t>FDA 21 CFR 11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75319" y="52120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Medical devices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332719" y="49377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00FF88"/>
                </a:solidFill>
                <a:latin typeface="Calibri"/>
              </a:defRPr>
            </a:pPr>
            <a:r>
              <a:t>93%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275319" y="5623560"/>
            <a:ext cx="2926080" cy="76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275319" y="5623560"/>
            <a:ext cx="2721254" cy="7620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3152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Calibri"/>
              </a:defRPr>
            </a:pPr>
            <a:r>
              <a:t>Reports generated in &lt;10 minutes  •  98%+ audit pass rate  •  Continuous monitoring with agent AGT-003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9FF"/>
                </a:solidFill>
                <a:latin typeface="Calibri"/>
              </a:defRPr>
            </a:pPr>
            <a:r>
              <a:t>INDUSTRY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E2E8F0"/>
                </a:solidFill>
                <a:latin typeface="Calibri"/>
              </a:defRPr>
            </a:pPr>
            <a:r>
              <a:t>Serving 9 Critical Sectors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3474720" cy="1371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3852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9FF"/>
                </a:solidFill>
                <a:latin typeface="Calibri"/>
              </a:defRPr>
            </a:pPr>
            <a:r>
              <a:t>Banking &amp; Finance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ISO-8583, SWIFT, ACH, FedWire, FedNow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FF88"/>
                </a:solidFill>
                <a:latin typeface="Calibri"/>
              </a:defRPr>
            </a:pPr>
            <a:r>
              <a:t>10,000+ TPS, &lt;50ms latency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828800"/>
            <a:ext cx="3474720" cy="1371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93852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9FF"/>
                </a:solidFill>
                <a:latin typeface="Calibri"/>
              </a:defRPr>
            </a:pPr>
            <a:r>
              <a:t>Healthcare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22860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HL7, DICOM, FHIR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6517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FF88"/>
                </a:solidFill>
                <a:latin typeface="Calibri"/>
              </a:defRPr>
            </a:pPr>
            <a:r>
              <a:t>500K+ connected devices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828800"/>
            <a:ext cx="3474720" cy="1371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93852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9FF"/>
                </a:solidFill>
                <a:latin typeface="Calibri"/>
              </a:defRPr>
            </a:pPr>
            <a:r>
              <a:t>Critical Infrastructure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2860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Modbus, DNP3, IEC 61850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6517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FF88"/>
                </a:solidFill>
                <a:latin typeface="Calibri"/>
              </a:defRPr>
            </a:pPr>
            <a:r>
              <a:t>100M+ population protected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383280"/>
            <a:ext cx="3474720" cy="1371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49300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9FF"/>
                </a:solidFill>
                <a:latin typeface="Calibri"/>
              </a:defRPr>
            </a:pPr>
            <a:r>
              <a:t>Automotive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8404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V2X, IEEE 1609.2, CAN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2062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FF88"/>
                </a:solidFill>
                <a:latin typeface="Calibri"/>
              </a:defRPr>
            </a:pPr>
            <a:r>
              <a:t>&lt;10ms real-time signatures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51960" y="3383280"/>
            <a:ext cx="3474720" cy="1371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4840" y="349300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9FF"/>
                </a:solidFill>
                <a:latin typeface="Calibri"/>
              </a:defRPr>
            </a:pPr>
            <a:r>
              <a:t>Aviation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38404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ADS-B, ACARS, ARINC 429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42062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FF88"/>
                </a:solidFill>
                <a:latin typeface="Calibri"/>
              </a:defRPr>
            </a:pPr>
            <a:r>
              <a:t>600bps-2.4kbps optimized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3383280"/>
            <a:ext cx="3474720" cy="1371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349300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9FF"/>
                </a:solidFill>
                <a:latin typeface="Calibri"/>
              </a:defRPr>
            </a:pPr>
            <a:r>
              <a:t>Telecommunications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38404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SS7, Diameter, 5G Core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42062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FF88"/>
                </a:solidFill>
                <a:latin typeface="Calibri"/>
              </a:defRPr>
            </a:pPr>
            <a:r>
              <a:t>Carrier-grade PQC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937760"/>
            <a:ext cx="3474720" cy="1371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04748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9FF"/>
                </a:solidFill>
                <a:latin typeface="Calibri"/>
              </a:defRPr>
            </a:pPr>
            <a:r>
              <a:t>Defense / Government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3949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CNSA 2.0, NSA Suite 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7607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FF88"/>
                </a:solidFill>
                <a:latin typeface="Calibri"/>
              </a:defRPr>
            </a:pPr>
            <a:r>
              <a:t>Air-gapped TOP SECRET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51960" y="4937760"/>
            <a:ext cx="3474720" cy="1371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34840" y="504748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9FF"/>
                </a:solidFill>
                <a:latin typeface="Calibri"/>
              </a:defRPr>
            </a:pPr>
            <a:r>
              <a:t>Insurance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34840" y="53949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ACORD, ISO 20022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34840" y="57607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FF88"/>
                </a:solidFill>
                <a:latin typeface="Calibri"/>
              </a:defRPr>
            </a:pPr>
            <a:r>
              <a:t>Claims &amp; policy protection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46720" y="4937760"/>
            <a:ext cx="3474720" cy="13716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0" y="504748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9FF"/>
                </a:solidFill>
                <a:latin typeface="Calibri"/>
              </a:defRPr>
            </a:pPr>
            <a:r>
              <a:t>BPO / Call Centers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53949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SIP, IVR, DTMF, CTI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57607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FF88"/>
                </a:solidFill>
                <a:latin typeface="Calibri"/>
              </a:defRPr>
            </a:pPr>
            <a:r>
              <a:t>PCI voice security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9FF"/>
                </a:solidFill>
                <a:latin typeface="Calibri"/>
              </a:defRPr>
            </a:pPr>
            <a: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E2E8F0"/>
                </a:solidFill>
                <a:latin typeface="Calibri"/>
              </a:defRPr>
            </a:pPr>
            <a:r>
              <a:t>End-to-End Product Walkthrough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5394960" cy="960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5800" y="2057400"/>
            <a:ext cx="457200" cy="457200"/>
          </a:xfrm>
          <a:prstGeom prst="ellipse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08483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A0B1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93852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2E8F0"/>
                </a:solidFill>
                <a:latin typeface="Calibri"/>
              </a:defRPr>
            </a:pPr>
            <a:r>
              <a:t>Network Discovery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28600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Scan 10.1.50.0/24, discover 3 legacy mainframes, 7 unencrypted channels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394960" cy="960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55080" y="2057400"/>
            <a:ext cx="457200" cy="457200"/>
          </a:xfrm>
          <a:prstGeom prst="ellipse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208483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A0B10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193852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2E8F0"/>
                </a:solidFill>
                <a:latin typeface="Calibri"/>
              </a:defRPr>
            </a:pPr>
            <a:r>
              <a:t>Traffic Capture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228600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Capture EBCDIC packets, reverse-engineer field boundaries, detect PII exposure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71800"/>
            <a:ext cx="5394960" cy="960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200400"/>
            <a:ext cx="457200" cy="457200"/>
          </a:xfrm>
          <a:prstGeom prst="ellipse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22783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A0B10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08152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2E8F0"/>
                </a:solidFill>
                <a:latin typeface="Calibri"/>
              </a:defRPr>
            </a:pPr>
            <a:r>
              <a:t>COBOL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42900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Analyze CUSTMAST.cbl (1985) + ACCTPROC.cbl (1988) — complexity, patterns, opportunities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971800"/>
            <a:ext cx="5394960" cy="960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55080" y="3200400"/>
            <a:ext cx="457200" cy="457200"/>
          </a:xfrm>
          <a:prstGeom prst="ellipse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322783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A0B10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308152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2E8F0"/>
                </a:solidFill>
                <a:latin typeface="Calibri"/>
              </a:defRPr>
            </a:pPr>
            <a:r>
              <a:t>PQC Protection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342900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ML-KEM-768 keygen, encrypt SWIFT MT103 wire transfer, Dilithium-3 signing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114800"/>
            <a:ext cx="5394960" cy="960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85800" y="4343400"/>
            <a:ext cx="457200" cy="457200"/>
          </a:xfrm>
          <a:prstGeom prst="ellipse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37083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A0B10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422452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2E8F0"/>
                </a:solidFill>
                <a:latin typeface="Calibri"/>
              </a:defRPr>
            </a:pPr>
            <a:r>
              <a:t>Code Generation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457200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COBOL → Python dataclasses + FastAPI endpoints + SQL schemas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4114800"/>
            <a:ext cx="5394960" cy="960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55080" y="4343400"/>
            <a:ext cx="457200" cy="457200"/>
          </a:xfrm>
          <a:prstGeom prst="ellipse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80" y="437083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A0B10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422452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2E8F0"/>
                </a:solidFill>
                <a:latin typeface="Calibri"/>
              </a:defRPr>
            </a:pPr>
            <a:r>
              <a:t>Security Monitor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457200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Live dashboard: 15M txn/day, threat timeline, 5-agent orchestration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257800"/>
            <a:ext cx="5394960" cy="960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85800" y="5486400"/>
            <a:ext cx="457200" cy="457200"/>
          </a:xfrm>
          <a:prstGeom prst="ellipse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551383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A0B10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80160" y="536752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2E8F0"/>
                </a:solidFill>
                <a:latin typeface="Calibri"/>
              </a:defRPr>
            </a:pPr>
            <a:r>
              <a:t>Compliance Report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80160" y="571500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PCI-DSS 94%, DORA 91%, SOX 97%, NIST 89%, HIPAA 92%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5257800"/>
            <a:ext cx="5394960" cy="9601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355080" y="5486400"/>
            <a:ext cx="457200" cy="457200"/>
          </a:xfrm>
          <a:prstGeom prst="ellipse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55080" y="551383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A0B10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49440" y="536752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2E8F0"/>
                </a:solidFill>
                <a:latin typeface="Calibri"/>
              </a:defRPr>
            </a:pPr>
            <a:r>
              <a:t>Modernization Plan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49440" y="571500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Multi-phase roadmap, risk assessment, effort estimation, go-live date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D9FF"/>
                </a:solidFill>
                <a:latin typeface="Calibri"/>
              </a:defRPr>
            </a:pPr>
            <a:r>
              <a:t>Demo URL:  http://localhost:8001/e2e-demo   |   Start:  python run_demo.py --server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21424"/>
            <a:ext cx="12191695" cy="50800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9FF"/>
                </a:solidFill>
                <a:latin typeface="Calibri"/>
              </a:defRPr>
            </a:pPr>
            <a: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E2E8F0"/>
                </a:solidFill>
                <a:latin typeface="Calibri"/>
              </a:defRPr>
            </a:pPr>
            <a:r>
              <a:t>Start Your Proof of 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9260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Calibri"/>
              </a:defRPr>
            </a:pPr>
            <a:r>
              <a:t>2-week PoC. Connect to your test environment.</a:t>
            </a:r>
            <a:br/>
            <a:r>
              <a:t>Full protocol discovery and modernization assessment.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4114800"/>
            <a:ext cx="1828800" cy="4572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414223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100% Open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4114800"/>
            <a:ext cx="1828800" cy="4572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414223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Air-Gapped Ready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12080" y="4114800"/>
            <a:ext cx="1828800" cy="4572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0" y="414223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Zero Code Changes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23760" y="4114800"/>
            <a:ext cx="1828800" cy="4572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0" y="414223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Apache 2.0 License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4114800"/>
            <a:ext cx="1828800" cy="4572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0" y="414223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9 Compliance Frameworks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0" y="5029200"/>
            <a:ext cx="3931920" cy="731520"/>
          </a:xfrm>
          <a:prstGeom prst="round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507492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A0B10"/>
                </a:solidFill>
                <a:latin typeface="Calibri"/>
              </a:defRPr>
            </a:pPr>
            <a:r>
              <a:t>Contact 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6035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D9FF"/>
                </a:solidFill>
                <a:latin typeface="Calibri"/>
              </a:defRPr>
            </a:pPr>
            <a:r>
              <a:t>enterprise@qbitel.com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