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4114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411480"/>
            <a:ext cx="3047695" cy="3200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577840"/>
            <a:ext cx="12191695" cy="128016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57784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9144000" cy="1371600"/>
          </a:xfrm>
          <a:prstGeom prst="rect">
            <a:avLst/>
          </a:prstGeom>
          <a:noFill/>
        </p:spPr>
        <p:txBody>
          <a:bodyPr wrap="square">
            <a:spAutoFit/>
          </a:bodyPr>
          <a:lstStyle/>
          <a:p>
            <a:pPr algn="l"/>
            <a:r>
              <a:rPr sz="6400" b="1">
                <a:solidFill>
                  <a:srgbClr val="FFFFFF"/>
                </a:solidFill>
                <a:latin typeface="Calibri"/>
              </a:rPr>
              <a:t>QBITEL  </a:t>
            </a:r>
            <a:r>
              <a:rPr sz="6400" b="1">
                <a:solidFill>
                  <a:srgbClr val="008B9A"/>
                </a:solidFill>
                <a:latin typeface="Calibri"/>
              </a:rPr>
              <a:t>×  TCN</a:t>
            </a:r>
          </a:p>
        </p:txBody>
      </p:sp>
      <p:sp>
        <p:nvSpPr>
          <p:cNvPr id="8" name="Rectangle 7"/>
          <p:cNvSpPr/>
          <p:nvPr/>
        </p:nvSpPr>
        <p:spPr>
          <a:xfrm>
            <a:off x="548640" y="3017520"/>
            <a:ext cx="3657600" cy="7315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10058400" cy="548640"/>
          </a:xfrm>
          <a:prstGeom prst="rect">
            <a:avLst/>
          </a:prstGeom>
          <a:noFill/>
        </p:spPr>
        <p:txBody>
          <a:bodyPr wrap="square" lIns="50800" rIns="50800" tIns="25400" bIns="25400" anchor="t">
            <a:spAutoFit/>
          </a:bodyPr>
          <a:lstStyle/>
          <a:p>
            <a:pPr algn="l">
              <a:lnSpc>
                <a:spcPct val="115000"/>
              </a:lnSpc>
            </a:pPr>
            <a:r>
              <a:rPr sz="2400" b="1" i="0">
                <a:solidFill>
                  <a:srgbClr val="FFFFFF"/>
                </a:solidFill>
                <a:latin typeface="Calibri"/>
              </a:rPr>
              <a:t>Partnership Brief for the VP of Technology</a:t>
            </a:r>
          </a:p>
        </p:txBody>
      </p:sp>
      <p:sp>
        <p:nvSpPr>
          <p:cNvPr id="10" name="TextBox 9"/>
          <p:cNvSpPr txBox="1"/>
          <p:nvPr/>
        </p:nvSpPr>
        <p:spPr>
          <a:xfrm>
            <a:off x="548640" y="3703320"/>
            <a:ext cx="10058400" cy="457200"/>
          </a:xfrm>
          <a:prstGeom prst="rect">
            <a:avLst/>
          </a:prstGeom>
          <a:noFill/>
        </p:spPr>
        <p:txBody>
          <a:bodyPr wrap="square" lIns="50800" rIns="50800" tIns="25400" bIns="25400" anchor="t">
            <a:spAutoFit/>
          </a:bodyPr>
          <a:lstStyle/>
          <a:p>
            <a:pPr algn="l">
              <a:lnSpc>
                <a:spcPct val="115000"/>
              </a:lnSpc>
            </a:pPr>
            <a:r>
              <a:rPr sz="1500" b="0" i="1">
                <a:solidFill>
                  <a:srgbClr val="CDE8EC"/>
                </a:solidFill>
                <a:latin typeface="Calibri"/>
              </a:rPr>
              <a:t>Embedded Security &amp; Compliance Layer for TCN Operator</a:t>
            </a:r>
          </a:p>
        </p:txBody>
      </p:sp>
      <p:sp>
        <p:nvSpPr>
          <p:cNvPr id="11" name="Rounded Rectangle 10"/>
          <p:cNvSpPr/>
          <p:nvPr/>
        </p:nvSpPr>
        <p:spPr>
          <a:xfrm>
            <a:off x="6780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0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5 SEAMS</a:t>
            </a:r>
          </a:p>
        </p:txBody>
      </p:sp>
      <p:sp>
        <p:nvSpPr>
          <p:cNvPr id="13" name="TextBox 12"/>
          <p:cNvSpPr txBox="1"/>
          <p:nvPr/>
        </p:nvSpPr>
        <p:spPr>
          <a:xfrm>
            <a:off x="6780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SIP • Webhooks • REST</a:t>
            </a:r>
          </a:p>
          <a:p>
            <a:pPr algn="ctr">
              <a:lnSpc>
                <a:spcPct val="115000"/>
              </a:lnSpc>
            </a:pPr>
            <a:r>
              <a:rPr sz="1000" b="0" i="0">
                <a:solidFill>
                  <a:srgbClr val="FFFFFF"/>
                </a:solidFill>
                <a:latin typeface="Calibri"/>
              </a:rPr>
              <a:t>CRM Hooks • SSO</a:t>
            </a:r>
          </a:p>
        </p:txBody>
      </p:sp>
      <p:sp>
        <p:nvSpPr>
          <p:cNvPr id="14" name="Rounded Rectangle 13"/>
          <p:cNvSpPr/>
          <p:nvPr/>
        </p:nvSpPr>
        <p:spPr>
          <a:xfrm>
            <a:off x="34212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12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4 WEEKS</a:t>
            </a:r>
          </a:p>
        </p:txBody>
      </p:sp>
      <p:sp>
        <p:nvSpPr>
          <p:cNvPr id="16" name="TextBox 15"/>
          <p:cNvSpPr txBox="1"/>
          <p:nvPr/>
        </p:nvSpPr>
        <p:spPr>
          <a:xfrm>
            <a:off x="34212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Joint POC to a</a:t>
            </a:r>
          </a:p>
          <a:p>
            <a:pPr algn="ctr">
              <a:lnSpc>
                <a:spcPct val="115000"/>
              </a:lnSpc>
            </a:pPr>
            <a:r>
              <a:rPr sz="1000" b="0" i="0">
                <a:solidFill>
                  <a:srgbClr val="FFFFFF"/>
                </a:solidFill>
                <a:latin typeface="Calibri"/>
              </a:rPr>
              <a:t>Working Demo</a:t>
            </a:r>
          </a:p>
        </p:txBody>
      </p:sp>
      <p:sp>
        <p:nvSpPr>
          <p:cNvPr id="17" name="Rounded Rectangle 16"/>
          <p:cNvSpPr/>
          <p:nvPr/>
        </p:nvSpPr>
        <p:spPr>
          <a:xfrm>
            <a:off x="61644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44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3 MODELS</a:t>
            </a:r>
          </a:p>
        </p:txBody>
      </p:sp>
      <p:sp>
        <p:nvSpPr>
          <p:cNvPr id="19" name="TextBox 18"/>
          <p:cNvSpPr txBox="1"/>
          <p:nvPr/>
        </p:nvSpPr>
        <p:spPr>
          <a:xfrm>
            <a:off x="61644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Embedded OEM</a:t>
            </a:r>
          </a:p>
          <a:p>
            <a:pPr algn="ctr">
              <a:lnSpc>
                <a:spcPct val="115000"/>
              </a:lnSpc>
            </a:pPr>
            <a:r>
              <a:rPr sz="1000" b="0" i="0">
                <a:solidFill>
                  <a:srgbClr val="FFFFFF"/>
                </a:solidFill>
                <a:latin typeface="Calibri"/>
              </a:rPr>
              <a:t>Marketplace • Referral</a:t>
            </a:r>
          </a:p>
        </p:txBody>
      </p:sp>
      <p:sp>
        <p:nvSpPr>
          <p:cNvPr id="20" name="Rounded Rectangle 19"/>
          <p:cNvSpPr/>
          <p:nvPr/>
        </p:nvSpPr>
        <p:spPr>
          <a:xfrm>
            <a:off x="89076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76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&lt;10 MIN</a:t>
            </a:r>
          </a:p>
        </p:txBody>
      </p:sp>
      <p:sp>
        <p:nvSpPr>
          <p:cNvPr id="22" name="TextBox 21"/>
          <p:cNvSpPr txBox="1"/>
          <p:nvPr/>
        </p:nvSpPr>
        <p:spPr>
          <a:xfrm>
            <a:off x="89076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Per-Tenant</a:t>
            </a:r>
          </a:p>
          <a:p>
            <a:pPr algn="ctr">
              <a:lnSpc>
                <a:spcPct val="115000"/>
              </a:lnSpc>
            </a:pPr>
            <a:r>
              <a:rPr sz="1000" b="0" i="0">
                <a:solidFill>
                  <a:srgbClr val="FFFFFF"/>
                </a:solidFill>
                <a:latin typeface="Calibri"/>
              </a:rPr>
              <a:t>Compliance Pack</a:t>
            </a:r>
          </a:p>
        </p:txBody>
      </p:sp>
      <p:sp>
        <p:nvSpPr>
          <p:cNvPr id="23" name="TextBox 22"/>
          <p:cNvSpPr txBox="1"/>
          <p:nvPr/>
        </p:nvSpPr>
        <p:spPr>
          <a:xfrm>
            <a:off x="548640" y="5852160"/>
            <a:ext cx="10972800" cy="457200"/>
          </a:xfrm>
          <a:prstGeom prst="rect">
            <a:avLst/>
          </a:prstGeom>
          <a:noFill/>
        </p:spPr>
        <p:txBody>
          <a:bodyPr wrap="square" lIns="50800" rIns="50800" tIns="25400" bIns="25400" anchor="ctr">
            <a:spAutoFit/>
          </a:bodyPr>
          <a:lstStyle/>
          <a:p>
            <a:pPr algn="l">
              <a:lnSpc>
                <a:spcPct val="115000"/>
              </a:lnSpc>
            </a:pPr>
            <a:r>
              <a:rPr sz="1200" b="1" i="0">
                <a:solidFill>
                  <a:srgbClr val="FFFFFF"/>
                </a:solidFill>
                <a:latin typeface="Calibri"/>
              </a:rPr>
              <a:t>Integration Architecture  •  Flow Diagrams  •  Commercial Models  •  POC Plan</a:t>
            </a:r>
          </a:p>
        </p:txBody>
      </p:sp>
      <p:sp>
        <p:nvSpPr>
          <p:cNvPr id="24" name="TextBox 23"/>
          <p:cNvSpPr txBox="1"/>
          <p:nvPr/>
        </p:nvSpPr>
        <p:spPr>
          <a:xfrm>
            <a:off x="548640" y="6309360"/>
            <a:ext cx="10972800" cy="320040"/>
          </a:xfrm>
          <a:prstGeom prst="rect">
            <a:avLst/>
          </a:prstGeom>
          <a:noFill/>
        </p:spPr>
        <p:txBody>
          <a:bodyPr wrap="square" lIns="50800" rIns="50800" tIns="25400" bIns="25400" anchor="t">
            <a:spAutoFit/>
          </a:bodyPr>
          <a:lstStyle/>
          <a:p>
            <a:pPr algn="l">
              <a:lnSpc>
                <a:spcPct val="115000"/>
              </a:lnSpc>
            </a:pPr>
            <a:r>
              <a:rPr sz="1000" b="0" i="1">
                <a:solidFill>
                  <a:srgbClr val="AABBCC"/>
                </a:solidFill>
                <a:latin typeface="Calibri"/>
              </a:rPr>
              <a:t>Version 1.0  •  February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AGENDA</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What we will cover in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640080" y="100584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43000" y="102412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Meeting objective and what we are asking from TCN</a:t>
            </a:r>
          </a:p>
        </p:txBody>
      </p:sp>
      <p:sp>
        <p:nvSpPr>
          <p:cNvPr id="10" name="Oval 9"/>
          <p:cNvSpPr/>
          <p:nvPr/>
        </p:nvSpPr>
        <p:spPr>
          <a:xfrm>
            <a:off x="640080" y="142646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1" name="TextBox 10"/>
          <p:cNvSpPr txBox="1"/>
          <p:nvPr/>
        </p:nvSpPr>
        <p:spPr>
          <a:xfrm>
            <a:off x="1143000" y="144475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What we understand about TCN Operator (please correct)</a:t>
            </a:r>
          </a:p>
        </p:txBody>
      </p:sp>
      <p:sp>
        <p:nvSpPr>
          <p:cNvPr id="12" name="Oval 11"/>
          <p:cNvSpPr/>
          <p:nvPr/>
        </p:nvSpPr>
        <p:spPr>
          <a:xfrm>
            <a:off x="640080" y="184708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3" name="TextBox 12"/>
          <p:cNvSpPr txBox="1"/>
          <p:nvPr/>
        </p:nvSpPr>
        <p:spPr>
          <a:xfrm>
            <a:off x="1143000" y="186537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QBITEL Bridge in one slide</a:t>
            </a:r>
          </a:p>
        </p:txBody>
      </p:sp>
      <p:sp>
        <p:nvSpPr>
          <p:cNvPr id="14" name="Oval 13"/>
          <p:cNvSpPr/>
          <p:nvPr/>
        </p:nvSpPr>
        <p:spPr>
          <a:xfrm>
            <a:off x="640080" y="226771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5" name="TextBox 14"/>
          <p:cNvSpPr txBox="1"/>
          <p:nvPr/>
        </p:nvSpPr>
        <p:spPr>
          <a:xfrm>
            <a:off x="1143000" y="228600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Why a TCN × QBITEL partnership — overlap and complementarity</a:t>
            </a:r>
          </a:p>
        </p:txBody>
      </p:sp>
      <p:sp>
        <p:nvSpPr>
          <p:cNvPr id="16" name="Oval 15"/>
          <p:cNvSpPr/>
          <p:nvPr/>
        </p:nvSpPr>
        <p:spPr>
          <a:xfrm>
            <a:off x="640080" y="268833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17" name="TextBox 16"/>
          <p:cNvSpPr txBox="1"/>
          <p:nvPr/>
        </p:nvSpPr>
        <p:spPr>
          <a:xfrm>
            <a:off x="1143000" y="270662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Integration architecture and the five seams</a:t>
            </a:r>
          </a:p>
        </p:txBody>
      </p:sp>
      <p:sp>
        <p:nvSpPr>
          <p:cNvPr id="18" name="Oval 17"/>
          <p:cNvSpPr/>
          <p:nvPr/>
        </p:nvSpPr>
        <p:spPr>
          <a:xfrm>
            <a:off x="640080" y="310896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6</a:t>
            </a:r>
          </a:p>
        </p:txBody>
      </p:sp>
      <p:sp>
        <p:nvSpPr>
          <p:cNvPr id="19" name="TextBox 18"/>
          <p:cNvSpPr txBox="1"/>
          <p:nvPr/>
        </p:nvSpPr>
        <p:spPr>
          <a:xfrm>
            <a:off x="1143000" y="312724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Three flow diagrams: inbound, outbound, payment</a:t>
            </a:r>
          </a:p>
        </p:txBody>
      </p:sp>
      <p:sp>
        <p:nvSpPr>
          <p:cNvPr id="20" name="Oval 19"/>
          <p:cNvSpPr/>
          <p:nvPr/>
        </p:nvSpPr>
        <p:spPr>
          <a:xfrm>
            <a:off x="640080" y="352958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1" name="TextBox 20"/>
          <p:cNvSpPr txBox="1"/>
          <p:nvPr/>
        </p:nvSpPr>
        <p:spPr>
          <a:xfrm>
            <a:off x="1143000" y="354787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Multi-tenant isolation for TCN's BPO customers</a:t>
            </a:r>
          </a:p>
        </p:txBody>
      </p:sp>
      <p:sp>
        <p:nvSpPr>
          <p:cNvPr id="22" name="Oval 21"/>
          <p:cNvSpPr/>
          <p:nvPr/>
        </p:nvSpPr>
        <p:spPr>
          <a:xfrm>
            <a:off x="640080" y="395020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8</a:t>
            </a:r>
          </a:p>
        </p:txBody>
      </p:sp>
      <p:sp>
        <p:nvSpPr>
          <p:cNvPr id="23" name="TextBox 22"/>
          <p:cNvSpPr txBox="1"/>
          <p:nvPr/>
        </p:nvSpPr>
        <p:spPr>
          <a:xfrm>
            <a:off x="1143000" y="396849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Commercial models — three options</a:t>
            </a:r>
          </a:p>
        </p:txBody>
      </p:sp>
      <p:sp>
        <p:nvSpPr>
          <p:cNvPr id="24" name="Oval 23"/>
          <p:cNvSpPr/>
          <p:nvPr/>
        </p:nvSpPr>
        <p:spPr>
          <a:xfrm>
            <a:off x="640080" y="437083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9</a:t>
            </a:r>
          </a:p>
        </p:txBody>
      </p:sp>
      <p:sp>
        <p:nvSpPr>
          <p:cNvPr id="25" name="TextBox 24"/>
          <p:cNvSpPr txBox="1"/>
          <p:nvPr/>
        </p:nvSpPr>
        <p:spPr>
          <a:xfrm>
            <a:off x="1143000" y="438912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Technical risks and mitigations</a:t>
            </a:r>
          </a:p>
        </p:txBody>
      </p:sp>
      <p:sp>
        <p:nvSpPr>
          <p:cNvPr id="26" name="Oval 25"/>
          <p:cNvSpPr/>
          <p:nvPr/>
        </p:nvSpPr>
        <p:spPr>
          <a:xfrm>
            <a:off x="640080" y="479145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10</a:t>
            </a:r>
          </a:p>
        </p:txBody>
      </p:sp>
      <p:sp>
        <p:nvSpPr>
          <p:cNvPr id="27" name="TextBox 26"/>
          <p:cNvSpPr txBox="1"/>
          <p:nvPr/>
        </p:nvSpPr>
        <p:spPr>
          <a:xfrm>
            <a:off x="1143000" y="480974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Joint POC proposal — four weeks</a:t>
            </a:r>
          </a:p>
        </p:txBody>
      </p:sp>
      <p:sp>
        <p:nvSpPr>
          <p:cNvPr id="28" name="Oval 27"/>
          <p:cNvSpPr/>
          <p:nvPr/>
        </p:nvSpPr>
        <p:spPr>
          <a:xfrm>
            <a:off x="640080" y="521208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11</a:t>
            </a:r>
          </a:p>
        </p:txBody>
      </p:sp>
      <p:sp>
        <p:nvSpPr>
          <p:cNvPr id="29" name="TextBox 28"/>
          <p:cNvSpPr txBox="1"/>
          <p:nvPr/>
        </p:nvSpPr>
        <p:spPr>
          <a:xfrm>
            <a:off x="1143000" y="523036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Next steps</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MEETING OBJECTIVE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Why we asked for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1097280"/>
            <a:ext cx="10881360" cy="18288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0" i="0">
                <a:solidFill>
                  <a:srgbClr val="FFFFFF"/>
                </a:solidFill>
                <a:latin typeface="Calibri"/>
              </a:rPr>
              <a:t>Explore a technology partnership in which QBITEL Bridge becomes an embedded or marketplace-available security &amp; compliance layer inside TCN Operator — giving TCN's BPO and enterprise customers a single answer to toll fraud, PCI/HIPAA scope, post-quantum readiness, and multi-tenant compliance, without any change to the agent experience or TCN's product surface.</a:t>
            </a:r>
          </a:p>
        </p:txBody>
      </p:sp>
      <p:sp>
        <p:nvSpPr>
          <p:cNvPr id="9" name="Rounded Rectangle 8"/>
          <p:cNvSpPr/>
          <p:nvPr/>
        </p:nvSpPr>
        <p:spPr>
          <a:xfrm>
            <a:off x="640080" y="3200400"/>
            <a:ext cx="5303520" cy="2377440"/>
          </a:xfrm>
          <a:prstGeom prst="roundRect">
            <a:avLst>
              <a:gd name="adj" fmla="val 12000"/>
            </a:avLst>
          </a:prstGeom>
          <a:solidFill>
            <a:srgbClr val="F4F7FA"/>
          </a:solidFill>
          <a:ln w="9525">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0D1B3E"/>
                </a:solidFill>
                <a:latin typeface="Calibri"/>
              </a:rPr>
              <a:t>TCN handles the contact center.</a:t>
            </a:r>
          </a:p>
        </p:txBody>
      </p:sp>
      <p:sp>
        <p:nvSpPr>
          <p:cNvPr id="10" name="TextBox 9"/>
          <p:cNvSpPr txBox="1"/>
          <p:nvPr/>
        </p:nvSpPr>
        <p:spPr>
          <a:xfrm>
            <a:off x="822960" y="3931920"/>
            <a:ext cx="4937760" cy="1554480"/>
          </a:xfrm>
          <a:prstGeom prst="rect">
            <a:avLst/>
          </a:prstGeom>
          <a:noFill/>
        </p:spPr>
        <p:txBody>
          <a:bodyPr wrap="square" lIns="50800" rIns="50800" tIns="25400" bIns="25400" anchor="ctr">
            <a:spAutoFit/>
          </a:bodyPr>
          <a:lstStyle/>
          <a:p>
            <a:pPr algn="ctr">
              <a:lnSpc>
                <a:spcPct val="115000"/>
              </a:lnSpc>
            </a:pPr>
            <a:r>
              <a:rPr sz="1200" b="0" i="0">
                <a:solidFill>
                  <a:srgbClr val="1A1A2E"/>
                </a:solidFill>
                <a:latin typeface="Calibri"/>
              </a:rPr>
              <a:t>Dialers • IVR/IVM • Agent workspace</a:t>
            </a:r>
          </a:p>
          <a:p>
            <a:pPr algn="ctr">
              <a:lnSpc>
                <a:spcPct val="115000"/>
              </a:lnSpc>
            </a:pPr>
            <a:r>
              <a:rPr sz="1200" b="0" i="0">
                <a:solidFill>
                  <a:srgbClr val="1A1A2E"/>
                </a:solidFill>
                <a:latin typeface="Calibri"/>
              </a:rPr>
              <a:t>Recording • Native CRM/ITSM • Analytics</a:t>
            </a:r>
          </a:p>
        </p:txBody>
      </p:sp>
      <p:sp>
        <p:nvSpPr>
          <p:cNvPr id="11" name="Rounded Rectangle 10"/>
          <p:cNvSpPr/>
          <p:nvPr/>
        </p:nvSpPr>
        <p:spPr>
          <a:xfrm>
            <a:off x="6263640" y="3200400"/>
            <a:ext cx="5303520" cy="23774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FFFFFF"/>
                </a:solidFill>
                <a:latin typeface="Calibri"/>
              </a:rPr>
              <a:t>QBITEL handles what the regulators ask about it.</a:t>
            </a:r>
          </a:p>
        </p:txBody>
      </p:sp>
      <p:sp>
        <p:nvSpPr>
          <p:cNvPr id="12" name="TextBox 11"/>
          <p:cNvSpPr txBox="1"/>
          <p:nvPr/>
        </p:nvSpPr>
        <p:spPr>
          <a:xfrm>
            <a:off x="6400800" y="3931920"/>
            <a:ext cx="5029200" cy="1554480"/>
          </a:xfrm>
          <a:prstGeom prst="rect">
            <a:avLst/>
          </a:prstGeom>
          <a:noFill/>
        </p:spPr>
        <p:txBody>
          <a:bodyPr wrap="square" lIns="50800" rIns="50800" tIns="25400" bIns="25400" anchor="ctr">
            <a:spAutoFit/>
          </a:bodyPr>
          <a:lstStyle/>
          <a:p>
            <a:pPr algn="ctr">
              <a:lnSpc>
                <a:spcPct val="115000"/>
              </a:lnSpc>
            </a:pPr>
            <a:r>
              <a:rPr sz="1200" b="0" i="0">
                <a:solidFill>
                  <a:srgbClr val="FFFFFF"/>
                </a:solidFill>
                <a:latin typeface="Calibri"/>
              </a:rPr>
              <a:t>PQC encryption • DTMF masking • Toll-fraud detection</a:t>
            </a:r>
          </a:p>
          <a:p>
            <a:pPr algn="ctr">
              <a:lnSpc>
                <a:spcPct val="115000"/>
              </a:lnSpc>
            </a:pPr>
            <a:r>
              <a:rPr sz="1200" b="0" i="0">
                <a:solidFill>
                  <a:srgbClr val="FFFFFF"/>
                </a:solidFill>
                <a:latin typeface="Calibri"/>
              </a:rPr>
              <a:t>Agent DLP • Multi-tenant compliance evidence</a:t>
            </a:r>
          </a:p>
        </p:txBody>
      </p:sp>
      <p:sp>
        <p:nvSpPr>
          <p:cNvPr id="13" name="TextBox 12"/>
          <p:cNvSpPr txBox="1"/>
          <p:nvPr/>
        </p:nvSpPr>
        <p:spPr>
          <a:xfrm>
            <a:off x="640080" y="5760720"/>
            <a:ext cx="10881360" cy="457200"/>
          </a:xfrm>
          <a:prstGeom prst="rect">
            <a:avLst/>
          </a:prstGeom>
          <a:noFill/>
        </p:spPr>
        <p:txBody>
          <a:bodyPr wrap="square" lIns="50800" rIns="50800" tIns="25400" bIns="25400" anchor="ctr">
            <a:spAutoFit/>
          </a:bodyPr>
          <a:lstStyle/>
          <a:p>
            <a:pPr algn="ctr">
              <a:lnSpc>
                <a:spcPct val="115000"/>
              </a:lnSpc>
            </a:pPr>
            <a:r>
              <a:rPr sz="1400" b="1" i="1">
                <a:solidFill>
                  <a:srgbClr val="F0A500"/>
                </a:solidFill>
                <a:latin typeface="Calibri"/>
              </a:rPr>
              <a:t>Together you sell one platform. Separately, you both leave money on the table.</a:t>
            </a:r>
          </a:p>
        </p:txBody>
      </p:sp>
      <p:sp>
        <p:nvSpPr>
          <p:cNvPr id="14" name="Rectangle 13"/>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17" name="TextBox 16"/>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WHAT WE UNDERSTAND ABOUT TCN OPERATOR</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From public materials — please correct anything that does not match</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96012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Product</a:t>
            </a:r>
          </a:p>
        </p:txBody>
      </p:sp>
      <p:sp>
        <p:nvSpPr>
          <p:cNvPr id="9" name="Rounded Rectangle 8"/>
          <p:cNvSpPr/>
          <p:nvPr/>
        </p:nvSpPr>
        <p:spPr>
          <a:xfrm>
            <a:off x="3063240" y="96012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Operator — unified cloud contact center platform</a:t>
            </a:r>
          </a:p>
        </p:txBody>
      </p:sp>
      <p:sp>
        <p:nvSpPr>
          <p:cNvPr id="10" name="Rounded Rectangle 9"/>
          <p:cNvSpPr/>
          <p:nvPr/>
        </p:nvSpPr>
        <p:spPr>
          <a:xfrm>
            <a:off x="640080" y="156362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Core capabilities</a:t>
            </a:r>
          </a:p>
        </p:txBody>
      </p:sp>
      <p:sp>
        <p:nvSpPr>
          <p:cNvPr id="11" name="Rounded Rectangle 10"/>
          <p:cNvSpPr/>
          <p:nvPr/>
        </p:nvSpPr>
        <p:spPr>
          <a:xfrm>
            <a:off x="3063240" y="156362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Autodialer • Manual dialer • Preview dialer • IVR • IVM • Voicemail • Speech analytics • Call recording • Agent scripting • Dashboards • Live monitoring</a:t>
            </a:r>
          </a:p>
        </p:txBody>
      </p:sp>
      <p:sp>
        <p:nvSpPr>
          <p:cNvPr id="12" name="Rounded Rectangle 11"/>
          <p:cNvSpPr/>
          <p:nvPr/>
        </p:nvSpPr>
        <p:spPr>
          <a:xfrm>
            <a:off x="640080" y="216712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Channels</a:t>
            </a:r>
          </a:p>
        </p:txBody>
      </p:sp>
      <p:sp>
        <p:nvSpPr>
          <p:cNvPr id="13" name="Rounded Rectangle 12"/>
          <p:cNvSpPr/>
          <p:nvPr/>
        </p:nvSpPr>
        <p:spPr>
          <a:xfrm>
            <a:off x="3063240" y="216712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Inbound • Outbound • Blended voice • Email • SMS</a:t>
            </a:r>
          </a:p>
        </p:txBody>
      </p:sp>
      <p:sp>
        <p:nvSpPr>
          <p:cNvPr id="14" name="Rounded Rectangle 13"/>
          <p:cNvSpPr/>
          <p:nvPr/>
        </p:nvSpPr>
        <p:spPr>
          <a:xfrm>
            <a:off x="640080" y="2770632"/>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Native integrations</a:t>
            </a:r>
          </a:p>
        </p:txBody>
      </p:sp>
      <p:sp>
        <p:nvSpPr>
          <p:cNvPr id="15" name="Rounded Rectangle 14"/>
          <p:cNvSpPr/>
          <p:nvPr/>
        </p:nvSpPr>
        <p:spPr>
          <a:xfrm>
            <a:off x="3063240" y="2770632"/>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Salesforce • Zendesk • ServiceNow • Finvi • Zoho • Freshworks • Leadsquared  (close to 2,000 logos total)</a:t>
            </a:r>
          </a:p>
        </p:txBody>
      </p:sp>
      <p:sp>
        <p:nvSpPr>
          <p:cNvPr id="16" name="Rounded Rectangle 15"/>
          <p:cNvSpPr/>
          <p:nvPr/>
        </p:nvSpPr>
        <p:spPr>
          <a:xfrm>
            <a:off x="640080" y="3374136"/>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Integration framework</a:t>
            </a:r>
          </a:p>
        </p:txBody>
      </p:sp>
      <p:sp>
        <p:nvSpPr>
          <p:cNvPr id="17" name="Rounded Rectangle 16"/>
          <p:cNvSpPr/>
          <p:nvPr/>
        </p:nvSpPr>
        <p:spPr>
          <a:xfrm>
            <a:off x="3063240" y="3374136"/>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Advanced REST API; Synapse engine for outbound webhooks and integration actions (2026 enhancement)</a:t>
            </a:r>
          </a:p>
        </p:txBody>
      </p:sp>
      <p:sp>
        <p:nvSpPr>
          <p:cNvPr id="18" name="Rounded Rectangle 17"/>
          <p:cNvSpPr/>
          <p:nvPr/>
        </p:nvSpPr>
        <p:spPr>
          <a:xfrm>
            <a:off x="640080" y="397764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Telephony</a:t>
            </a:r>
          </a:p>
        </p:txBody>
      </p:sp>
      <p:sp>
        <p:nvSpPr>
          <p:cNvPr id="19" name="Rounded Rectangle 18"/>
          <p:cNvSpPr/>
          <p:nvPr/>
        </p:nvSpPr>
        <p:spPr>
          <a:xfrm>
            <a:off x="3063240" y="397764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SIP-based voice infrastructure with IVR/IVM logic</a:t>
            </a:r>
          </a:p>
        </p:txBody>
      </p:sp>
      <p:sp>
        <p:nvSpPr>
          <p:cNvPr id="20" name="Rounded Rectangle 19"/>
          <p:cNvSpPr/>
          <p:nvPr/>
        </p:nvSpPr>
        <p:spPr>
          <a:xfrm>
            <a:off x="640080" y="458114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Customer base</a:t>
            </a:r>
          </a:p>
        </p:txBody>
      </p:sp>
      <p:sp>
        <p:nvSpPr>
          <p:cNvPr id="21" name="Rounded Rectangle 20"/>
          <p:cNvSpPr/>
          <p:nvPr/>
        </p:nvSpPr>
        <p:spPr>
          <a:xfrm>
            <a:off x="3063240" y="458114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BPOs • Collections • Healthcare • Financial services • CX operations</a:t>
            </a:r>
          </a:p>
        </p:txBody>
      </p:sp>
      <p:sp>
        <p:nvSpPr>
          <p:cNvPr id="22" name="Rounded Rectangle 21"/>
          <p:cNvSpPr/>
          <p:nvPr/>
        </p:nvSpPr>
        <p:spPr>
          <a:xfrm>
            <a:off x="640080" y="518464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2026 direction</a:t>
            </a:r>
          </a:p>
        </p:txBody>
      </p:sp>
      <p:sp>
        <p:nvSpPr>
          <p:cNvPr id="23" name="Rounded Rectangle 22"/>
          <p:cNvSpPr/>
          <p:nvPr/>
        </p:nvSpPr>
        <p:spPr>
          <a:xfrm>
            <a:off x="3063240" y="518464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AI-powered features • Centralized automation • Omnichannel throughput</a:t>
            </a:r>
          </a:p>
        </p:txBody>
      </p:sp>
      <p:sp>
        <p:nvSpPr>
          <p:cNvPr id="24" name="TextBox 23"/>
          <p:cNvSpPr txBox="1"/>
          <p:nvPr/>
        </p:nvSpPr>
        <p:spPr>
          <a:xfrm>
            <a:off x="640080" y="5989320"/>
            <a:ext cx="10881360" cy="365760"/>
          </a:xfrm>
          <a:prstGeom prst="rect">
            <a:avLst/>
          </a:prstGeom>
          <a:noFill/>
        </p:spPr>
        <p:txBody>
          <a:bodyPr wrap="square" lIns="50800" rIns="50800" tIns="25400" bIns="25400" anchor="ctr">
            <a:spAutoFit/>
          </a:bodyPr>
          <a:lstStyle/>
          <a:p>
            <a:pPr algn="l">
              <a:lnSpc>
                <a:spcPct val="115000"/>
              </a:lnSpc>
            </a:pPr>
            <a:r>
              <a:rPr sz="1100" b="0" i="1">
                <a:solidFill>
                  <a:srgbClr val="006B7A"/>
                </a:solidFill>
                <a:latin typeface="Calibri"/>
              </a:rPr>
              <a:t>The gap your BPO customers raise loudest: the security &amp; compliance layer across all of these components per-client. That is what QBITEL Bridge does.</a:t>
            </a:r>
          </a:p>
        </p:txBody>
      </p:sp>
      <p:sp>
        <p:nvSpPr>
          <p:cNvPr id="25" name="Rectangle 2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8" name="TextBox 2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QBITEL BRIDGE — AT A GLANCE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AI-powered, network-overlay security &amp; compliance for contact centers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371703"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1703"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DISCOVER</a:t>
            </a:r>
          </a:p>
        </p:txBody>
      </p:sp>
      <p:sp>
        <p:nvSpPr>
          <p:cNvPr id="10" name="Rectangle 9"/>
          <p:cNvSpPr/>
          <p:nvPr/>
        </p:nvSpPr>
        <p:spPr>
          <a:xfrm>
            <a:off x="371703"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703"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AI protocol &amp;</a:t>
            </a:r>
          </a:p>
          <a:p>
            <a:pPr algn="ctr">
              <a:lnSpc>
                <a:spcPct val="115000"/>
              </a:lnSpc>
            </a:pPr>
            <a:r>
              <a:rPr sz="1200" b="1" i="0">
                <a:solidFill>
                  <a:srgbClr val="0D1B3E"/>
                </a:solidFill>
                <a:latin typeface="Calibri"/>
              </a:rPr>
              <a:t>asset graph</a:t>
            </a:r>
          </a:p>
        </p:txBody>
      </p:sp>
      <p:sp>
        <p:nvSpPr>
          <p:cNvPr id="12" name="TextBox 11"/>
          <p:cNvSpPr txBox="1"/>
          <p:nvPr/>
        </p:nvSpPr>
        <p:spPr>
          <a:xfrm>
            <a:off x="371703"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2–4 hour scan</a:t>
            </a:r>
          </a:p>
          <a:p>
            <a:pPr algn="ctr">
              <a:lnSpc>
                <a:spcPct val="115000"/>
              </a:lnSpc>
            </a:pPr>
            <a:r>
              <a:rPr sz="1000" b="0" i="1">
                <a:solidFill>
                  <a:srgbClr val="5A6A7A"/>
                </a:solidFill>
                <a:latin typeface="Calibri"/>
              </a:rPr>
              <a:t>89%+ accuracy</a:t>
            </a:r>
          </a:p>
        </p:txBody>
      </p:sp>
      <p:sp>
        <p:nvSpPr>
          <p:cNvPr id="13" name="Rounded Rectangle 12"/>
          <p:cNvSpPr/>
          <p:nvPr/>
        </p:nvSpPr>
        <p:spPr>
          <a:xfrm>
            <a:off x="2685135"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85135"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UNDERSTAND</a:t>
            </a:r>
          </a:p>
        </p:txBody>
      </p:sp>
      <p:sp>
        <p:nvSpPr>
          <p:cNvPr id="15" name="Rectangle 14"/>
          <p:cNvSpPr/>
          <p:nvPr/>
        </p:nvSpPr>
        <p:spPr>
          <a:xfrm>
            <a:off x="2685135"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85135"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LLM-generated</a:t>
            </a:r>
          </a:p>
          <a:p>
            <a:pPr algn="ctr">
              <a:lnSpc>
                <a:spcPct val="115000"/>
              </a:lnSpc>
            </a:pPr>
            <a:r>
              <a:rPr sz="1200" b="1" i="0">
                <a:solidFill>
                  <a:srgbClr val="0D1B3E"/>
                </a:solidFill>
                <a:latin typeface="Calibri"/>
              </a:rPr>
              <a:t>risk narratives</a:t>
            </a:r>
          </a:p>
        </p:txBody>
      </p:sp>
      <p:sp>
        <p:nvSpPr>
          <p:cNvPr id="17" name="TextBox 16"/>
          <p:cNvSpPr txBox="1"/>
          <p:nvPr/>
        </p:nvSpPr>
        <p:spPr>
          <a:xfrm>
            <a:off x="2685135"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Per-tenant</a:t>
            </a:r>
          </a:p>
          <a:p>
            <a:pPr algn="ctr">
              <a:lnSpc>
                <a:spcPct val="115000"/>
              </a:lnSpc>
            </a:pPr>
            <a:r>
              <a:rPr sz="1000" b="0" i="1">
                <a:solidFill>
                  <a:srgbClr val="5A6A7A"/>
                </a:solidFill>
                <a:latin typeface="Calibri"/>
              </a:rPr>
              <a:t>risk explained</a:t>
            </a:r>
          </a:p>
        </p:txBody>
      </p:sp>
      <p:sp>
        <p:nvSpPr>
          <p:cNvPr id="18" name="Rounded Rectangle 17"/>
          <p:cNvSpPr/>
          <p:nvPr/>
        </p:nvSpPr>
        <p:spPr>
          <a:xfrm>
            <a:off x="4998567"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8567"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MODERNIZE</a:t>
            </a:r>
          </a:p>
        </p:txBody>
      </p:sp>
      <p:sp>
        <p:nvSpPr>
          <p:cNvPr id="20" name="Rectangle 19"/>
          <p:cNvSpPr/>
          <p:nvPr/>
        </p:nvSpPr>
        <p:spPr>
          <a:xfrm>
            <a:off x="4998567"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8567"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Auto REST APIs</a:t>
            </a:r>
          </a:p>
          <a:p>
            <a:pPr algn="ctr">
              <a:lnSpc>
                <a:spcPct val="115000"/>
              </a:lnSpc>
            </a:pPr>
            <a:r>
              <a:rPr sz="1200" b="1" i="0">
                <a:solidFill>
                  <a:srgbClr val="0D1B3E"/>
                </a:solidFill>
                <a:latin typeface="Calibri"/>
              </a:rPr>
              <a:t>+ 6 SDKs</a:t>
            </a:r>
          </a:p>
        </p:txBody>
      </p:sp>
      <p:sp>
        <p:nvSpPr>
          <p:cNvPr id="22" name="TextBox 21"/>
          <p:cNvSpPr txBox="1"/>
          <p:nvPr/>
        </p:nvSpPr>
        <p:spPr>
          <a:xfrm>
            <a:off x="4998567"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Translation Studio</a:t>
            </a:r>
          </a:p>
          <a:p>
            <a:pPr algn="ctr">
              <a:lnSpc>
                <a:spcPct val="115000"/>
              </a:lnSpc>
            </a:pPr>
            <a:r>
              <a:rPr sz="1000" b="0" i="1">
                <a:solidFill>
                  <a:srgbClr val="5A6A7A"/>
                </a:solidFill>
                <a:latin typeface="Calibri"/>
              </a:rPr>
              <a:t>for legacy/custom</a:t>
            </a:r>
          </a:p>
        </p:txBody>
      </p:sp>
      <p:sp>
        <p:nvSpPr>
          <p:cNvPr id="23" name="Rounded Rectangle 22"/>
          <p:cNvSpPr/>
          <p:nvPr/>
        </p:nvSpPr>
        <p:spPr>
          <a:xfrm>
            <a:off x="7311999"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1999"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PROTECT</a:t>
            </a:r>
          </a:p>
        </p:txBody>
      </p:sp>
      <p:sp>
        <p:nvSpPr>
          <p:cNvPr id="25" name="Rectangle 24"/>
          <p:cNvSpPr/>
          <p:nvPr/>
        </p:nvSpPr>
        <p:spPr>
          <a:xfrm>
            <a:off x="7311999"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1999"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PQC overlay, DLP,</a:t>
            </a:r>
          </a:p>
          <a:p>
            <a:pPr algn="ctr">
              <a:lnSpc>
                <a:spcPct val="115000"/>
              </a:lnSpc>
            </a:pPr>
            <a:r>
              <a:rPr sz="1200" b="1" i="0">
                <a:solidFill>
                  <a:srgbClr val="0D1B3E"/>
                </a:solidFill>
                <a:latin typeface="Calibri"/>
              </a:rPr>
              <a:t>toll-fraud, DTMF</a:t>
            </a:r>
          </a:p>
        </p:txBody>
      </p:sp>
      <p:sp>
        <p:nvSpPr>
          <p:cNvPr id="27" name="TextBox 26"/>
          <p:cNvSpPr txBox="1"/>
          <p:nvPr/>
        </p:nvSpPr>
        <p:spPr>
          <a:xfrm>
            <a:off x="7311999"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78% autonomous</a:t>
            </a:r>
          </a:p>
          <a:p>
            <a:pPr algn="ctr">
              <a:lnSpc>
                <a:spcPct val="115000"/>
              </a:lnSpc>
            </a:pPr>
            <a:r>
              <a:rPr sz="1000" b="0" i="1">
                <a:solidFill>
                  <a:srgbClr val="5A6A7A"/>
                </a:solidFill>
                <a:latin typeface="Calibri"/>
              </a:rPr>
              <a:t>&lt;2ms voice</a:t>
            </a:r>
          </a:p>
        </p:txBody>
      </p:sp>
      <p:sp>
        <p:nvSpPr>
          <p:cNvPr id="28" name="Rounded Rectangle 27"/>
          <p:cNvSpPr/>
          <p:nvPr/>
        </p:nvSpPr>
        <p:spPr>
          <a:xfrm>
            <a:off x="9625431"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5431"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PROVE</a:t>
            </a:r>
          </a:p>
        </p:txBody>
      </p:sp>
      <p:sp>
        <p:nvSpPr>
          <p:cNvPr id="30" name="Rectangle 29"/>
          <p:cNvSpPr/>
          <p:nvPr/>
        </p:nvSpPr>
        <p:spPr>
          <a:xfrm>
            <a:off x="9625431"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25431"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Per-tenant evidence</a:t>
            </a:r>
          </a:p>
          <a:p>
            <a:pPr algn="ctr">
              <a:lnSpc>
                <a:spcPct val="115000"/>
              </a:lnSpc>
            </a:pPr>
            <a:r>
              <a:rPr sz="1200" b="1" i="0">
                <a:solidFill>
                  <a:srgbClr val="0D1B3E"/>
                </a:solidFill>
                <a:latin typeface="Calibri"/>
              </a:rPr>
              <a:t>packs</a:t>
            </a:r>
          </a:p>
        </p:txBody>
      </p:sp>
      <p:sp>
        <p:nvSpPr>
          <p:cNvPr id="32" name="TextBox 31"/>
          <p:cNvSpPr txBox="1"/>
          <p:nvPr/>
        </p:nvSpPr>
        <p:spPr>
          <a:xfrm>
            <a:off x="9625431"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9 frameworks</a:t>
            </a:r>
          </a:p>
          <a:p>
            <a:pPr algn="ctr">
              <a:lnSpc>
                <a:spcPct val="115000"/>
              </a:lnSpc>
            </a:pPr>
            <a:r>
              <a:rPr sz="1000" b="0" i="1">
                <a:solidFill>
                  <a:srgbClr val="5A6A7A"/>
                </a:solidFill>
                <a:latin typeface="Calibri"/>
              </a:rPr>
              <a:t>&lt;10 min per pack</a:t>
            </a:r>
          </a:p>
        </p:txBody>
      </p:sp>
      <p:sp>
        <p:nvSpPr>
          <p:cNvPr id="33" name="Rounded Rectangle 32"/>
          <p:cNvSpPr/>
          <p:nvPr/>
        </p:nvSpPr>
        <p:spPr>
          <a:xfrm>
            <a:off x="64008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&lt;2 ms</a:t>
            </a:r>
          </a:p>
          <a:p>
            <a:pPr algn="ctr">
              <a:lnSpc>
                <a:spcPct val="115000"/>
              </a:lnSpc>
            </a:pPr>
            <a:r>
              <a:rPr sz="1200" b="1" i="0">
                <a:solidFill>
                  <a:srgbClr val="FFFFFF"/>
                </a:solidFill>
                <a:latin typeface="Calibri"/>
              </a:rPr>
              <a:t>PQC voice overhead</a:t>
            </a:r>
          </a:p>
        </p:txBody>
      </p:sp>
      <p:sp>
        <p:nvSpPr>
          <p:cNvPr id="34" name="Rounded Rectangle 33"/>
          <p:cNvSpPr/>
          <p:nvPr/>
        </p:nvSpPr>
        <p:spPr>
          <a:xfrm>
            <a:off x="3200400" y="3520440"/>
            <a:ext cx="237744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&lt;5 ms</a:t>
            </a:r>
          </a:p>
          <a:p>
            <a:pPr algn="ctr">
              <a:lnSpc>
                <a:spcPct val="115000"/>
              </a:lnSpc>
            </a:pPr>
            <a:r>
              <a:rPr sz="1200" b="1" i="0">
                <a:solidFill>
                  <a:srgbClr val="FFFFFF"/>
                </a:solidFill>
                <a:latin typeface="Calibri"/>
              </a:rPr>
              <a:t>DTMF masking</a:t>
            </a:r>
          </a:p>
        </p:txBody>
      </p:sp>
      <p:sp>
        <p:nvSpPr>
          <p:cNvPr id="35" name="Rounded Rectangle 34"/>
          <p:cNvSpPr/>
          <p:nvPr/>
        </p:nvSpPr>
        <p:spPr>
          <a:xfrm>
            <a:off x="576072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&lt;1 sec</a:t>
            </a:r>
          </a:p>
          <a:p>
            <a:pPr algn="ctr">
              <a:lnSpc>
                <a:spcPct val="115000"/>
              </a:lnSpc>
            </a:pPr>
            <a:r>
              <a:rPr sz="1200" b="1" i="0">
                <a:solidFill>
                  <a:srgbClr val="FFFFFF"/>
                </a:solidFill>
                <a:latin typeface="Calibri"/>
              </a:rPr>
              <a:t>toll fraud block</a:t>
            </a:r>
          </a:p>
        </p:txBody>
      </p:sp>
      <p:sp>
        <p:nvSpPr>
          <p:cNvPr id="36" name="Rounded Rectangle 35"/>
          <p:cNvSpPr/>
          <p:nvPr/>
        </p:nvSpPr>
        <p:spPr>
          <a:xfrm>
            <a:off x="8321040" y="3520440"/>
            <a:ext cx="324612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4–6 hours</a:t>
            </a:r>
          </a:p>
          <a:p>
            <a:pPr algn="ctr">
              <a:lnSpc>
                <a:spcPct val="115000"/>
              </a:lnSpc>
            </a:pPr>
            <a:r>
              <a:rPr sz="1200" b="1" i="0">
                <a:solidFill>
                  <a:srgbClr val="FFFFFF"/>
                </a:solidFill>
                <a:latin typeface="Calibri"/>
              </a:rPr>
              <a:t>full deployment, zero downtime</a:t>
            </a:r>
          </a:p>
        </p:txBody>
      </p:sp>
      <p:sp>
        <p:nvSpPr>
          <p:cNvPr id="37" name="Rounded Rectangle 36"/>
          <p:cNvSpPr/>
          <p:nvPr/>
        </p:nvSpPr>
        <p:spPr>
          <a:xfrm>
            <a:off x="640080" y="4526280"/>
            <a:ext cx="10927080" cy="1783080"/>
          </a:xfrm>
          <a:prstGeom prst="roundRect">
            <a:avLst>
              <a:gd name="adj" fmla="val 12000"/>
            </a:avLst>
          </a:prstGeom>
          <a:solidFill>
            <a:srgbClr val="FDE9BE"/>
          </a:solidFill>
          <a:ln w="127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0" i="0">
                <a:solidFill>
                  <a:srgbClr val="0D1B3E"/>
                </a:solidFill>
                <a:latin typeface="Calibri"/>
              </a:rPr>
              <a:t>QBITEL is a complement, not a competitor to a contact-center platform.</a:t>
            </a:r>
          </a:p>
          <a:p>
            <a:pPr algn="ctr">
              <a:lnSpc>
                <a:spcPct val="115000"/>
              </a:lnSpc>
            </a:pPr>
          </a:p>
          <a:p>
            <a:pPr algn="ctr">
              <a:lnSpc>
                <a:spcPct val="115000"/>
              </a:lnSpc>
            </a:pPr>
            <a:r>
              <a:rPr sz="1300" b="0" i="0">
                <a:solidFill>
                  <a:srgbClr val="0D1B3E"/>
                </a:solidFill>
                <a:latin typeface="Calibri"/>
              </a:rPr>
              <a:t>We do not run the dialer, the IVR, the agent desktop, or the recording engine.</a:t>
            </a:r>
          </a:p>
          <a:p>
            <a:pPr algn="ctr">
              <a:lnSpc>
                <a:spcPct val="115000"/>
              </a:lnSpc>
            </a:pPr>
            <a:r>
              <a:rPr sz="1300" b="0" i="0">
                <a:solidFill>
                  <a:srgbClr val="0D1B3E"/>
                </a:solidFill>
                <a:latin typeface="Calibri"/>
              </a:rPr>
              <a:t>We sit on the wire and at the API boundary, observe what those systems do, and add the controls and evidence that auditors and CISOs require.</a:t>
            </a:r>
          </a:p>
        </p:txBody>
      </p:sp>
      <p:sp>
        <p:nvSpPr>
          <p:cNvPr id="38" name="Rectangle 3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1" name="TextBox 4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5" name="TextBox 4"/>
          <p:cNvSpPr txBox="1"/>
          <p:nvPr/>
        </p:nvSpPr>
        <p:spPr>
          <a:xfrm>
            <a:off x="320040" y="45720"/>
            <a:ext cx="10058400" cy="365760"/>
          </a:xfrm>
          <a:prstGeom prst="rect">
            <a:avLst/>
          </a:prstGeom>
          <a:noFill/>
        </p:spPr>
        <p:txBody>
          <a:bodyPr wrap="square" lIns="127000" rIns="50800" tIns="25400" bIns="25400" anchor="ctr">
            <a:spAutoFit/>
          </a:bodyPr>
          <a:lstStyle/>
          <a:p>
            <a:pPr algn="l">
              <a:lnSpc>
                <a:spcPct val="115000"/>
              </a:lnSpc>
            </a:pPr>
            <a:r>
              <a:rPr sz="1800" b="1" i="0">
                <a:solidFill>
                  <a:srgbClr val="FFFFFF"/>
                </a:solidFill>
                <a:latin typeface="Calibri"/>
              </a:rPr>
              <a:t>WHY TCN × QBITEL</a:t>
            </a:r>
          </a:p>
        </p:txBody>
      </p:sp>
      <p:sp>
        <p:nvSpPr>
          <p:cNvPr id="6" name="TextBox 5"/>
          <p:cNvSpPr txBox="1"/>
          <p:nvPr/>
        </p:nvSpPr>
        <p:spPr>
          <a:xfrm>
            <a:off x="320040" y="384048"/>
            <a:ext cx="10058400" cy="228600"/>
          </a:xfrm>
          <a:prstGeom prst="rect">
            <a:avLst/>
          </a:prstGeom>
          <a:noFill/>
        </p:spPr>
        <p:txBody>
          <a:bodyPr wrap="square" lIns="127000" rIns="50800" tIns="25400" bIns="25400" anchor="t">
            <a:spAutoFit/>
          </a:bodyPr>
          <a:lstStyle/>
          <a:p>
            <a:pPr algn="l">
              <a:lnSpc>
                <a:spcPct val="115000"/>
              </a:lnSpc>
            </a:pPr>
            <a:r>
              <a:rPr sz="1050" b="0" i="1">
                <a:solidFill>
                  <a:srgbClr val="CDE8EC"/>
                </a:solidFill>
                <a:latin typeface="Calibri"/>
              </a:rPr>
              <a:t>Customer overlap + capability complementarity = obvious joint motion</a:t>
            </a:r>
          </a:p>
        </p:txBody>
      </p:sp>
      <p:sp>
        <p:nvSpPr>
          <p:cNvPr id="7" name="TextBox 6"/>
          <p:cNvSpPr txBox="1"/>
          <p:nvPr/>
        </p:nvSpPr>
        <p:spPr>
          <a:xfrm>
            <a:off x="9144000" y="164592"/>
            <a:ext cx="2834640" cy="274320"/>
          </a:xfrm>
          <a:prstGeom prst="rect">
            <a:avLst/>
          </a:prstGeom>
          <a:noFill/>
        </p:spPr>
        <p:txBody>
          <a:bodyPr wrap="square" lIns="1270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640080" y="96012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1.  CUSTOMER OVERLAP</a:t>
            </a:r>
          </a:p>
        </p:txBody>
      </p:sp>
      <p:sp>
        <p:nvSpPr>
          <p:cNvPr id="9" name="TextBox 8"/>
          <p:cNvSpPr txBox="1"/>
          <p:nvPr/>
        </p:nvSpPr>
        <p:spPr>
          <a:xfrm>
            <a:off x="731520" y="1417320"/>
            <a:ext cx="10698480" cy="640080"/>
          </a:xfrm>
          <a:prstGeom prst="rect">
            <a:avLst/>
          </a:prstGeom>
          <a:noFill/>
        </p:spPr>
        <p:txBody>
          <a:bodyPr wrap="square" lIns="127000" rIns="50800" tIns="25400" bIns="25400" anchor="t">
            <a:spAutoFit/>
          </a:bodyPr>
          <a:lstStyle/>
          <a:p>
            <a:pPr algn="l">
              <a:lnSpc>
                <a:spcPct val="130000"/>
              </a:lnSpc>
            </a:pPr>
            <a:r>
              <a:rPr sz="1100" b="0" i="0">
                <a:solidFill>
                  <a:srgbClr val="1A1A2E"/>
                </a:solidFill>
                <a:latin typeface="Calibri"/>
              </a:rPr>
              <a:t>Every TCN customer that operates as a BPO — and every TCN customer with PCI, HIPAA, SOX, or GDPR exposure — already has a budget line for the problems QBITEL solves. Today that budget either goes unspent (and the BPO absorbs the loss) or it goes to point tools that do not integrate with TCN. Embedded in TCN Operator, those budgets flow through TCN.</a:t>
            </a:r>
          </a:p>
        </p:txBody>
      </p:sp>
      <p:sp>
        <p:nvSpPr>
          <p:cNvPr id="10" name="Rectangle 9"/>
          <p:cNvSpPr/>
          <p:nvPr/>
        </p:nvSpPr>
        <p:spPr>
          <a:xfrm>
            <a:off x="640080" y="214884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2.  CAPABILITY COMPLEMENTARITY  (no overlap)</a:t>
            </a:r>
          </a:p>
        </p:txBody>
      </p:sp>
      <p:sp>
        <p:nvSpPr>
          <p:cNvPr id="11" name="Rectangle 10"/>
          <p:cNvSpPr/>
          <p:nvPr/>
        </p:nvSpPr>
        <p:spPr>
          <a:xfrm>
            <a:off x="640080" y="2606040"/>
            <a:ext cx="320040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LAYER</a:t>
            </a:r>
          </a:p>
        </p:txBody>
      </p:sp>
      <p:sp>
        <p:nvSpPr>
          <p:cNvPr id="12" name="Rectangle 11"/>
          <p:cNvSpPr/>
          <p:nvPr/>
        </p:nvSpPr>
        <p:spPr>
          <a:xfrm>
            <a:off x="3886200" y="2606040"/>
            <a:ext cx="384048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OWNS</a:t>
            </a:r>
          </a:p>
        </p:txBody>
      </p:sp>
      <p:sp>
        <p:nvSpPr>
          <p:cNvPr id="13" name="Rectangle 12"/>
          <p:cNvSpPr/>
          <p:nvPr/>
        </p:nvSpPr>
        <p:spPr>
          <a:xfrm>
            <a:off x="7772400" y="2606040"/>
            <a:ext cx="3794760" cy="45720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ADDS</a:t>
            </a:r>
          </a:p>
        </p:txBody>
      </p:sp>
      <p:sp>
        <p:nvSpPr>
          <p:cNvPr id="14" name="Rectangle 13"/>
          <p:cNvSpPr/>
          <p:nvPr/>
        </p:nvSpPr>
        <p:spPr>
          <a:xfrm>
            <a:off x="640080" y="30632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signaling (SIP)</a:t>
            </a:r>
          </a:p>
        </p:txBody>
      </p:sp>
      <p:sp>
        <p:nvSpPr>
          <p:cNvPr id="15" name="Rectangle 14"/>
          <p:cNvSpPr/>
          <p:nvPr/>
        </p:nvSpPr>
        <p:spPr>
          <a:xfrm>
            <a:off x="3886200" y="30632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Trunking, routing, IVR logic</a:t>
            </a:r>
          </a:p>
        </p:txBody>
      </p:sp>
      <p:sp>
        <p:nvSpPr>
          <p:cNvPr id="16" name="Rectangle 15"/>
          <p:cNvSpPr/>
          <p:nvPr/>
        </p:nvSpPr>
        <p:spPr>
          <a:xfrm>
            <a:off x="7772400" y="30632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PQC-TLS overlay, toll-fraud detection</a:t>
            </a:r>
          </a:p>
        </p:txBody>
      </p:sp>
      <p:sp>
        <p:nvSpPr>
          <p:cNvPr id="17" name="Rectangle 16"/>
          <p:cNvSpPr/>
          <p:nvPr/>
        </p:nvSpPr>
        <p:spPr>
          <a:xfrm>
            <a:off x="640080" y="35204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media (RTP)</a:t>
            </a:r>
          </a:p>
        </p:txBody>
      </p:sp>
      <p:sp>
        <p:nvSpPr>
          <p:cNvPr id="18" name="Rectangle 17"/>
          <p:cNvSpPr/>
          <p:nvPr/>
        </p:nvSpPr>
        <p:spPr>
          <a:xfrm>
            <a:off x="3886200" y="35204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Codec, mixing, recording</a:t>
            </a:r>
          </a:p>
        </p:txBody>
      </p:sp>
      <p:sp>
        <p:nvSpPr>
          <p:cNvPr id="19" name="Rectangle 18"/>
          <p:cNvSpPr/>
          <p:nvPr/>
        </p:nvSpPr>
        <p:spPr>
          <a:xfrm>
            <a:off x="7772400" y="35204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PQC-SRTP encryption, DTMF masking</a:t>
            </a:r>
          </a:p>
        </p:txBody>
      </p:sp>
      <p:sp>
        <p:nvSpPr>
          <p:cNvPr id="20" name="Rectangle 19"/>
          <p:cNvSpPr/>
          <p:nvPr/>
        </p:nvSpPr>
        <p:spPr>
          <a:xfrm>
            <a:off x="640080" y="39776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Agent workspace</a:t>
            </a:r>
          </a:p>
        </p:txBody>
      </p:sp>
      <p:sp>
        <p:nvSpPr>
          <p:cNvPr id="21" name="Rectangle 20"/>
          <p:cNvSpPr/>
          <p:nvPr/>
        </p:nvSpPr>
        <p:spPr>
          <a:xfrm>
            <a:off x="3886200" y="39776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Scripting, dashboards</a:t>
            </a:r>
          </a:p>
        </p:txBody>
      </p:sp>
      <p:sp>
        <p:nvSpPr>
          <p:cNvPr id="22" name="Rectangle 21"/>
          <p:cNvSpPr/>
          <p:nvPr/>
        </p:nvSpPr>
        <p:spPr>
          <a:xfrm>
            <a:off x="7772400" y="39776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DLP across 6 vectors (clipboard, screen, USB, etc.)</a:t>
            </a:r>
          </a:p>
        </p:txBody>
      </p:sp>
      <p:sp>
        <p:nvSpPr>
          <p:cNvPr id="23" name="Rectangle 22"/>
          <p:cNvSpPr/>
          <p:nvPr/>
        </p:nvSpPr>
        <p:spPr>
          <a:xfrm>
            <a:off x="640080" y="44348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CRM/ITSM integration</a:t>
            </a:r>
          </a:p>
        </p:txBody>
      </p:sp>
      <p:sp>
        <p:nvSpPr>
          <p:cNvPr id="24" name="Rectangle 23"/>
          <p:cNvSpPr/>
          <p:nvPr/>
        </p:nvSpPr>
        <p:spPr>
          <a:xfrm>
            <a:off x="3886200" y="44348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Salesforce/Zendesk/ServiceNow/Zoho native</a:t>
            </a:r>
          </a:p>
        </p:txBody>
      </p:sp>
      <p:sp>
        <p:nvSpPr>
          <p:cNvPr id="25" name="Rectangle 24"/>
          <p:cNvSpPr/>
          <p:nvPr/>
        </p:nvSpPr>
        <p:spPr>
          <a:xfrm>
            <a:off x="7772400" y="44348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PII/PHI/PAN masking at API boundary</a:t>
            </a:r>
          </a:p>
        </p:txBody>
      </p:sp>
      <p:sp>
        <p:nvSpPr>
          <p:cNvPr id="26" name="Rectangle 25"/>
          <p:cNvSpPr/>
          <p:nvPr/>
        </p:nvSpPr>
        <p:spPr>
          <a:xfrm>
            <a:off x="640080" y="48920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Recording storage</a:t>
            </a:r>
          </a:p>
        </p:txBody>
      </p:sp>
      <p:sp>
        <p:nvSpPr>
          <p:cNvPr id="27" name="Rectangle 26"/>
          <p:cNvSpPr/>
          <p:nvPr/>
        </p:nvSpPr>
        <p:spPr>
          <a:xfrm>
            <a:off x="3886200" y="48920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Recording engine + retention</a:t>
            </a:r>
          </a:p>
        </p:txBody>
      </p:sp>
      <p:sp>
        <p:nvSpPr>
          <p:cNvPr id="28" name="Rectangle 27"/>
          <p:cNvSpPr/>
          <p:nvPr/>
        </p:nvSpPr>
        <p:spPr>
          <a:xfrm>
            <a:off x="7772400" y="48920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Quantum-safe encryption (ML-KEM-1024)</a:t>
            </a:r>
          </a:p>
        </p:txBody>
      </p:sp>
      <p:sp>
        <p:nvSpPr>
          <p:cNvPr id="29" name="Rectangle 28"/>
          <p:cNvSpPr/>
          <p:nvPr/>
        </p:nvSpPr>
        <p:spPr>
          <a:xfrm>
            <a:off x="640080" y="53492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Reporting</a:t>
            </a:r>
          </a:p>
        </p:txBody>
      </p:sp>
      <p:sp>
        <p:nvSpPr>
          <p:cNvPr id="30" name="Rectangle 29"/>
          <p:cNvSpPr/>
          <p:nvPr/>
        </p:nvSpPr>
        <p:spPr>
          <a:xfrm>
            <a:off x="3886200" y="53492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Operational + analytics</a:t>
            </a:r>
          </a:p>
        </p:txBody>
      </p:sp>
      <p:sp>
        <p:nvSpPr>
          <p:cNvPr id="31" name="Rectangle 30"/>
          <p:cNvSpPr/>
          <p:nvPr/>
        </p:nvSpPr>
        <p:spPr>
          <a:xfrm>
            <a:off x="7772400" y="53492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Compliance evidence packs (9 frameworks)</a:t>
            </a:r>
          </a:p>
        </p:txBody>
      </p:sp>
      <p:sp>
        <p:nvSpPr>
          <p:cNvPr id="32" name="Rectangle 31"/>
          <p:cNvSpPr/>
          <p:nvPr/>
        </p:nvSpPr>
        <p:spPr>
          <a:xfrm>
            <a:off x="640080" y="58064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Multi-tenancy</a:t>
            </a:r>
          </a:p>
        </p:txBody>
      </p:sp>
      <p:sp>
        <p:nvSpPr>
          <p:cNvPr id="33" name="Rectangle 32"/>
          <p:cNvSpPr/>
          <p:nvPr/>
        </p:nvSpPr>
        <p:spPr>
          <a:xfrm>
            <a:off x="3886200" y="58064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Account/campaign isolation</a:t>
            </a:r>
          </a:p>
        </p:txBody>
      </p:sp>
      <p:sp>
        <p:nvSpPr>
          <p:cNvPr id="34" name="Rectangle 33"/>
          <p:cNvSpPr/>
          <p:nvPr/>
        </p:nvSpPr>
        <p:spPr>
          <a:xfrm>
            <a:off x="7772400" y="58064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Cryptographic + policy + audit isolation per BPO client</a:t>
            </a:r>
          </a:p>
        </p:txBody>
      </p:sp>
      <p:sp>
        <p:nvSpPr>
          <p:cNvPr id="35" name="Rectangle 3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8" name="TextBox 3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INTEGRATION ARCHITECTURE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Five integration seams — all use existing TCN surfaces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548640" y="1005840"/>
            <a:ext cx="11091672" cy="2331720"/>
          </a:xfrm>
          <a:prstGeom prst="roundRect">
            <a:avLst>
              <a:gd name="adj" fmla="val 12000"/>
            </a:avLst>
          </a:prstGeom>
          <a:solidFill>
            <a:srgbClr val="EBF1F7"/>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078992"/>
            <a:ext cx="2011680" cy="27432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FFFFFF"/>
                </a:solidFill>
                <a:latin typeface="Calibri"/>
              </a:rPr>
              <a:t>TCN OPERATOR (CLOUD)</a:t>
            </a:r>
          </a:p>
        </p:txBody>
      </p:sp>
      <p:sp>
        <p:nvSpPr>
          <p:cNvPr id="10" name="Rounded Rectangle 9"/>
          <p:cNvSpPr/>
          <p:nvPr/>
        </p:nvSpPr>
        <p:spPr>
          <a:xfrm>
            <a:off x="822960"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DIALERS</a:t>
            </a:r>
          </a:p>
        </p:txBody>
      </p:sp>
      <p:sp>
        <p:nvSpPr>
          <p:cNvPr id="12" name="TextBox 11"/>
          <p:cNvSpPr txBox="1"/>
          <p:nvPr/>
        </p:nvSpPr>
        <p:spPr>
          <a:xfrm>
            <a:off x="822960"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Auto • Preview • Manual</a:t>
            </a:r>
          </a:p>
        </p:txBody>
      </p:sp>
      <p:sp>
        <p:nvSpPr>
          <p:cNvPr id="13" name="Rounded Rectangle 12"/>
          <p:cNvSpPr/>
          <p:nvPr/>
        </p:nvSpPr>
        <p:spPr>
          <a:xfrm>
            <a:off x="3410712"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IVR / IVM</a:t>
            </a:r>
          </a:p>
        </p:txBody>
      </p:sp>
      <p:sp>
        <p:nvSpPr>
          <p:cNvPr id="15" name="TextBox 14"/>
          <p:cNvSpPr txBox="1"/>
          <p:nvPr/>
        </p:nvSpPr>
        <p:spPr>
          <a:xfrm>
            <a:off x="3410712"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Voice menus • Messaging</a:t>
            </a:r>
          </a:p>
        </p:txBody>
      </p:sp>
      <p:sp>
        <p:nvSpPr>
          <p:cNvPr id="16" name="Rounded Rectangle 15"/>
          <p:cNvSpPr/>
          <p:nvPr/>
        </p:nvSpPr>
        <p:spPr>
          <a:xfrm>
            <a:off x="5998464"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AGENT WORKSPACE</a:t>
            </a:r>
          </a:p>
        </p:txBody>
      </p:sp>
      <p:sp>
        <p:nvSpPr>
          <p:cNvPr id="18" name="TextBox 17"/>
          <p:cNvSpPr txBox="1"/>
          <p:nvPr/>
        </p:nvSpPr>
        <p:spPr>
          <a:xfrm>
            <a:off x="5998464"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Scripting • Dashboards</a:t>
            </a:r>
          </a:p>
        </p:txBody>
      </p:sp>
      <p:sp>
        <p:nvSpPr>
          <p:cNvPr id="19" name="Rounded Rectangle 18"/>
          <p:cNvSpPr/>
          <p:nvPr/>
        </p:nvSpPr>
        <p:spPr>
          <a:xfrm>
            <a:off x="8586216"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RECORDING</a:t>
            </a:r>
          </a:p>
        </p:txBody>
      </p:sp>
      <p:sp>
        <p:nvSpPr>
          <p:cNvPr id="21" name="TextBox 20"/>
          <p:cNvSpPr txBox="1"/>
          <p:nvPr/>
        </p:nvSpPr>
        <p:spPr>
          <a:xfrm>
            <a:off x="8586216"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Capture • Analytics</a:t>
            </a:r>
          </a:p>
        </p:txBody>
      </p:sp>
      <p:sp>
        <p:nvSpPr>
          <p:cNvPr id="22" name="Rounded Rectangle 21"/>
          <p:cNvSpPr/>
          <p:nvPr/>
        </p:nvSpPr>
        <p:spPr>
          <a:xfrm>
            <a:off x="822960" y="2350008"/>
            <a:ext cx="5029200" cy="5486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0D1B3E"/>
                </a:solidFill>
                <a:latin typeface="Calibri"/>
              </a:rPr>
              <a:t>SYNAPSE WEBHOOK ENGINE   (2026 enhancement)</a:t>
            </a:r>
          </a:p>
        </p:txBody>
      </p:sp>
      <p:sp>
        <p:nvSpPr>
          <p:cNvPr id="23" name="Rounded Rectangle 22"/>
          <p:cNvSpPr/>
          <p:nvPr/>
        </p:nvSpPr>
        <p:spPr>
          <a:xfrm>
            <a:off x="5971032" y="2350008"/>
            <a:ext cx="5422392" cy="5486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REST API FRAMEWORK   +   Native CRM/ITSM Integrations</a:t>
            </a:r>
          </a:p>
        </p:txBody>
      </p:sp>
      <p:sp>
        <p:nvSpPr>
          <p:cNvPr id="24" name="Rounded Rectangle 23"/>
          <p:cNvSpPr/>
          <p:nvPr/>
        </p:nvSpPr>
        <p:spPr>
          <a:xfrm>
            <a:off x="457200" y="3474720"/>
            <a:ext cx="1828800" cy="548640"/>
          </a:xfrm>
          <a:prstGeom prst="roundRect">
            <a:avLst>
              <a:gd name="adj" fmla="val 18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474720"/>
            <a:ext cx="1828800" cy="548640"/>
          </a:xfrm>
          <a:prstGeom prst="rect">
            <a:avLst/>
          </a:prstGeom>
          <a:noFill/>
        </p:spPr>
        <p:txBody>
          <a:bodyPr wrap="square" anchor="ctr">
            <a:spAutoFit/>
          </a:bodyPr>
          <a:lstStyle/>
          <a:p>
            <a:pPr algn="ctr"/>
            <a:r>
              <a:rPr sz="1500" b="1">
                <a:solidFill>
                  <a:srgbClr val="FFFFFF"/>
                </a:solidFill>
                <a:latin typeface="Calibri"/>
              </a:rPr>
              <a:t>1</a:t>
            </a:r>
          </a:p>
          <a:p>
            <a:pPr algn="ctr"/>
            <a:r>
              <a:rPr sz="900" b="1">
                <a:solidFill>
                  <a:srgbClr val="FFFFFF"/>
                </a:solidFill>
                <a:latin typeface="Calibri"/>
              </a:rPr>
              <a:t>SIP/RTP
</a:t>
            </a:r>
            <a:r>
              <a:rPr sz="900" b="1">
                <a:solidFill>
                  <a:srgbClr val="FFFFFF"/>
                </a:solidFill>
                <a:latin typeface="Calibri"/>
              </a:rPr>
              <a:t>mirror
</a:t>
            </a:r>
          </a:p>
        </p:txBody>
      </p:sp>
      <p:sp>
        <p:nvSpPr>
          <p:cNvPr id="26" name="Down Arrow 25"/>
          <p:cNvSpPr/>
          <p:nvPr/>
        </p:nvSpPr>
        <p:spPr>
          <a:xfrm>
            <a:off x="1188720" y="4041648"/>
            <a:ext cx="365760" cy="182880"/>
          </a:xfrm>
          <a:prstGeom prst="downArrow">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19323" y="3474720"/>
            <a:ext cx="1828800" cy="548640"/>
          </a:xfrm>
          <a:prstGeom prst="roundRect">
            <a:avLst>
              <a:gd name="adj" fmla="val 18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19323" y="3474720"/>
            <a:ext cx="1828800" cy="548640"/>
          </a:xfrm>
          <a:prstGeom prst="rect">
            <a:avLst/>
          </a:prstGeom>
          <a:noFill/>
        </p:spPr>
        <p:txBody>
          <a:bodyPr wrap="square" anchor="ctr">
            <a:spAutoFit/>
          </a:bodyPr>
          <a:lstStyle/>
          <a:p>
            <a:pPr algn="ctr"/>
            <a:r>
              <a:rPr sz="1500" b="1">
                <a:solidFill>
                  <a:srgbClr val="0D1B3E"/>
                </a:solidFill>
                <a:latin typeface="Calibri"/>
              </a:rPr>
              <a:t>2</a:t>
            </a:r>
          </a:p>
          <a:p>
            <a:pPr algn="ctr"/>
            <a:r>
              <a:rPr sz="900" b="1">
                <a:solidFill>
                  <a:srgbClr val="0D1B3E"/>
                </a:solidFill>
                <a:latin typeface="Calibri"/>
              </a:rPr>
              <a:t>Synapse
</a:t>
            </a:r>
            <a:r>
              <a:rPr sz="900" b="1">
                <a:solidFill>
                  <a:srgbClr val="0D1B3E"/>
                </a:solidFill>
                <a:latin typeface="Calibri"/>
              </a:rPr>
              <a:t>webhooks
</a:t>
            </a:r>
          </a:p>
        </p:txBody>
      </p:sp>
      <p:sp>
        <p:nvSpPr>
          <p:cNvPr id="29" name="Down Arrow 28"/>
          <p:cNvSpPr/>
          <p:nvPr/>
        </p:nvSpPr>
        <p:spPr>
          <a:xfrm>
            <a:off x="3550843" y="4041648"/>
            <a:ext cx="365760" cy="18288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81447" y="3474720"/>
            <a:ext cx="1828800" cy="548640"/>
          </a:xfrm>
          <a:prstGeom prst="roundRect">
            <a:avLst>
              <a:gd name="adj" fmla="val 18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3474720"/>
            <a:ext cx="1828800" cy="548640"/>
          </a:xfrm>
          <a:prstGeom prst="rect">
            <a:avLst/>
          </a:prstGeom>
          <a:noFill/>
        </p:spPr>
        <p:txBody>
          <a:bodyPr wrap="square" anchor="ctr">
            <a:spAutoFit/>
          </a:bodyPr>
          <a:lstStyle/>
          <a:p>
            <a:pPr algn="ctr"/>
            <a:r>
              <a:rPr sz="1500" b="1">
                <a:solidFill>
                  <a:srgbClr val="FFFFFF"/>
                </a:solidFill>
                <a:latin typeface="Calibri"/>
              </a:rPr>
              <a:t>3</a:t>
            </a:r>
          </a:p>
          <a:p>
            <a:pPr algn="ctr"/>
            <a:r>
              <a:rPr sz="900" b="1">
                <a:solidFill>
                  <a:srgbClr val="FFFFFF"/>
                </a:solidFill>
                <a:latin typeface="Calibri"/>
              </a:rPr>
              <a:t>REST API
</a:t>
            </a:r>
            <a:r>
              <a:rPr sz="900" b="1">
                <a:solidFill>
                  <a:srgbClr val="FFFFFF"/>
                </a:solidFill>
                <a:latin typeface="Calibri"/>
              </a:rPr>
              <a:t>(pull+push)
</a:t>
            </a:r>
          </a:p>
        </p:txBody>
      </p:sp>
      <p:sp>
        <p:nvSpPr>
          <p:cNvPr id="32" name="Down Arrow 31"/>
          <p:cNvSpPr/>
          <p:nvPr/>
        </p:nvSpPr>
        <p:spPr>
          <a:xfrm>
            <a:off x="5912967" y="4041648"/>
            <a:ext cx="365760" cy="182880"/>
          </a:xfrm>
          <a:prstGeom prst="down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43571" y="3474720"/>
            <a:ext cx="1828800" cy="548640"/>
          </a:xfrm>
          <a:prstGeom prst="roundRect">
            <a:avLst>
              <a:gd name="adj" fmla="val 18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43571" y="3474720"/>
            <a:ext cx="1828800" cy="548640"/>
          </a:xfrm>
          <a:prstGeom prst="rect">
            <a:avLst/>
          </a:prstGeom>
          <a:noFill/>
        </p:spPr>
        <p:txBody>
          <a:bodyPr wrap="square" anchor="ctr">
            <a:spAutoFit/>
          </a:bodyPr>
          <a:lstStyle/>
          <a:p>
            <a:pPr algn="ctr"/>
            <a:r>
              <a:rPr sz="1500" b="1">
                <a:solidFill>
                  <a:srgbClr val="FFFFFF"/>
                </a:solidFill>
                <a:latin typeface="Calibri"/>
              </a:rPr>
              <a:t>4</a:t>
            </a:r>
          </a:p>
          <a:p>
            <a:pPr algn="ctr"/>
            <a:r>
              <a:rPr sz="900" b="1">
                <a:solidFill>
                  <a:srgbClr val="FFFFFF"/>
                </a:solidFill>
                <a:latin typeface="Calibri"/>
              </a:rPr>
              <a:t>CRM/ITSM
</a:t>
            </a:r>
            <a:r>
              <a:rPr sz="900" b="1">
                <a:solidFill>
                  <a:srgbClr val="FFFFFF"/>
                </a:solidFill>
                <a:latin typeface="Calibri"/>
              </a:rPr>
              <a:t>hooks
</a:t>
            </a:r>
          </a:p>
        </p:txBody>
      </p:sp>
      <p:sp>
        <p:nvSpPr>
          <p:cNvPr id="35" name="Down Arrow 34"/>
          <p:cNvSpPr/>
          <p:nvPr/>
        </p:nvSpPr>
        <p:spPr>
          <a:xfrm>
            <a:off x="8275091" y="4041648"/>
            <a:ext cx="365760" cy="182880"/>
          </a:xfrm>
          <a:prstGeom prst="downArrow">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05695" y="3474720"/>
            <a:ext cx="1828800" cy="548640"/>
          </a:xfrm>
          <a:prstGeom prst="roundRect">
            <a:avLst>
              <a:gd name="adj" fmla="val 18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05695" y="3474720"/>
            <a:ext cx="1828800" cy="548640"/>
          </a:xfrm>
          <a:prstGeom prst="rect">
            <a:avLst/>
          </a:prstGeom>
          <a:noFill/>
        </p:spPr>
        <p:txBody>
          <a:bodyPr wrap="square" anchor="ctr">
            <a:spAutoFit/>
          </a:bodyPr>
          <a:lstStyle/>
          <a:p>
            <a:pPr algn="ctr"/>
            <a:r>
              <a:rPr sz="1500" b="1">
                <a:solidFill>
                  <a:srgbClr val="0D1B3E"/>
                </a:solidFill>
                <a:latin typeface="Calibri"/>
              </a:rPr>
              <a:t>5</a:t>
            </a:r>
          </a:p>
          <a:p>
            <a:pPr algn="ctr"/>
            <a:r>
              <a:rPr sz="900" b="1">
                <a:solidFill>
                  <a:srgbClr val="0D1B3E"/>
                </a:solidFill>
                <a:latin typeface="Calibri"/>
              </a:rPr>
              <a:t>Admin SSO
</a:t>
            </a:r>
            <a:r>
              <a:rPr sz="900" b="1">
                <a:solidFill>
                  <a:srgbClr val="0D1B3E"/>
                </a:solidFill>
                <a:latin typeface="Calibri"/>
              </a:rPr>
              <a:t>+ console
</a:t>
            </a:r>
          </a:p>
        </p:txBody>
      </p:sp>
      <p:sp>
        <p:nvSpPr>
          <p:cNvPr id="38" name="Down Arrow 37"/>
          <p:cNvSpPr/>
          <p:nvPr/>
        </p:nvSpPr>
        <p:spPr>
          <a:xfrm>
            <a:off x="10637215" y="4041648"/>
            <a:ext cx="365760" cy="18288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4416552"/>
            <a:ext cx="1109167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13232" y="4489704"/>
            <a:ext cx="310896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(co-resident / cloud / on-prem)</a:t>
            </a:r>
          </a:p>
        </p:txBody>
      </p:sp>
      <p:sp>
        <p:nvSpPr>
          <p:cNvPr id="41" name="Rounded Rectangle 40"/>
          <p:cNvSpPr/>
          <p:nvPr/>
        </p:nvSpPr>
        <p:spPr>
          <a:xfrm>
            <a:off x="67665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AI Discovery</a:t>
            </a:r>
          </a:p>
        </p:txBody>
      </p:sp>
      <p:sp>
        <p:nvSpPr>
          <p:cNvPr id="43" name="TextBox 42"/>
          <p:cNvSpPr txBox="1"/>
          <p:nvPr/>
        </p:nvSpPr>
        <p:spPr>
          <a:xfrm>
            <a:off x="67665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Protocol graph</a:t>
            </a:r>
          </a:p>
          <a:p>
            <a:pPr algn="ctr">
              <a:lnSpc>
                <a:spcPct val="115000"/>
              </a:lnSpc>
            </a:pPr>
            <a:r>
              <a:rPr sz="950" b="0" i="0">
                <a:solidFill>
                  <a:srgbClr val="FFFFFF"/>
                </a:solidFill>
                <a:latin typeface="Calibri"/>
              </a:rPr>
              <a:t>89%+ accuracy</a:t>
            </a:r>
          </a:p>
        </p:txBody>
      </p:sp>
      <p:sp>
        <p:nvSpPr>
          <p:cNvPr id="44" name="Rounded Rectangle 43"/>
          <p:cNvSpPr/>
          <p:nvPr/>
        </p:nvSpPr>
        <p:spPr>
          <a:xfrm>
            <a:off x="287121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7121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PQC Data Plane</a:t>
            </a:r>
          </a:p>
        </p:txBody>
      </p:sp>
      <p:sp>
        <p:nvSpPr>
          <p:cNvPr id="46" name="TextBox 45"/>
          <p:cNvSpPr txBox="1"/>
          <p:nvPr/>
        </p:nvSpPr>
        <p:spPr>
          <a:xfrm>
            <a:off x="287121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Rust • Wire speed</a:t>
            </a:r>
          </a:p>
          <a:p>
            <a:pPr algn="ctr">
              <a:lnSpc>
                <a:spcPct val="115000"/>
              </a:lnSpc>
            </a:pPr>
            <a:r>
              <a:rPr sz="950" b="0" i="0">
                <a:solidFill>
                  <a:srgbClr val="FFFFFF"/>
                </a:solidFill>
                <a:latin typeface="Calibri"/>
              </a:rPr>
              <a:t>&lt;2ms overhead</a:t>
            </a:r>
          </a:p>
        </p:txBody>
      </p:sp>
      <p:sp>
        <p:nvSpPr>
          <p:cNvPr id="47" name="Rounded Rectangle 46"/>
          <p:cNvSpPr/>
          <p:nvPr/>
        </p:nvSpPr>
        <p:spPr>
          <a:xfrm>
            <a:off x="506577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6577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Policy Engine</a:t>
            </a:r>
          </a:p>
        </p:txBody>
      </p:sp>
      <p:sp>
        <p:nvSpPr>
          <p:cNvPr id="49" name="TextBox 48"/>
          <p:cNvSpPr txBox="1"/>
          <p:nvPr/>
        </p:nvSpPr>
        <p:spPr>
          <a:xfrm>
            <a:off x="506577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OPA • Per-tenant</a:t>
            </a:r>
          </a:p>
          <a:p>
            <a:pPr algn="ctr">
              <a:lnSpc>
                <a:spcPct val="115000"/>
              </a:lnSpc>
            </a:pPr>
            <a:r>
              <a:rPr sz="950" b="0" i="0">
                <a:solidFill>
                  <a:srgbClr val="FFFFFF"/>
                </a:solidFill>
                <a:latin typeface="Calibri"/>
              </a:rPr>
              <a:t>scoped policies</a:t>
            </a:r>
          </a:p>
        </p:txBody>
      </p:sp>
      <p:sp>
        <p:nvSpPr>
          <p:cNvPr id="50" name="Rounded Rectangle 49"/>
          <p:cNvSpPr/>
          <p:nvPr/>
        </p:nvSpPr>
        <p:spPr>
          <a:xfrm>
            <a:off x="726033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6033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Fraud / DLP</a:t>
            </a:r>
          </a:p>
        </p:txBody>
      </p:sp>
      <p:sp>
        <p:nvSpPr>
          <p:cNvPr id="52" name="TextBox 51"/>
          <p:cNvSpPr txBox="1"/>
          <p:nvPr/>
        </p:nvSpPr>
        <p:spPr>
          <a:xfrm>
            <a:off x="726033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Toll fraud &lt;1s</a:t>
            </a:r>
          </a:p>
          <a:p>
            <a:pPr algn="ctr">
              <a:lnSpc>
                <a:spcPct val="115000"/>
              </a:lnSpc>
            </a:pPr>
            <a:r>
              <a:rPr sz="950" b="0" i="0">
                <a:solidFill>
                  <a:srgbClr val="FFFFFF"/>
                </a:solidFill>
                <a:latin typeface="Calibri"/>
              </a:rPr>
              <a:t>6-vector DLP</a:t>
            </a:r>
          </a:p>
        </p:txBody>
      </p:sp>
      <p:sp>
        <p:nvSpPr>
          <p:cNvPr id="53" name="Rounded Rectangle 52"/>
          <p:cNvSpPr/>
          <p:nvPr/>
        </p:nvSpPr>
        <p:spPr>
          <a:xfrm>
            <a:off x="945489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5489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Compliance</a:t>
            </a:r>
          </a:p>
        </p:txBody>
      </p:sp>
      <p:sp>
        <p:nvSpPr>
          <p:cNvPr id="55" name="TextBox 54"/>
          <p:cNvSpPr txBox="1"/>
          <p:nvPr/>
        </p:nvSpPr>
        <p:spPr>
          <a:xfrm>
            <a:off x="945489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Evidence packs</a:t>
            </a:r>
          </a:p>
          <a:p>
            <a:pPr algn="ctr">
              <a:lnSpc>
                <a:spcPct val="115000"/>
              </a:lnSpc>
            </a:pPr>
            <a:r>
              <a:rPr sz="950" b="0" i="0">
                <a:solidFill>
                  <a:srgbClr val="FFFFFF"/>
                </a:solidFill>
                <a:latin typeface="Calibri"/>
              </a:rPr>
              <a:t>9 frameworks</a:t>
            </a:r>
          </a:p>
        </p:txBody>
      </p:sp>
      <p:sp>
        <p:nvSpPr>
          <p:cNvPr id="56" name="TextBox 55"/>
          <p:cNvSpPr txBox="1"/>
          <p:nvPr/>
        </p:nvSpPr>
        <p:spPr>
          <a:xfrm>
            <a:off x="548640" y="6446520"/>
            <a:ext cx="11155680" cy="27432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Default voice-path topology is passive-mirror — QBITEL failure = no voice impact. Inline PQC is opt-in per tenant.</a:t>
            </a:r>
          </a:p>
        </p:txBody>
      </p:sp>
      <p:sp>
        <p:nvSpPr>
          <p:cNvPr id="57" name="Rectangle 56"/>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60" name="TextBox 59"/>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THE FIVE INTEGRATION SEAMS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All use existing TCN surfaces — no TCN roadmap changes required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548640" y="1005840"/>
            <a:ext cx="54864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a:t>
            </a:r>
          </a:p>
        </p:txBody>
      </p:sp>
      <p:sp>
        <p:nvSpPr>
          <p:cNvPr id="9" name="Rectangle 8"/>
          <p:cNvSpPr/>
          <p:nvPr/>
        </p:nvSpPr>
        <p:spPr>
          <a:xfrm>
            <a:off x="1097280" y="1005840"/>
            <a:ext cx="25603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SEAM</a:t>
            </a:r>
          </a:p>
        </p:txBody>
      </p:sp>
      <p:sp>
        <p:nvSpPr>
          <p:cNvPr id="10" name="Rectangle 9"/>
          <p:cNvSpPr/>
          <p:nvPr/>
        </p:nvSpPr>
        <p:spPr>
          <a:xfrm>
            <a:off x="3657600" y="1005840"/>
            <a:ext cx="384048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SURFACE</a:t>
            </a:r>
          </a:p>
        </p:txBody>
      </p:sp>
      <p:sp>
        <p:nvSpPr>
          <p:cNvPr id="11" name="Rectangle 10"/>
          <p:cNvSpPr/>
          <p:nvPr/>
        </p:nvSpPr>
        <p:spPr>
          <a:xfrm>
            <a:off x="7498079" y="1005840"/>
            <a:ext cx="41605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ROLE</a:t>
            </a:r>
          </a:p>
        </p:txBody>
      </p:sp>
      <p:sp>
        <p:nvSpPr>
          <p:cNvPr id="12" name="Rectangle 11"/>
          <p:cNvSpPr/>
          <p:nvPr/>
        </p:nvSpPr>
        <p:spPr>
          <a:xfrm>
            <a:off x="548640" y="150876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1</a:t>
            </a:r>
          </a:p>
        </p:txBody>
      </p:sp>
      <p:sp>
        <p:nvSpPr>
          <p:cNvPr id="13" name="Rectangle 12"/>
          <p:cNvSpPr/>
          <p:nvPr/>
        </p:nvSpPr>
        <p:spPr>
          <a:xfrm>
            <a:off x="1097280" y="150876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SIP / RTP signal &amp; media</a:t>
            </a:r>
          </a:p>
        </p:txBody>
      </p:sp>
      <p:sp>
        <p:nvSpPr>
          <p:cNvPr id="14" name="Rectangle 13"/>
          <p:cNvSpPr/>
          <p:nvPr/>
        </p:nvSpPr>
        <p:spPr>
          <a:xfrm>
            <a:off x="3657600" y="150876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SBC mirror (or customer-edge SBC)</a:t>
            </a:r>
          </a:p>
        </p:txBody>
      </p:sp>
      <p:sp>
        <p:nvSpPr>
          <p:cNvPr id="15" name="Rectangle 14"/>
          <p:cNvSpPr/>
          <p:nvPr/>
        </p:nvSpPr>
        <p:spPr>
          <a:xfrm>
            <a:off x="7498079" y="150876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Passive tap; PQC overlay; DTMF masking; toll-fraud detection</a:t>
            </a:r>
          </a:p>
        </p:txBody>
      </p:sp>
      <p:sp>
        <p:nvSpPr>
          <p:cNvPr id="16" name="Rectangle 15"/>
          <p:cNvSpPr/>
          <p:nvPr/>
        </p:nvSpPr>
        <p:spPr>
          <a:xfrm>
            <a:off x="548640" y="237744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2</a:t>
            </a:r>
          </a:p>
        </p:txBody>
      </p:sp>
      <p:sp>
        <p:nvSpPr>
          <p:cNvPr id="17" name="Rectangle 16"/>
          <p:cNvSpPr/>
          <p:nvPr/>
        </p:nvSpPr>
        <p:spPr>
          <a:xfrm>
            <a:off x="1097280" y="237744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Synapse webhooks</a:t>
            </a:r>
          </a:p>
        </p:txBody>
      </p:sp>
      <p:sp>
        <p:nvSpPr>
          <p:cNvPr id="18" name="Rectangle 17"/>
          <p:cNvSpPr/>
          <p:nvPr/>
        </p:nvSpPr>
        <p:spPr>
          <a:xfrm>
            <a:off x="3657600" y="237744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outbound webhook engine (2026)</a:t>
            </a:r>
          </a:p>
        </p:txBody>
      </p:sp>
      <p:sp>
        <p:nvSpPr>
          <p:cNvPr id="19" name="Rectangle 18"/>
          <p:cNvSpPr/>
          <p:nvPr/>
        </p:nvSpPr>
        <p:spPr>
          <a:xfrm>
            <a:off x="7498079" y="237744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Subscribes to call.started / .ended / agent.login / payment events</a:t>
            </a:r>
          </a:p>
        </p:txBody>
      </p:sp>
      <p:sp>
        <p:nvSpPr>
          <p:cNvPr id="20" name="Rectangle 19"/>
          <p:cNvSpPr/>
          <p:nvPr/>
        </p:nvSpPr>
        <p:spPr>
          <a:xfrm>
            <a:off x="548640" y="324612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3</a:t>
            </a:r>
          </a:p>
        </p:txBody>
      </p:sp>
      <p:sp>
        <p:nvSpPr>
          <p:cNvPr id="21" name="Rectangle 20"/>
          <p:cNvSpPr/>
          <p:nvPr/>
        </p:nvSpPr>
        <p:spPr>
          <a:xfrm>
            <a:off x="1097280" y="324612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REST API</a:t>
            </a:r>
          </a:p>
        </p:txBody>
      </p:sp>
      <p:sp>
        <p:nvSpPr>
          <p:cNvPr id="22" name="Rectangle 21"/>
          <p:cNvSpPr/>
          <p:nvPr/>
        </p:nvSpPr>
        <p:spPr>
          <a:xfrm>
            <a:off x="3657600" y="324612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TCN public API framework</a:t>
            </a:r>
          </a:p>
        </p:txBody>
      </p:sp>
      <p:sp>
        <p:nvSpPr>
          <p:cNvPr id="23" name="Rectangle 22"/>
          <p:cNvSpPr/>
          <p:nvPr/>
        </p:nvSpPr>
        <p:spPr>
          <a:xfrm>
            <a:off x="7498079" y="324612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Pulls recording metadata; pushes campaign pause on fraud blocks</a:t>
            </a:r>
          </a:p>
        </p:txBody>
      </p:sp>
      <p:sp>
        <p:nvSpPr>
          <p:cNvPr id="24" name="Rectangle 23"/>
          <p:cNvSpPr/>
          <p:nvPr/>
        </p:nvSpPr>
        <p:spPr>
          <a:xfrm>
            <a:off x="548640" y="411480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4</a:t>
            </a:r>
          </a:p>
        </p:txBody>
      </p:sp>
      <p:sp>
        <p:nvSpPr>
          <p:cNvPr id="25" name="Rectangle 24"/>
          <p:cNvSpPr/>
          <p:nvPr/>
        </p:nvSpPr>
        <p:spPr>
          <a:xfrm>
            <a:off x="1097280" y="411480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CRM / ITSM hooks</a:t>
            </a:r>
          </a:p>
        </p:txBody>
      </p:sp>
      <p:sp>
        <p:nvSpPr>
          <p:cNvPr id="26" name="Rectangle 25"/>
          <p:cNvSpPr/>
          <p:nvPr/>
        </p:nvSpPr>
        <p:spPr>
          <a:xfrm>
            <a:off x="3657600" y="411480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Native Salesforce / Zendesk / ServiceNow / Zoho / Finvi / Freshworks</a:t>
            </a:r>
          </a:p>
        </p:txBody>
      </p:sp>
      <p:sp>
        <p:nvSpPr>
          <p:cNvPr id="27" name="Rectangle 26"/>
          <p:cNvSpPr/>
          <p:nvPr/>
        </p:nvSpPr>
        <p:spPr>
          <a:xfrm>
            <a:off x="7498079" y="411480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Field-level PII/PHI/PAN masking at API boundary; DLP correlation</a:t>
            </a:r>
          </a:p>
        </p:txBody>
      </p:sp>
      <p:sp>
        <p:nvSpPr>
          <p:cNvPr id="28" name="Rectangle 27"/>
          <p:cNvSpPr/>
          <p:nvPr/>
        </p:nvSpPr>
        <p:spPr>
          <a:xfrm>
            <a:off x="548640" y="498348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5</a:t>
            </a:r>
          </a:p>
        </p:txBody>
      </p:sp>
      <p:sp>
        <p:nvSpPr>
          <p:cNvPr id="29" name="Rectangle 28"/>
          <p:cNvSpPr/>
          <p:nvPr/>
        </p:nvSpPr>
        <p:spPr>
          <a:xfrm>
            <a:off x="1097280" y="498348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Admin console + SSO</a:t>
            </a:r>
          </a:p>
        </p:txBody>
      </p:sp>
      <p:sp>
        <p:nvSpPr>
          <p:cNvPr id="30" name="Rectangle 29"/>
          <p:cNvSpPr/>
          <p:nvPr/>
        </p:nvSpPr>
        <p:spPr>
          <a:xfrm>
            <a:off x="3657600" y="498348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admin UI surface</a:t>
            </a:r>
          </a:p>
        </p:txBody>
      </p:sp>
      <p:sp>
        <p:nvSpPr>
          <p:cNvPr id="31" name="Rectangle 30"/>
          <p:cNvSpPr/>
          <p:nvPr/>
        </p:nvSpPr>
        <p:spPr>
          <a:xfrm>
            <a:off x="7498079" y="498348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Embedded "Security &amp; Compliance" tab via iframe + SAML/OIDC SSO</a:t>
            </a:r>
          </a:p>
        </p:txBody>
      </p:sp>
      <p:sp>
        <p:nvSpPr>
          <p:cNvPr id="32" name="TextBox 31"/>
          <p:cNvSpPr txBox="1"/>
          <p:nvPr/>
        </p:nvSpPr>
        <p:spPr>
          <a:xfrm>
            <a:off x="548640" y="6035040"/>
            <a:ext cx="11155680" cy="365760"/>
          </a:xfrm>
          <a:prstGeom prst="rect">
            <a:avLst/>
          </a:prstGeom>
          <a:noFill/>
        </p:spPr>
        <p:txBody>
          <a:bodyPr wrap="square" lIns="50800" rIns="50800" tIns="25400" bIns="25400" anchor="ctr">
            <a:spAutoFit/>
          </a:bodyPr>
          <a:lstStyle/>
          <a:p>
            <a:pPr algn="l">
              <a:lnSpc>
                <a:spcPct val="115000"/>
              </a:lnSpc>
            </a:pPr>
            <a:r>
              <a:rPr sz="1000" b="0" i="1">
                <a:solidFill>
                  <a:srgbClr val="006B7A"/>
                </a:solidFill>
                <a:latin typeface="Calibri"/>
              </a:rPr>
              <a:t>Seam #1 is passive by default. Seams #2–#5 are read-only from TCN's perspective until the customer explicitly opts into write-back actions (e.g., campaign pause on fraud).</a:t>
            </a:r>
          </a:p>
        </p:txBody>
      </p:sp>
      <p:sp>
        <p:nvSpPr>
          <p:cNvPr id="33" name="Rectangle 3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6" name="TextBox 3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1 — INBOUND CALL WITH PQC OVERLAY &amp; PER-TENANT POLICY</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Passive in default mode. PQC inline is opt-in per trunk.</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 /</a:t>
            </a:r>
          </a:p>
          <a:p>
            <a:pPr algn="ctr">
              <a:lnSpc>
                <a:spcPct val="115000"/>
              </a:lnSpc>
            </a:pPr>
            <a:r>
              <a:rPr sz="1200" b="1" i="0">
                <a:solidFill>
                  <a:srgbClr val="FFFFFF"/>
                </a:solidFill>
                <a:latin typeface="Calibri"/>
              </a:rPr>
              <a:t>Carrier</a:t>
            </a:r>
          </a:p>
        </p:txBody>
      </p:sp>
      <p:sp>
        <p:nvSpPr>
          <p:cNvPr id="9" name="Rounded Rectangle 8"/>
          <p:cNvSpPr/>
          <p:nvPr/>
        </p:nvSpPr>
        <p:spPr>
          <a:xfrm>
            <a:off x="260604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a:t>
            </a:r>
          </a:p>
        </p:txBody>
      </p:sp>
      <p:sp>
        <p:nvSpPr>
          <p:cNvPr id="10" name="Rounded Rectangle 9"/>
          <p:cNvSpPr/>
          <p:nvPr/>
        </p:nvSpPr>
        <p:spPr>
          <a:xfrm>
            <a:off x="475488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IVR/IVM</a:t>
            </a:r>
          </a:p>
        </p:txBody>
      </p:sp>
      <p:sp>
        <p:nvSpPr>
          <p:cNvPr id="11" name="Rounded Rectangle 10"/>
          <p:cNvSpPr/>
          <p:nvPr/>
        </p:nvSpPr>
        <p:spPr>
          <a:xfrm>
            <a:off x="690372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Agent Workspace</a:t>
            </a:r>
          </a:p>
        </p:txBody>
      </p:sp>
      <p:sp>
        <p:nvSpPr>
          <p:cNvPr id="12" name="Rounded Rectangle 11"/>
          <p:cNvSpPr/>
          <p:nvPr/>
        </p:nvSpPr>
        <p:spPr>
          <a:xfrm>
            <a:off x="905256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Customer</a:t>
            </a:r>
          </a:p>
          <a:p>
            <a:pPr algn="ctr">
              <a:lnSpc>
                <a:spcPct val="115000"/>
              </a:lnSpc>
            </a:pPr>
            <a:r>
              <a:rPr sz="1200" b="1" i="0">
                <a:solidFill>
                  <a:srgbClr val="FFFFFF"/>
                </a:solidFill>
                <a:latin typeface="Calibri"/>
              </a:rPr>
              <a:t>CRM</a:t>
            </a:r>
          </a:p>
        </p:txBody>
      </p:sp>
      <p:sp>
        <p:nvSpPr>
          <p:cNvPr id="13" name="Right Arrow 12"/>
          <p:cNvSpPr/>
          <p:nvPr/>
        </p:nvSpPr>
        <p:spPr>
          <a:xfrm>
            <a:off x="231343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4" name="Right Arrow 13"/>
          <p:cNvSpPr/>
          <p:nvPr/>
        </p:nvSpPr>
        <p:spPr>
          <a:xfrm>
            <a:off x="446227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5" name="Right Arrow 14"/>
          <p:cNvSpPr/>
          <p:nvPr/>
        </p:nvSpPr>
        <p:spPr>
          <a:xfrm>
            <a:off x="661111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6" name="Right Arrow 15"/>
          <p:cNvSpPr/>
          <p:nvPr/>
        </p:nvSpPr>
        <p:spPr>
          <a:xfrm>
            <a:off x="875995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CRM API</a:t>
            </a:r>
          </a:p>
        </p:txBody>
      </p:sp>
      <p:sp>
        <p:nvSpPr>
          <p:cNvPr id="17" name="Rounded Rectangle 16"/>
          <p:cNvSpPr/>
          <p:nvPr/>
        </p:nvSpPr>
        <p:spPr>
          <a:xfrm>
            <a:off x="457200" y="329184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383280"/>
            <a:ext cx="256032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(tenantA scope)</a:t>
            </a:r>
          </a:p>
        </p:txBody>
      </p:sp>
      <p:sp>
        <p:nvSpPr>
          <p:cNvPr id="19" name="Rounded Rectangle 18"/>
          <p:cNvSpPr/>
          <p:nvPr/>
        </p:nvSpPr>
        <p:spPr>
          <a:xfrm>
            <a:off x="7909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Discover</a:t>
            </a:r>
          </a:p>
          <a:p>
            <a:pPr algn="ctr">
              <a:lnSpc>
                <a:spcPct val="115000"/>
              </a:lnSpc>
            </a:pPr>
            <a:r>
              <a:rPr sz="1100" b="1" i="0">
                <a:solidFill>
                  <a:srgbClr val="FFFFFF"/>
                </a:solidFill>
                <a:latin typeface="Calibri"/>
              </a:rPr>
              <a:t>protocol</a:t>
            </a:r>
          </a:p>
        </p:txBody>
      </p:sp>
      <p:sp>
        <p:nvSpPr>
          <p:cNvPr id="20" name="Rounded Rectangle 19"/>
          <p:cNvSpPr/>
          <p:nvPr/>
        </p:nvSpPr>
        <p:spPr>
          <a:xfrm>
            <a:off x="35341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Apply per-tenant</a:t>
            </a:r>
          </a:p>
          <a:p>
            <a:pPr algn="ctr">
              <a:lnSpc>
                <a:spcPct val="115000"/>
              </a:lnSpc>
            </a:pPr>
            <a:r>
              <a:rPr sz="1100" b="1" i="0">
                <a:solidFill>
                  <a:srgbClr val="FFFFFF"/>
                </a:solidFill>
                <a:latin typeface="Calibri"/>
              </a:rPr>
              <a:t>policy</a:t>
            </a:r>
          </a:p>
        </p:txBody>
      </p:sp>
      <p:sp>
        <p:nvSpPr>
          <p:cNvPr id="21" name="Rounded Rectangle 20"/>
          <p:cNvSpPr/>
          <p:nvPr/>
        </p:nvSpPr>
        <p:spPr>
          <a:xfrm>
            <a:off x="62773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PQC overlay</a:t>
            </a:r>
          </a:p>
          <a:p>
            <a:pPr algn="ctr">
              <a:lnSpc>
                <a:spcPct val="115000"/>
              </a:lnSpc>
            </a:pPr>
            <a:r>
              <a:rPr sz="1100" b="1" i="0">
                <a:solidFill>
                  <a:srgbClr val="FFFFFF"/>
                </a:solidFill>
                <a:latin typeface="Calibri"/>
              </a:rPr>
              <a:t>+ DTMF mask</a:t>
            </a:r>
          </a:p>
        </p:txBody>
      </p:sp>
      <p:sp>
        <p:nvSpPr>
          <p:cNvPr id="22" name="Rounded Rectangle 21"/>
          <p:cNvSpPr/>
          <p:nvPr/>
        </p:nvSpPr>
        <p:spPr>
          <a:xfrm>
            <a:off x="90205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Sign + log</a:t>
            </a:r>
          </a:p>
          <a:p>
            <a:pPr algn="ctr">
              <a:lnSpc>
                <a:spcPct val="115000"/>
              </a:lnSpc>
            </a:pPr>
            <a:r>
              <a:rPr sz="1100" b="1" i="0">
                <a:solidFill>
                  <a:srgbClr val="FFFFFF"/>
                </a:solidFill>
                <a:latin typeface="Calibri"/>
              </a:rPr>
              <a:t>evidence</a:t>
            </a:r>
          </a:p>
        </p:txBody>
      </p:sp>
      <p:cxnSp>
        <p:nvCxnSpPr>
          <p:cNvPr id="23" name="Connector 22"/>
          <p:cNvCxnSpPr/>
          <p:nvPr/>
        </p:nvCxnSpPr>
        <p:spPr>
          <a:xfrm>
            <a:off x="352044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6616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1A2D5A"/>
                </a:solidFill>
                <a:latin typeface="Calibri"/>
              </a:rPr>
              <a:t>(1) SPAN mirror</a:t>
            </a:r>
          </a:p>
        </p:txBody>
      </p:sp>
      <p:cxnSp>
        <p:nvCxnSpPr>
          <p:cNvPr id="25" name="Connector 24"/>
          <p:cNvCxnSpPr/>
          <p:nvPr/>
        </p:nvCxnSpPr>
        <p:spPr>
          <a:xfrm>
            <a:off x="5669280.0" y="2286000"/>
            <a:ext cx="0.0" cy="1005840"/>
          </a:xfrm>
          <a:prstGeom prst="line">
            <a:avLst/>
          </a:prstGeom>
          <a:ln w="22225">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15000" y="2331720"/>
            <a:ext cx="1645920" cy="274320"/>
          </a:xfrm>
          <a:prstGeom prst="rect">
            <a:avLst/>
          </a:prstGeom>
          <a:noFill/>
        </p:spPr>
        <p:txBody>
          <a:bodyPr wrap="square" lIns="50800" rIns="50800" tIns="25400" bIns="25400" anchor="t">
            <a:spAutoFit/>
          </a:bodyPr>
          <a:lstStyle/>
          <a:p>
            <a:pPr algn="l">
              <a:lnSpc>
                <a:spcPct val="115000"/>
              </a:lnSpc>
            </a:pPr>
            <a:r>
              <a:rPr sz="900" b="1" i="1">
                <a:solidFill>
                  <a:srgbClr val="F0A500"/>
                </a:solidFill>
                <a:latin typeface="Calibri"/>
              </a:rPr>
              <a:t>(2) Synapse webhook</a:t>
            </a:r>
          </a:p>
        </p:txBody>
      </p:sp>
      <p:cxnSp>
        <p:nvCxnSpPr>
          <p:cNvPr id="27" name="Connector 26"/>
          <p:cNvCxnSpPr/>
          <p:nvPr/>
        </p:nvCxnSpPr>
        <p:spPr>
          <a:xfrm>
            <a:off x="7818120.0" y="2286000"/>
            <a:ext cx="0.0" cy="1005840"/>
          </a:xfrm>
          <a:prstGeom prst="line">
            <a:avLst/>
          </a:prstGeom>
          <a:ln w="22225">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6384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008B9A"/>
                </a:solidFill>
                <a:latin typeface="Calibri"/>
              </a:rPr>
              <a:t>(3) Agent state</a:t>
            </a:r>
          </a:p>
        </p:txBody>
      </p:sp>
      <p:cxnSp>
        <p:nvCxnSpPr>
          <p:cNvPr id="29" name="Connector 28"/>
          <p:cNvCxnSpPr/>
          <p:nvPr/>
        </p:nvCxnSpPr>
        <p:spPr>
          <a:xfrm>
            <a:off x="996696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0" y="2331720"/>
            <a:ext cx="1463040" cy="274320"/>
          </a:xfrm>
          <a:prstGeom prst="rect">
            <a:avLst/>
          </a:prstGeom>
          <a:noFill/>
        </p:spPr>
        <p:txBody>
          <a:bodyPr wrap="square" lIns="50800" rIns="50800" tIns="25400" bIns="25400" anchor="t">
            <a:spAutoFit/>
          </a:bodyPr>
          <a:lstStyle/>
          <a:p>
            <a:pPr algn="r">
              <a:lnSpc>
                <a:spcPct val="115000"/>
              </a:lnSpc>
            </a:pPr>
            <a:r>
              <a:rPr sz="900" b="1" i="1">
                <a:solidFill>
                  <a:srgbClr val="1A2D5A"/>
                </a:solidFill>
                <a:latin typeface="Calibri"/>
              </a:rPr>
              <a:t>(4) CRM hook (PII mask)</a:t>
            </a:r>
          </a:p>
        </p:txBody>
      </p:sp>
      <p:sp>
        <p:nvSpPr>
          <p:cNvPr id="31" name="Oval 30"/>
          <p:cNvSpPr/>
          <p:nvPr/>
        </p:nvSpPr>
        <p:spPr>
          <a:xfrm>
            <a:off x="45720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32" name="TextBox 31"/>
          <p:cNvSpPr txBox="1"/>
          <p:nvPr/>
        </p:nvSpPr>
        <p:spPr>
          <a:xfrm>
            <a:off x="77724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Carrier delivers SIP INVITE to TCN SBC; TCN mirrors the signaling to QBITEL.</a:t>
            </a:r>
          </a:p>
        </p:txBody>
      </p:sp>
      <p:sp>
        <p:nvSpPr>
          <p:cNvPr id="33" name="Oval 32"/>
          <p:cNvSpPr/>
          <p:nvPr/>
        </p:nvSpPr>
        <p:spPr>
          <a:xfrm>
            <a:off x="278892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34" name="TextBox 33"/>
          <p:cNvSpPr txBox="1"/>
          <p:nvPr/>
        </p:nvSpPr>
        <p:spPr>
          <a:xfrm>
            <a:off x="310896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TCN Synapse fires call.started; QBITEL identifies tenant from campaign / DID and loads policy.</a:t>
            </a:r>
          </a:p>
        </p:txBody>
      </p:sp>
      <p:sp>
        <p:nvSpPr>
          <p:cNvPr id="35" name="Oval 34"/>
          <p:cNvSpPr/>
          <p:nvPr/>
        </p:nvSpPr>
        <p:spPr>
          <a:xfrm>
            <a:off x="512064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36" name="TextBox 35"/>
          <p:cNvSpPr txBox="1"/>
          <p:nvPr/>
        </p:nvSpPr>
        <p:spPr>
          <a:xfrm>
            <a:off x="544068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If tenant is opted into PQC trunks, QBITEL wraps the media in PQC-SRTP.</a:t>
            </a:r>
          </a:p>
        </p:txBody>
      </p:sp>
      <p:sp>
        <p:nvSpPr>
          <p:cNvPr id="37" name="Oval 36"/>
          <p:cNvSpPr/>
          <p:nvPr/>
        </p:nvSpPr>
        <p:spPr>
          <a:xfrm>
            <a:off x="745236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38" name="TextBox 37"/>
          <p:cNvSpPr txBox="1"/>
          <p:nvPr/>
        </p:nvSpPr>
        <p:spPr>
          <a:xfrm>
            <a:off x="777240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Agent writes to CRM; QBITEL's mask hook tokenizes PAN / SSN / PHI fields before persistence.</a:t>
            </a:r>
          </a:p>
        </p:txBody>
      </p:sp>
      <p:sp>
        <p:nvSpPr>
          <p:cNvPr id="39" name="Oval 38"/>
          <p:cNvSpPr/>
          <p:nvPr/>
        </p:nvSpPr>
        <p:spPr>
          <a:xfrm>
            <a:off x="978408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40" name="TextBox 39"/>
          <p:cNvSpPr txBox="1"/>
          <p:nvPr/>
        </p:nvSpPr>
        <p:spPr>
          <a:xfrm>
            <a:off x="1010412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Every decision is signed and logged into the per-tenant evidence stream.</a:t>
            </a:r>
          </a:p>
        </p:txBody>
      </p:sp>
      <p:sp>
        <p:nvSpPr>
          <p:cNvPr id="41" name="Rectangle 40"/>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4" name="TextBox 43"/>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2 — OUTBOUND CALL WITH TOLL-FRAUD DETECTION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Pattern detection in &lt;1 second • Auto-block via TCN REST API (opt-in)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Autodialer</a:t>
            </a:r>
          </a:p>
        </p:txBody>
      </p:sp>
      <p:sp>
        <p:nvSpPr>
          <p:cNvPr id="9" name="Right Arrow 8"/>
          <p:cNvSpPr/>
          <p:nvPr/>
        </p:nvSpPr>
        <p:spPr>
          <a:xfrm>
            <a:off x="269748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0" name="Rounded Rectangle 9"/>
          <p:cNvSpPr/>
          <p:nvPr/>
        </p:nvSpPr>
        <p:spPr>
          <a:xfrm>
            <a:off x="301752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 (outbound)</a:t>
            </a:r>
          </a:p>
        </p:txBody>
      </p:sp>
      <p:sp>
        <p:nvSpPr>
          <p:cNvPr id="11" name="Right Arrow 10"/>
          <p:cNvSpPr/>
          <p:nvPr/>
        </p:nvSpPr>
        <p:spPr>
          <a:xfrm>
            <a:off x="525780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2" name="Rounded Rectangle 11"/>
          <p:cNvSpPr/>
          <p:nvPr/>
        </p:nvSpPr>
        <p:spPr>
          <a:xfrm>
            <a:off x="5577840" y="1188720"/>
            <a:ext cx="2194560" cy="91440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a:t>
            </a:r>
          </a:p>
          <a:p>
            <a:pPr algn="ctr">
              <a:lnSpc>
                <a:spcPct val="115000"/>
              </a:lnSpc>
            </a:pPr>
            <a:r>
              <a:rPr sz="1200" b="1" i="0">
                <a:solidFill>
                  <a:srgbClr val="FFFFFF"/>
                </a:solidFill>
                <a:latin typeface="Calibri"/>
              </a:rPr>
              <a:t>Carrier</a:t>
            </a:r>
          </a:p>
        </p:txBody>
      </p:sp>
      <p:sp>
        <p:nvSpPr>
          <p:cNvPr id="13" name="Rounded Rectangle 12"/>
          <p:cNvSpPr/>
          <p:nvPr/>
        </p:nvSpPr>
        <p:spPr>
          <a:xfrm>
            <a:off x="7680960" y="2468880"/>
            <a:ext cx="4114800" cy="22860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18120" y="2560320"/>
            <a:ext cx="292608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TOLL-FRAUD ENGINE</a:t>
            </a:r>
          </a:p>
        </p:txBody>
      </p:sp>
      <p:sp>
        <p:nvSpPr>
          <p:cNvPr id="15" name="TextBox 14"/>
          <p:cNvSpPr txBox="1"/>
          <p:nvPr/>
        </p:nvSpPr>
        <p:spPr>
          <a:xfrm>
            <a:off x="7863840" y="2971800"/>
            <a:ext cx="3749040" cy="1645920"/>
          </a:xfrm>
          <a:prstGeom prst="rect">
            <a:avLst/>
          </a:prstGeom>
          <a:noFill/>
        </p:spPr>
        <p:txBody>
          <a:bodyPr wrap="square">
            <a:spAutoFit/>
          </a:bodyPr>
          <a:lstStyle/>
          <a:p>
            <a:pPr algn="l">
              <a:lnSpc>
                <a:spcPct val="115000"/>
              </a:lnSpc>
            </a:pPr>
            <a:r>
              <a:rPr sz="1000">
                <a:solidFill>
                  <a:srgbClr val="FFFFFF"/>
                </a:solidFill>
                <a:latin typeface="Calibri"/>
              </a:rPr>
              <a:t>•  IRSF (premium-rate destinations)</a:t>
            </a:r>
          </a:p>
          <a:p>
            <a:pPr algn="l">
              <a:lnSpc>
                <a:spcPct val="115000"/>
              </a:lnSpc>
            </a:pPr>
            <a:r>
              <a:rPr sz="1000">
                <a:solidFill>
                  <a:srgbClr val="FFFFFF"/>
                </a:solidFill>
                <a:latin typeface="Calibri"/>
              </a:rPr>
              <a:t>•  PBX hacking (unauth trunk access)</a:t>
            </a:r>
          </a:p>
          <a:p>
            <a:pPr algn="l">
              <a:lnSpc>
                <a:spcPct val="115000"/>
              </a:lnSpc>
            </a:pPr>
            <a:r>
              <a:rPr sz="1000">
                <a:solidFill>
                  <a:srgbClr val="FFFFFF"/>
                </a:solidFill>
                <a:latin typeface="Calibri"/>
              </a:rPr>
              <a:t>•  Wangiri callback manipulation</a:t>
            </a:r>
          </a:p>
          <a:p>
            <a:pPr algn="l">
              <a:lnSpc>
                <a:spcPct val="115000"/>
              </a:lnSpc>
            </a:pPr>
            <a:r>
              <a:rPr sz="1000">
                <a:solidFill>
                  <a:srgbClr val="FFFFFF"/>
                </a:solidFill>
                <a:latin typeface="Calibri"/>
              </a:rPr>
              <a:t>•  Call transfer fraud</a:t>
            </a:r>
          </a:p>
          <a:p>
            <a:pPr algn="l">
              <a:lnSpc>
                <a:spcPct val="115000"/>
              </a:lnSpc>
            </a:pPr>
            <a:r>
              <a:rPr sz="1000">
                <a:solidFill>
                  <a:srgbClr val="FFFFFF"/>
                </a:solidFill>
                <a:latin typeface="Calibri"/>
              </a:rPr>
              <a:t>•  Call pumping / revenue share abuse</a:t>
            </a:r>
          </a:p>
          <a:p>
            <a:pPr algn="l">
              <a:lnSpc>
                <a:spcPct val="115000"/>
              </a:lnSpc>
            </a:pPr>
            <a:r>
              <a:rPr sz="1000">
                <a:solidFill>
                  <a:srgbClr val="FFFFFF"/>
                </a:solidFill>
                <a:latin typeface="Calibri"/>
              </a:rPr>
              <a:t>•  Bypass fraud (SIM box, CLI manip)</a:t>
            </a:r>
          </a:p>
          <a:p>
            <a:pPr algn="l">
              <a:lnSpc>
                <a:spcPct val="115000"/>
              </a:lnSpc>
            </a:pPr>
            <a:r>
              <a:rPr sz="1000">
                <a:solidFill>
                  <a:srgbClr val="FFFFFF"/>
                </a:solidFill>
                <a:latin typeface="Calibri"/>
              </a:rPr>
              <a:t>•  Off-hours volume anomalies</a:t>
            </a:r>
          </a:p>
          <a:p>
            <a:pPr algn="l">
              <a:lnSpc>
                <a:spcPct val="115000"/>
              </a:lnSpc>
            </a:pPr>
            <a:r>
              <a:rPr sz="1000">
                <a:solidFill>
                  <a:srgbClr val="FFFFFF"/>
                </a:solidFill>
                <a:latin typeface="Calibri"/>
              </a:rPr>
              <a:t>•  Geographic anomaly clusters</a:t>
            </a:r>
          </a:p>
          <a:p>
            <a:pPr algn="l">
              <a:lnSpc>
                <a:spcPct val="115000"/>
              </a:lnSpc>
            </a:pPr>
            <a:r>
              <a:rPr sz="1000">
                <a:solidFill>
                  <a:srgbClr val="FFFFFF"/>
                </a:solidFill>
                <a:latin typeface="Calibri"/>
              </a:rPr>
              <a:t>•  Trunk credential brute force</a:t>
            </a:r>
          </a:p>
          <a:p>
            <a:pPr algn="l">
              <a:lnSpc>
                <a:spcPct val="115000"/>
              </a:lnSpc>
            </a:pPr>
            <a:r>
              <a:rPr sz="1000">
                <a:solidFill>
                  <a:srgbClr val="FFFFFF"/>
                </a:solidFill>
                <a:latin typeface="Calibri"/>
              </a:rPr>
              <a:t>•  Premium-rate cluster bursts</a:t>
            </a:r>
          </a:p>
        </p:txBody>
      </p:sp>
      <p:cxnSp>
        <p:nvCxnSpPr>
          <p:cNvPr id="16" name="Connector 15"/>
          <p:cNvCxnSpPr/>
          <p:nvPr/>
        </p:nvCxnSpPr>
        <p:spPr>
          <a:xfrm>
            <a:off x="1554480.0" y="2103120"/>
            <a:ext cx="6583680.0" cy="36576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148840"/>
            <a:ext cx="2377440" cy="274320"/>
          </a:xfrm>
          <a:prstGeom prst="rect">
            <a:avLst/>
          </a:prstGeom>
          <a:noFill/>
        </p:spPr>
        <p:txBody>
          <a:bodyPr wrap="square" lIns="50800" rIns="50800" tIns="25400" bIns="25400" anchor="t">
            <a:spAutoFit/>
          </a:bodyPr>
          <a:lstStyle/>
          <a:p>
            <a:pPr algn="l">
              <a:lnSpc>
                <a:spcPct val="115000"/>
              </a:lnSpc>
            </a:pPr>
            <a:r>
              <a:rPr sz="1000" b="1" i="1">
                <a:solidFill>
                  <a:srgbClr val="F0A500"/>
                </a:solidFill>
                <a:latin typeface="Calibri"/>
              </a:rPr>
              <a:t>(1) call.started webhook</a:t>
            </a:r>
          </a:p>
        </p:txBody>
      </p:sp>
      <p:cxnSp>
        <p:nvCxnSpPr>
          <p:cNvPr id="18" name="Connector 17"/>
          <p:cNvCxnSpPr/>
          <p:nvPr/>
        </p:nvCxnSpPr>
        <p:spPr>
          <a:xfrm>
            <a:off x="4114800.0" y="2103120"/>
            <a:ext cx="3566160.0" cy="1463040"/>
          </a:xfrm>
          <a:prstGeom prst="line">
            <a:avLst/>
          </a:prstGeom>
          <a:ln w="1905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377440" y="3017520"/>
            <a:ext cx="2377440" cy="1280160"/>
          </a:xfrm>
          <a:prstGeom prst="roundRect">
            <a:avLst>
              <a:gd name="adj" fmla="val 25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0" y="3127248"/>
            <a:ext cx="2011680" cy="25603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F0A500"/>
                </a:solidFill>
                <a:latin typeface="Calibri"/>
              </a:rPr>
              <a:t>? DECISION</a:t>
            </a:r>
          </a:p>
        </p:txBody>
      </p:sp>
      <p:sp>
        <p:nvSpPr>
          <p:cNvPr id="21" name="TextBox 20"/>
          <p:cNvSpPr txBox="1"/>
          <p:nvPr/>
        </p:nvSpPr>
        <p:spPr>
          <a:xfrm>
            <a:off x="2377440" y="3429000"/>
            <a:ext cx="2377440" cy="822960"/>
          </a:xfrm>
          <a:prstGeom prst="rect">
            <a:avLst/>
          </a:prstGeom>
          <a:noFill/>
        </p:spPr>
        <p:txBody>
          <a:bodyPr wrap="square" lIns="50800" rIns="50800" tIns="25400" bIns="25400" anchor="ctr">
            <a:spAutoFit/>
          </a:bodyPr>
          <a:lstStyle/>
          <a:p>
            <a:pPr algn="ctr">
              <a:lnSpc>
                <a:spcPct val="115000"/>
              </a:lnSpc>
            </a:pPr>
            <a:r>
              <a:rPr sz="1400" b="1" i="0">
                <a:solidFill>
                  <a:srgbClr val="0D1B3E"/>
                </a:solidFill>
                <a:latin typeface="Calibri"/>
              </a:rPr>
              <a:t>Pattern detected</a:t>
            </a:r>
          </a:p>
          <a:p>
            <a:pPr algn="ctr">
              <a:lnSpc>
                <a:spcPct val="115000"/>
              </a:lnSpc>
            </a:pPr>
            <a:r>
              <a:rPr sz="1400" b="1" i="0">
                <a:solidFill>
                  <a:srgbClr val="0D1B3E"/>
                </a:solidFill>
                <a:latin typeface="Calibri"/>
              </a:rPr>
              <a:t>in &lt;1 sec?</a:t>
            </a:r>
          </a:p>
        </p:txBody>
      </p:sp>
      <p:cxnSp>
        <p:nvCxnSpPr>
          <p:cNvPr id="22" name="Connector 21"/>
          <p:cNvCxnSpPr/>
          <p:nvPr/>
        </p:nvCxnSpPr>
        <p:spPr>
          <a:xfrm flipH="1">
            <a:off x="4572000" y="3611880.0"/>
            <a:ext cx="3108960" cy="45720.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 y="4846320"/>
            <a:ext cx="5029200" cy="1371600"/>
          </a:xfrm>
          <a:prstGeom prst="roundRect">
            <a:avLst>
              <a:gd name="adj" fmla="val 12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4360" y="4937760"/>
            <a:ext cx="118872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C0392B"/>
                </a:solidFill>
                <a:latin typeface="Calibri"/>
              </a:rPr>
              <a:t>BLOCK</a:t>
            </a:r>
          </a:p>
        </p:txBody>
      </p:sp>
      <p:sp>
        <p:nvSpPr>
          <p:cNvPr id="25" name="TextBox 24"/>
          <p:cNvSpPr txBox="1"/>
          <p:nvPr/>
        </p:nvSpPr>
        <p:spPr>
          <a:xfrm>
            <a:off x="594360" y="5257800"/>
            <a:ext cx="4754880" cy="914400"/>
          </a:xfrm>
          <a:prstGeom prst="rect">
            <a:avLst/>
          </a:prstGeom>
          <a:noFill/>
        </p:spPr>
        <p:txBody>
          <a:bodyPr wrap="square">
            <a:spAutoFit/>
          </a:bodyPr>
          <a:lstStyle/>
          <a:p>
            <a:pPr algn="l">
              <a:lnSpc>
                <a:spcPct val="120000"/>
              </a:lnSpc>
            </a:pPr>
            <a:r>
              <a:rPr sz="1050" b="1">
                <a:solidFill>
                  <a:srgbClr val="FFFFFF"/>
                </a:solidFill>
                <a:latin typeface="Calibri"/>
              </a:rPr>
              <a:t>(a)  Pause campaign via TCN REST API</a:t>
            </a:r>
          </a:p>
          <a:p>
            <a:pPr algn="l">
              <a:lnSpc>
                <a:spcPct val="120000"/>
              </a:lnSpc>
            </a:pPr>
            <a:r>
              <a:rPr sz="1050" b="1">
                <a:solidFill>
                  <a:srgbClr val="FFFFFF"/>
                </a:solidFill>
                <a:latin typeface="Calibri"/>
              </a:rPr>
              <a:t>(b)  Push noc.alert webhook</a:t>
            </a:r>
          </a:p>
          <a:p>
            <a:pPr algn="l">
              <a:lnSpc>
                <a:spcPct val="120000"/>
              </a:lnSpc>
            </a:pPr>
            <a:r>
              <a:rPr sz="1050" b="1">
                <a:solidFill>
                  <a:srgbClr val="FFFFFF"/>
                </a:solidFill>
                <a:latin typeface="Calibri"/>
              </a:rPr>
              <a:t>(c)  Log forensic evidence in tenant audit stream</a:t>
            </a:r>
          </a:p>
        </p:txBody>
      </p:sp>
      <p:cxnSp>
        <p:nvCxnSpPr>
          <p:cNvPr id="26" name="Connector 25"/>
          <p:cNvCxnSpPr/>
          <p:nvPr/>
        </p:nvCxnSpPr>
        <p:spPr>
          <a:xfrm flipH="1">
            <a:off x="2743200" y="4297680"/>
            <a:ext cx="274320" cy="548640"/>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86000" y="4343400"/>
            <a:ext cx="548640" cy="274320"/>
          </a:xfrm>
          <a:prstGeom prst="rect">
            <a:avLst/>
          </a:prstGeom>
          <a:noFill/>
        </p:spPr>
        <p:txBody>
          <a:bodyPr wrap="square" lIns="50800" rIns="50800" tIns="25400" bIns="25400" anchor="t">
            <a:spAutoFit/>
          </a:bodyPr>
          <a:lstStyle/>
          <a:p>
            <a:pPr algn="l">
              <a:lnSpc>
                <a:spcPct val="115000"/>
              </a:lnSpc>
            </a:pPr>
            <a:r>
              <a:rPr sz="1100" b="1" i="0">
                <a:solidFill>
                  <a:srgbClr val="C0392B"/>
                </a:solidFill>
                <a:latin typeface="Calibri"/>
              </a:rPr>
              <a:t>YES</a:t>
            </a:r>
          </a:p>
        </p:txBody>
      </p:sp>
      <p:sp>
        <p:nvSpPr>
          <p:cNvPr id="28" name="Rounded Rectangle 27"/>
          <p:cNvSpPr/>
          <p:nvPr/>
        </p:nvSpPr>
        <p:spPr>
          <a:xfrm>
            <a:off x="5760720" y="4846320"/>
            <a:ext cx="1828800" cy="640080"/>
          </a:xfrm>
          <a:prstGeom prst="roundRect">
            <a:avLst>
              <a:gd name="adj" fmla="val 12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Call proceeds</a:t>
            </a:r>
          </a:p>
        </p:txBody>
      </p:sp>
      <p:cxnSp>
        <p:nvCxnSpPr>
          <p:cNvPr id="29" name="Connector 28"/>
          <p:cNvCxnSpPr/>
          <p:nvPr/>
        </p:nvCxnSpPr>
        <p:spPr>
          <a:xfrm>
            <a:off x="4754880" y="3657600"/>
            <a:ext cx="1920240" cy="118872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0640" y="3931920"/>
            <a:ext cx="548640" cy="274320"/>
          </a:xfrm>
          <a:prstGeom prst="rect">
            <a:avLst/>
          </a:prstGeom>
          <a:noFill/>
        </p:spPr>
        <p:txBody>
          <a:bodyPr wrap="square" lIns="50800" rIns="50800" tIns="25400" bIns="25400" anchor="t">
            <a:spAutoFit/>
          </a:bodyPr>
          <a:lstStyle/>
          <a:p>
            <a:pPr algn="l">
              <a:lnSpc>
                <a:spcPct val="115000"/>
              </a:lnSpc>
            </a:pPr>
            <a:r>
              <a:rPr sz="1100" b="1" i="0">
                <a:solidFill>
                  <a:srgbClr val="2E7D32"/>
                </a:solidFill>
                <a:latin typeface="Calibri"/>
              </a:rPr>
              <a:t>NO</a:t>
            </a:r>
          </a:p>
        </p:txBody>
      </p:sp>
      <p:sp>
        <p:nvSpPr>
          <p:cNvPr id="31" name="Rectangle 30"/>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4" name="TextBox 33"/>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3 — PAYMENT CALL WITH DTMF MASKING &amp; PCI EVIDENCE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Up to 80% PCI scope reduction • Card digits never reach agent, screen, or recording</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234440"/>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1</a:t>
            </a:r>
          </a:p>
        </p:txBody>
      </p:sp>
      <p:sp>
        <p:nvSpPr>
          <p:cNvPr id="9" name="Rounded Rectangle 8"/>
          <p:cNvSpPr/>
          <p:nvPr/>
        </p:nvSpPr>
        <p:spPr>
          <a:xfrm>
            <a:off x="1051560" y="1051560"/>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Agent presses</a:t>
            </a:r>
          </a:p>
          <a:p>
            <a:pPr algn="ctr">
              <a:lnSpc>
                <a:spcPct val="115000"/>
              </a:lnSpc>
            </a:pPr>
            <a:r>
              <a:rPr sz="1050" b="0" i="0">
                <a:solidFill>
                  <a:srgbClr val="1A1A2E"/>
                </a:solidFill>
                <a:latin typeface="Calibri"/>
              </a:rPr>
              <a:t>"Take Payment"</a:t>
            </a:r>
          </a:p>
        </p:txBody>
      </p:sp>
      <p:cxnSp>
        <p:nvCxnSpPr>
          <p:cNvPr id="10" name="Connector 9"/>
          <p:cNvCxnSpPr/>
          <p:nvPr/>
        </p:nvCxnSpPr>
        <p:spPr>
          <a:xfrm>
            <a:off x="2651760.0" y="1783080"/>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8640" y="2029968"/>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2</a:t>
            </a:r>
          </a:p>
        </p:txBody>
      </p:sp>
      <p:sp>
        <p:nvSpPr>
          <p:cNvPr id="12" name="Rounded Rectangle 11"/>
          <p:cNvSpPr/>
          <p:nvPr/>
        </p:nvSpPr>
        <p:spPr>
          <a:xfrm>
            <a:off x="1051560" y="1847088"/>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TCN agent workspace</a:t>
            </a:r>
          </a:p>
          <a:p>
            <a:pPr algn="ctr">
              <a:lnSpc>
                <a:spcPct val="115000"/>
              </a:lnSpc>
            </a:pPr>
            <a:r>
              <a:rPr sz="1050" b="0" i="0">
                <a:solidFill>
                  <a:srgbClr val="1A1A2E"/>
                </a:solidFill>
                <a:latin typeface="Calibri"/>
              </a:rPr>
              <a:t>fires payment.start</a:t>
            </a:r>
          </a:p>
          <a:p>
            <a:pPr algn="ctr">
              <a:lnSpc>
                <a:spcPct val="115000"/>
              </a:lnSpc>
            </a:pPr>
            <a:r>
              <a:rPr sz="1050" b="0" i="0">
                <a:solidFill>
                  <a:srgbClr val="1A1A2E"/>
                </a:solidFill>
                <a:latin typeface="Calibri"/>
              </a:rPr>
              <a:t>via Synapse webhook</a:t>
            </a:r>
          </a:p>
        </p:txBody>
      </p:sp>
      <p:cxnSp>
        <p:nvCxnSpPr>
          <p:cNvPr id="13" name="Connector 12"/>
          <p:cNvCxnSpPr/>
          <p:nvPr/>
        </p:nvCxnSpPr>
        <p:spPr>
          <a:xfrm>
            <a:off x="2651760.0" y="2578608"/>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48640" y="2825496"/>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Rounded Rectangle 14"/>
          <p:cNvSpPr/>
          <p:nvPr/>
        </p:nvSpPr>
        <p:spPr>
          <a:xfrm>
            <a:off x="1051560" y="2642616"/>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applies</a:t>
            </a:r>
          </a:p>
          <a:p>
            <a:pPr algn="ctr">
              <a:lnSpc>
                <a:spcPct val="115000"/>
              </a:lnSpc>
            </a:pPr>
            <a:r>
              <a:rPr sz="1050" b="0" i="0">
                <a:solidFill>
                  <a:srgbClr val="1A1A2E"/>
                </a:solidFill>
                <a:latin typeface="Calibri"/>
              </a:rPr>
              <a:t>tenant PCI-DSS profile</a:t>
            </a:r>
          </a:p>
        </p:txBody>
      </p:sp>
      <p:cxnSp>
        <p:nvCxnSpPr>
          <p:cNvPr id="16" name="Connector 15"/>
          <p:cNvCxnSpPr/>
          <p:nvPr/>
        </p:nvCxnSpPr>
        <p:spPr>
          <a:xfrm>
            <a:off x="2651760.0" y="3374136"/>
            <a:ext cx="0.0" cy="64008"/>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48640" y="3621024"/>
            <a:ext cx="365760" cy="36576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4</a:t>
            </a:r>
          </a:p>
        </p:txBody>
      </p:sp>
      <p:sp>
        <p:nvSpPr>
          <p:cNvPr id="18" name="Rounded Rectangle 17"/>
          <p:cNvSpPr/>
          <p:nvPr/>
        </p:nvSpPr>
        <p:spPr>
          <a:xfrm>
            <a:off x="1051560" y="3438144"/>
            <a:ext cx="3200400" cy="731520"/>
          </a:xfrm>
          <a:prstGeom prst="roundRect">
            <a:avLst>
              <a:gd name="adj" fmla="val 12000"/>
            </a:avLst>
          </a:prstGeom>
          <a:solidFill>
            <a:srgbClr val="CDE8EC"/>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signals TCN:</a:t>
            </a:r>
          </a:p>
          <a:p>
            <a:pPr algn="ctr">
              <a:lnSpc>
                <a:spcPct val="115000"/>
              </a:lnSpc>
            </a:pPr>
            <a:r>
              <a:rPr sz="1050" b="0" i="0">
                <a:solidFill>
                  <a:srgbClr val="1A1A2E"/>
                </a:solidFill>
                <a:latin typeface="Calibri"/>
              </a:rPr>
              <a:t>• PAUSE recording</a:t>
            </a:r>
          </a:p>
          <a:p>
            <a:pPr algn="ctr">
              <a:lnSpc>
                <a:spcPct val="115000"/>
              </a:lnSpc>
            </a:pPr>
            <a:r>
              <a:rPr sz="1050" b="0" i="0">
                <a:solidFill>
                  <a:srgbClr val="1A1A2E"/>
                </a:solidFill>
                <a:latin typeface="Calibri"/>
              </a:rPr>
              <a:t>• CLAMP DTMF tones</a:t>
            </a:r>
          </a:p>
          <a:p>
            <a:pPr algn="ctr">
              <a:lnSpc>
                <a:spcPct val="115000"/>
              </a:lnSpc>
            </a:pPr>
            <a:r>
              <a:rPr sz="1050" b="0" i="0">
                <a:solidFill>
                  <a:srgbClr val="1A1A2E"/>
                </a:solidFill>
                <a:latin typeface="Calibri"/>
              </a:rPr>
              <a:t>• MASK agent screen</a:t>
            </a:r>
          </a:p>
        </p:txBody>
      </p:sp>
      <p:cxnSp>
        <p:nvCxnSpPr>
          <p:cNvPr id="19" name="Connector 18"/>
          <p:cNvCxnSpPr/>
          <p:nvPr/>
        </p:nvCxnSpPr>
        <p:spPr>
          <a:xfrm>
            <a:off x="2651760.0" y="4169664"/>
            <a:ext cx="0.0" cy="64008"/>
          </a:xfrm>
          <a:prstGeom prst="line">
            <a:avLst/>
          </a:prstGeom>
          <a:ln w="25400">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8640" y="4416552"/>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5</a:t>
            </a:r>
          </a:p>
        </p:txBody>
      </p:sp>
      <p:sp>
        <p:nvSpPr>
          <p:cNvPr id="21" name="Rounded Rectangle 20"/>
          <p:cNvSpPr/>
          <p:nvPr/>
        </p:nvSpPr>
        <p:spPr>
          <a:xfrm>
            <a:off x="1051560" y="4233672"/>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Customer enters card</a:t>
            </a:r>
          </a:p>
          <a:p>
            <a:pPr algn="ctr">
              <a:lnSpc>
                <a:spcPct val="115000"/>
              </a:lnSpc>
            </a:pPr>
            <a:r>
              <a:rPr sz="1050" b="0" i="0">
                <a:solidFill>
                  <a:srgbClr val="1A1A2E"/>
                </a:solidFill>
                <a:latin typeface="Calibri"/>
              </a:rPr>
              <a:t>via DTMF</a:t>
            </a:r>
          </a:p>
        </p:txBody>
      </p:sp>
      <p:cxnSp>
        <p:nvCxnSpPr>
          <p:cNvPr id="22" name="Connector 21"/>
          <p:cNvCxnSpPr/>
          <p:nvPr/>
        </p:nvCxnSpPr>
        <p:spPr>
          <a:xfrm>
            <a:off x="2651760.0" y="4965192"/>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48640" y="5212080"/>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6</a:t>
            </a:r>
          </a:p>
        </p:txBody>
      </p:sp>
      <p:sp>
        <p:nvSpPr>
          <p:cNvPr id="24" name="Rounded Rectangle 23"/>
          <p:cNvSpPr/>
          <p:nvPr/>
        </p:nvSpPr>
        <p:spPr>
          <a:xfrm>
            <a:off x="1051560" y="5029200"/>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Card → payment processor</a:t>
            </a:r>
          </a:p>
          <a:p>
            <a:pPr algn="ctr">
              <a:lnSpc>
                <a:spcPct val="115000"/>
              </a:lnSpc>
            </a:pPr>
            <a:r>
              <a:rPr sz="1050" b="0" i="0">
                <a:solidFill>
                  <a:srgbClr val="1A1A2E"/>
                </a:solidFill>
                <a:latin typeface="Calibri"/>
              </a:rPr>
              <a:t>(direct path)</a:t>
            </a:r>
          </a:p>
        </p:txBody>
      </p:sp>
      <p:cxnSp>
        <p:nvCxnSpPr>
          <p:cNvPr id="25" name="Connector 24"/>
          <p:cNvCxnSpPr/>
          <p:nvPr/>
        </p:nvCxnSpPr>
        <p:spPr>
          <a:xfrm>
            <a:off x="2651760.0" y="5760720"/>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48640" y="6007608"/>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7" name="Rounded Rectangle 26"/>
          <p:cNvSpPr/>
          <p:nvPr/>
        </p:nvSpPr>
        <p:spPr>
          <a:xfrm>
            <a:off x="1051560" y="5824728"/>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payment.end webhook;</a:t>
            </a:r>
          </a:p>
          <a:p>
            <a:pPr algn="ctr">
              <a:lnSpc>
                <a:spcPct val="115000"/>
              </a:lnSpc>
            </a:pPr>
            <a:r>
              <a:rPr sz="1050" b="0" i="0">
                <a:solidFill>
                  <a:srgbClr val="1A1A2E"/>
                </a:solidFill>
                <a:latin typeface="Calibri"/>
              </a:rPr>
              <a:t>QBITEL resumes &amp;</a:t>
            </a:r>
          </a:p>
          <a:p>
            <a:pPr algn="ctr">
              <a:lnSpc>
                <a:spcPct val="115000"/>
              </a:lnSpc>
            </a:pPr>
            <a:r>
              <a:rPr sz="1050" b="0" i="0">
                <a:solidFill>
                  <a:srgbClr val="1A1A2E"/>
                </a:solidFill>
                <a:latin typeface="Calibri"/>
              </a:rPr>
              <a:t>generates PCI evidence</a:t>
            </a:r>
          </a:p>
        </p:txBody>
      </p:sp>
      <p:sp>
        <p:nvSpPr>
          <p:cNvPr id="28" name="Rounded Rectangle 27"/>
          <p:cNvSpPr/>
          <p:nvPr/>
        </p:nvSpPr>
        <p:spPr>
          <a:xfrm>
            <a:off x="4572000" y="1051560"/>
            <a:ext cx="7178040" cy="27432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709160" y="1143000"/>
            <a:ext cx="274320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GETS PROTECTED</a:t>
            </a:r>
          </a:p>
        </p:txBody>
      </p:sp>
      <p:sp>
        <p:nvSpPr>
          <p:cNvPr id="30" name="Rounded Rectangle 29"/>
          <p:cNvSpPr/>
          <p:nvPr/>
        </p:nvSpPr>
        <p:spPr>
          <a:xfrm>
            <a:off x="4754880" y="16002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headset</a:t>
            </a:r>
          </a:p>
        </p:txBody>
      </p:sp>
      <p:sp>
        <p:nvSpPr>
          <p:cNvPr id="31" name="Rounded Rectangle 30"/>
          <p:cNvSpPr/>
          <p:nvPr/>
        </p:nvSpPr>
        <p:spPr>
          <a:xfrm>
            <a:off x="7132320" y="16002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Hears CLAMPed tone — no digits audible</a:t>
            </a:r>
          </a:p>
        </p:txBody>
      </p:sp>
      <p:sp>
        <p:nvSpPr>
          <p:cNvPr id="32" name="Rounded Rectangle 31"/>
          <p:cNvSpPr/>
          <p:nvPr/>
        </p:nvSpPr>
        <p:spPr>
          <a:xfrm>
            <a:off x="4754880" y="22860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TCN recording</a:t>
            </a:r>
          </a:p>
        </p:txBody>
      </p:sp>
      <p:sp>
        <p:nvSpPr>
          <p:cNvPr id="33" name="Rounded Rectangle 32"/>
          <p:cNvSpPr/>
          <p:nvPr/>
        </p:nvSpPr>
        <p:spPr>
          <a:xfrm>
            <a:off x="7132320" y="22860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Paused for payment window</a:t>
            </a:r>
          </a:p>
        </p:txBody>
      </p:sp>
      <p:sp>
        <p:nvSpPr>
          <p:cNvPr id="34" name="Rounded Rectangle 33"/>
          <p:cNvSpPr/>
          <p:nvPr/>
        </p:nvSpPr>
        <p:spPr>
          <a:xfrm>
            <a:off x="4754880" y="29718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screen</a:t>
            </a:r>
          </a:p>
        </p:txBody>
      </p:sp>
      <p:sp>
        <p:nvSpPr>
          <p:cNvPr id="35" name="Rounded Rectangle 34"/>
          <p:cNvSpPr/>
          <p:nvPr/>
        </p:nvSpPr>
        <p:spPr>
          <a:xfrm>
            <a:off x="7132320" y="29718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Shows last-4 only on cardholder fields</a:t>
            </a:r>
          </a:p>
        </p:txBody>
      </p:sp>
      <p:sp>
        <p:nvSpPr>
          <p:cNvPr id="36" name="Rounded Rectangle 35"/>
          <p:cNvSpPr/>
          <p:nvPr/>
        </p:nvSpPr>
        <p:spPr>
          <a:xfrm>
            <a:off x="4572000" y="3977639"/>
            <a:ext cx="7178040" cy="64008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PCI scope reduction up to 80%   •   Evidence pack on demand in &lt;10 minutes</a:t>
            </a:r>
          </a:p>
        </p:txBody>
      </p:sp>
      <p:sp>
        <p:nvSpPr>
          <p:cNvPr id="37" name="Rounded Rectangle 36"/>
          <p:cNvSpPr/>
          <p:nvPr/>
        </p:nvSpPr>
        <p:spPr>
          <a:xfrm>
            <a:off x="4572000" y="4800600"/>
            <a:ext cx="7178040" cy="13716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0" y="4892040"/>
            <a:ext cx="6812280" cy="1188720"/>
          </a:xfrm>
          <a:prstGeom prst="rect">
            <a:avLst/>
          </a:prstGeom>
          <a:noFill/>
        </p:spPr>
        <p:txBody>
          <a:bodyPr wrap="square" lIns="50800" rIns="50800" tIns="25400" bIns="25400" anchor="ctr">
            <a:spAutoFit/>
          </a:bodyPr>
          <a:lstStyle/>
          <a:p>
            <a:pPr algn="l">
              <a:lnSpc>
                <a:spcPct val="130000"/>
              </a:lnSpc>
            </a:pPr>
            <a:r>
              <a:rPr sz="1100" b="0" i="1">
                <a:solidFill>
                  <a:srgbClr val="1A1A2E"/>
                </a:solidFill>
                <a:latin typeface="Calibri"/>
              </a:rPr>
              <a:t>With this flow active, the agent, the agent's screen, and the TCN recording engine never see the cardholder data. The card digits travel directly from the customer's telephone keypad to the payment processor — TCN and QBITEL are out of scope for that span.</a:t>
            </a:r>
          </a:p>
        </p:txBody>
      </p:sp>
      <p:sp>
        <p:nvSpPr>
          <p:cNvPr id="39" name="Rectangle 3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2" name="TextBox 4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MULTI-TENANT ISOLATION — TCN'S BPO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single most differentiating capability for the BPO segment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2743200" y="1005840"/>
            <a:ext cx="6675120" cy="73152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TCN Operator  (one tenant = the BPO)</a:t>
            </a:r>
          </a:p>
        </p:txBody>
      </p:sp>
      <p:sp>
        <p:nvSpPr>
          <p:cNvPr id="9" name="TextBox 8"/>
          <p:cNvSpPr txBox="1"/>
          <p:nvPr/>
        </p:nvSpPr>
        <p:spPr>
          <a:xfrm>
            <a:off x="2743200" y="1783080"/>
            <a:ext cx="6675120" cy="32004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Campaign- and account-level tagging carries downstream client identity</a:t>
            </a:r>
          </a:p>
        </p:txBody>
      </p:sp>
      <p:sp>
        <p:nvSpPr>
          <p:cNvPr id="10" name="Down Arrow 9"/>
          <p:cNvSpPr/>
          <p:nvPr/>
        </p:nvSpPr>
        <p:spPr>
          <a:xfrm>
            <a:off x="173736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07024"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1005840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28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16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A</a:t>
            </a:r>
          </a:p>
        </p:txBody>
      </p:sp>
      <p:sp>
        <p:nvSpPr>
          <p:cNvPr id="15" name="TextBox 14"/>
          <p:cNvSpPr txBox="1"/>
          <p:nvPr/>
        </p:nvSpPr>
        <p:spPr>
          <a:xfrm>
            <a:off x="47228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NorthBank</a:t>
            </a:r>
          </a:p>
          <a:p>
            <a:pPr algn="ctr">
              <a:lnSpc>
                <a:spcPct val="115000"/>
              </a:lnSpc>
            </a:pPr>
            <a:r>
              <a:rPr sz="1400" b="1" i="0">
                <a:solidFill>
                  <a:srgbClr val="FFFFFF"/>
                </a:solidFill>
                <a:latin typeface="Calibri"/>
              </a:rPr>
              <a:t>(Banking)</a:t>
            </a:r>
          </a:p>
        </p:txBody>
      </p:sp>
      <p:sp>
        <p:nvSpPr>
          <p:cNvPr id="16" name="Rectangle 15"/>
          <p:cNvSpPr/>
          <p:nvPr/>
        </p:nvSpPr>
        <p:spPr>
          <a:xfrm>
            <a:off x="74660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4.0 + SOX + FCA</a:t>
            </a:r>
          </a:p>
          <a:p>
            <a:pPr algn="l">
              <a:lnSpc>
                <a:spcPct val="140000"/>
              </a:lnSpc>
            </a:pPr>
            <a:r>
              <a:rPr sz="1050" b="0" i="0">
                <a:solidFill>
                  <a:srgbClr val="FFFFFF"/>
                </a:solidFill>
                <a:latin typeface="Calibri"/>
              </a:rPr>
              <a:t>ML-KEM keys: 0x4A...</a:t>
            </a:r>
          </a:p>
          <a:p>
            <a:pPr algn="l">
              <a:lnSpc>
                <a:spcPct val="140000"/>
              </a:lnSpc>
            </a:pPr>
            <a:r>
              <a:rPr sz="1050" b="0" i="0">
                <a:solidFill>
                  <a:srgbClr val="FFFFFF"/>
                </a:solidFill>
                <a:latin typeface="Calibri"/>
              </a:rPr>
              <a:t>OPA policy: bank-strict</a:t>
            </a:r>
          </a:p>
          <a:p>
            <a:pPr algn="l">
              <a:lnSpc>
                <a:spcPct val="140000"/>
              </a:lnSpc>
            </a:pPr>
            <a:r>
              <a:rPr sz="1050" b="0" i="0">
                <a:solidFill>
                  <a:srgbClr val="FFFFFF"/>
                </a:solidFill>
                <a:latin typeface="Calibri"/>
              </a:rPr>
              <a:t>Audit log: append-only</a:t>
            </a:r>
          </a:p>
        </p:txBody>
      </p:sp>
      <p:sp>
        <p:nvSpPr>
          <p:cNvPr id="18" name="Rounded Rectangle 17"/>
          <p:cNvSpPr/>
          <p:nvPr/>
        </p:nvSpPr>
        <p:spPr>
          <a:xfrm>
            <a:off x="4312767" y="2651760"/>
            <a:ext cx="3566160" cy="2743200"/>
          </a:xfrm>
          <a:prstGeom prst="roundRect">
            <a:avLst>
              <a:gd name="adj" fmla="val 12000"/>
            </a:avLst>
          </a:prstGeom>
          <a:solidFill>
            <a:srgbClr val="1A2D5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5647" y="2788920"/>
            <a:ext cx="3200400" cy="36576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TENANT B</a:t>
            </a:r>
          </a:p>
        </p:txBody>
      </p:sp>
      <p:sp>
        <p:nvSpPr>
          <p:cNvPr id="20" name="TextBox 19"/>
          <p:cNvSpPr txBox="1"/>
          <p:nvPr/>
        </p:nvSpPr>
        <p:spPr>
          <a:xfrm>
            <a:off x="431276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CareFirst</a:t>
            </a:r>
          </a:p>
          <a:p>
            <a:pPr algn="ctr">
              <a:lnSpc>
                <a:spcPct val="115000"/>
              </a:lnSpc>
            </a:pPr>
            <a:r>
              <a:rPr sz="1400" b="1" i="0">
                <a:solidFill>
                  <a:srgbClr val="FFFFFF"/>
                </a:solidFill>
                <a:latin typeface="Calibri"/>
              </a:rPr>
              <a:t>(Healthcare)</a:t>
            </a:r>
          </a:p>
        </p:txBody>
      </p:sp>
      <p:sp>
        <p:nvSpPr>
          <p:cNvPr id="21" name="Rectangle 20"/>
          <p:cNvSpPr/>
          <p:nvPr/>
        </p:nvSpPr>
        <p:spPr>
          <a:xfrm>
            <a:off x="4587087" y="3931920"/>
            <a:ext cx="3017520" cy="1828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564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HIPAA + HITECH</a:t>
            </a:r>
          </a:p>
          <a:p>
            <a:pPr algn="l">
              <a:lnSpc>
                <a:spcPct val="140000"/>
              </a:lnSpc>
            </a:pPr>
            <a:r>
              <a:rPr sz="1050" b="0" i="0">
                <a:solidFill>
                  <a:srgbClr val="FFFFFF"/>
                </a:solidFill>
                <a:latin typeface="Calibri"/>
              </a:rPr>
              <a:t>ML-KEM keys: 0xC2...</a:t>
            </a:r>
          </a:p>
          <a:p>
            <a:pPr algn="l">
              <a:lnSpc>
                <a:spcPct val="140000"/>
              </a:lnSpc>
            </a:pPr>
            <a:r>
              <a:rPr sz="1050" b="0" i="0">
                <a:solidFill>
                  <a:srgbClr val="FFFFFF"/>
                </a:solidFill>
                <a:latin typeface="Calibri"/>
              </a:rPr>
              <a:t>OPA policy: phi-strict</a:t>
            </a:r>
          </a:p>
          <a:p>
            <a:pPr algn="l">
              <a:lnSpc>
                <a:spcPct val="140000"/>
              </a:lnSpc>
            </a:pPr>
            <a:r>
              <a:rPr sz="1050" b="0" i="0">
                <a:solidFill>
                  <a:srgbClr val="FFFFFF"/>
                </a:solidFill>
                <a:latin typeface="Calibri"/>
              </a:rPr>
              <a:t>Audit log: append-only</a:t>
            </a:r>
          </a:p>
        </p:txBody>
      </p:sp>
      <p:sp>
        <p:nvSpPr>
          <p:cNvPr id="23" name="Rounded Rectangle 22"/>
          <p:cNvSpPr/>
          <p:nvPr/>
        </p:nvSpPr>
        <p:spPr>
          <a:xfrm>
            <a:off x="815324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3612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C</a:t>
            </a:r>
          </a:p>
        </p:txBody>
      </p:sp>
      <p:sp>
        <p:nvSpPr>
          <p:cNvPr id="25" name="TextBox 24"/>
          <p:cNvSpPr txBox="1"/>
          <p:nvPr/>
        </p:nvSpPr>
        <p:spPr>
          <a:xfrm>
            <a:off x="815324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ShopRight</a:t>
            </a:r>
          </a:p>
          <a:p>
            <a:pPr algn="ctr">
              <a:lnSpc>
                <a:spcPct val="115000"/>
              </a:lnSpc>
            </a:pPr>
            <a:r>
              <a:rPr sz="1400" b="1" i="0">
                <a:solidFill>
                  <a:srgbClr val="FFFFFF"/>
                </a:solidFill>
                <a:latin typeface="Calibri"/>
              </a:rPr>
              <a:t>(Retail)</a:t>
            </a:r>
          </a:p>
        </p:txBody>
      </p:sp>
      <p:sp>
        <p:nvSpPr>
          <p:cNvPr id="26" name="Rectangle 25"/>
          <p:cNvSpPr/>
          <p:nvPr/>
        </p:nvSpPr>
        <p:spPr>
          <a:xfrm>
            <a:off x="842756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612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 GDPR + TCPA</a:t>
            </a:r>
          </a:p>
          <a:p>
            <a:pPr algn="l">
              <a:lnSpc>
                <a:spcPct val="140000"/>
              </a:lnSpc>
            </a:pPr>
            <a:r>
              <a:rPr sz="1050" b="0" i="0">
                <a:solidFill>
                  <a:srgbClr val="FFFFFF"/>
                </a:solidFill>
                <a:latin typeface="Calibri"/>
              </a:rPr>
              <a:t>ML-KEM keys: 0xE9...</a:t>
            </a:r>
          </a:p>
          <a:p>
            <a:pPr algn="l">
              <a:lnSpc>
                <a:spcPct val="140000"/>
              </a:lnSpc>
            </a:pPr>
            <a:r>
              <a:rPr sz="1050" b="0" i="0">
                <a:solidFill>
                  <a:srgbClr val="FFFFFF"/>
                </a:solidFill>
                <a:latin typeface="Calibri"/>
              </a:rPr>
              <a:t>OPA policy: retail-strict</a:t>
            </a:r>
          </a:p>
          <a:p>
            <a:pPr algn="l">
              <a:lnSpc>
                <a:spcPct val="140000"/>
              </a:lnSpc>
            </a:pPr>
            <a:r>
              <a:rPr sz="1050" b="0" i="0">
                <a:solidFill>
                  <a:srgbClr val="FFFFFF"/>
                </a:solidFill>
                <a:latin typeface="Calibri"/>
              </a:rPr>
              <a:t>Audit log: append-only</a:t>
            </a:r>
          </a:p>
        </p:txBody>
      </p:sp>
      <p:sp>
        <p:nvSpPr>
          <p:cNvPr id="28" name="Rounded Rectangle 27"/>
          <p:cNvSpPr/>
          <p:nvPr/>
        </p:nvSpPr>
        <p:spPr>
          <a:xfrm>
            <a:off x="457200" y="5577840"/>
            <a:ext cx="11274552" cy="7772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Cross-tenant data access is structurally impossible.  Each tenant's evidence pack contains only that tenant's data.  Generation time: &lt;10 minutes per framework, per tenant.</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New revenue line • Higher ACV • Defensive moat • Win-rate lift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14300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88720" y="100584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New revenue line per existing customer</a:t>
            </a:r>
          </a:p>
        </p:txBody>
      </p:sp>
      <p:sp>
        <p:nvSpPr>
          <p:cNvPr id="10" name="TextBox 9"/>
          <p:cNvSpPr txBox="1"/>
          <p:nvPr/>
        </p:nvSpPr>
        <p:spPr>
          <a:xfrm>
            <a:off x="1188720" y="135331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Embedded QBITEL SKU billable per concurrent seat. Revenue share with TCN.</a:t>
            </a:r>
          </a:p>
        </p:txBody>
      </p:sp>
      <p:sp>
        <p:nvSpPr>
          <p:cNvPr id="11" name="Oval 10"/>
          <p:cNvSpPr/>
          <p:nvPr/>
        </p:nvSpPr>
        <p:spPr>
          <a:xfrm>
            <a:off x="548640" y="214884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2" name="TextBox 11"/>
          <p:cNvSpPr txBox="1"/>
          <p:nvPr/>
        </p:nvSpPr>
        <p:spPr>
          <a:xfrm>
            <a:off x="1188720" y="201168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Higher ACV at quota-bag level</a:t>
            </a:r>
          </a:p>
        </p:txBody>
      </p:sp>
      <p:sp>
        <p:nvSpPr>
          <p:cNvPr id="13" name="TextBox 12"/>
          <p:cNvSpPr txBox="1"/>
          <p:nvPr/>
        </p:nvSpPr>
        <p:spPr>
          <a:xfrm>
            <a:off x="1188720" y="235915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AEs sell one platform; QBITEL adds materially to ACV — typical 15–30% ARR uplift on a BPO account.</a:t>
            </a:r>
          </a:p>
        </p:txBody>
      </p:sp>
      <p:sp>
        <p:nvSpPr>
          <p:cNvPr id="14" name="Oval 13"/>
          <p:cNvSpPr/>
          <p:nvPr/>
        </p:nvSpPr>
        <p:spPr>
          <a:xfrm>
            <a:off x="548640" y="315468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TextBox 14"/>
          <p:cNvSpPr txBox="1"/>
          <p:nvPr/>
        </p:nvSpPr>
        <p:spPr>
          <a:xfrm>
            <a:off x="1188720" y="301752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Defensive moat</a:t>
            </a:r>
          </a:p>
        </p:txBody>
      </p:sp>
      <p:sp>
        <p:nvSpPr>
          <p:cNvPr id="16" name="TextBox 15"/>
          <p:cNvSpPr txBox="1"/>
          <p:nvPr/>
        </p:nvSpPr>
        <p:spPr>
          <a:xfrm>
            <a:off x="1188720" y="336499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is the only CCaaS with embedded NIST Level 5 PQC and multi-tenant compliance automation" — a category-of-one positioning.</a:t>
            </a:r>
          </a:p>
        </p:txBody>
      </p:sp>
      <p:sp>
        <p:nvSpPr>
          <p:cNvPr id="17" name="Oval 16"/>
          <p:cNvSpPr/>
          <p:nvPr/>
        </p:nvSpPr>
        <p:spPr>
          <a:xfrm>
            <a:off x="548640" y="416052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8" name="TextBox 17"/>
          <p:cNvSpPr txBox="1"/>
          <p:nvPr/>
        </p:nvSpPr>
        <p:spPr>
          <a:xfrm>
            <a:off x="1188720" y="402336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RFP win-rate lift</a:t>
            </a:r>
          </a:p>
        </p:txBody>
      </p:sp>
      <p:sp>
        <p:nvSpPr>
          <p:cNvPr id="19" name="TextBox 18"/>
          <p:cNvSpPr txBox="1"/>
          <p:nvPr/>
        </p:nvSpPr>
        <p:spPr>
          <a:xfrm>
            <a:off x="1188720" y="437083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BPO and regulated-enterprise RFPs increasingly include PQC, multi-tenant compliance, and toll-fraud SLAs. TCN + QBITEL answers them; TCN alone has to caveat.</a:t>
            </a:r>
          </a:p>
        </p:txBody>
      </p:sp>
      <p:sp>
        <p:nvSpPr>
          <p:cNvPr id="20" name="Oval 19"/>
          <p:cNvSpPr/>
          <p:nvPr/>
        </p:nvSpPr>
        <p:spPr>
          <a:xfrm>
            <a:off x="548640" y="516636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21" name="TextBox 20"/>
          <p:cNvSpPr txBox="1"/>
          <p:nvPr/>
        </p:nvSpPr>
        <p:spPr>
          <a:xfrm>
            <a:off x="1188720" y="502920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Reduced churn on regulated accounts</a:t>
            </a:r>
          </a:p>
        </p:txBody>
      </p:sp>
      <p:sp>
        <p:nvSpPr>
          <p:cNvPr id="22" name="TextBox 21"/>
          <p:cNvSpPr txBox="1"/>
          <p:nvPr/>
        </p:nvSpPr>
        <p:spPr>
          <a:xfrm>
            <a:off x="1188720" y="537667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Compliance pack delivery removes a recurring pain point that often becomes a contract-renewal risk.</a:t>
            </a:r>
          </a:p>
        </p:txBody>
      </p:sp>
      <p:sp>
        <p:nvSpPr>
          <p:cNvPr id="23" name="Rectangle 2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6" name="TextBox 2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TCN'S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Where each customer pain meets a measurable QBITEL outcome</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457200" y="1005840"/>
            <a:ext cx="54864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CUSTOMER PAIN</a:t>
            </a:r>
          </a:p>
        </p:txBody>
      </p:sp>
      <p:sp>
        <p:nvSpPr>
          <p:cNvPr id="9" name="Rectangle 8"/>
          <p:cNvSpPr/>
          <p:nvPr/>
        </p:nvSpPr>
        <p:spPr>
          <a:xfrm>
            <a:off x="6035040" y="1005840"/>
            <a:ext cx="5696712"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WHAT THEY GET WITH QBITEL</a:t>
            </a:r>
          </a:p>
        </p:txBody>
      </p:sp>
      <p:sp>
        <p:nvSpPr>
          <p:cNvPr id="10" name="Rectangle 9"/>
          <p:cNvSpPr/>
          <p:nvPr/>
        </p:nvSpPr>
        <p:spPr>
          <a:xfrm>
            <a:off x="457200" y="1463040"/>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Toll-fraud surprises on monthly carrier invoice</a:t>
            </a:r>
          </a:p>
        </p:txBody>
      </p:sp>
      <p:sp>
        <p:nvSpPr>
          <p:cNvPr id="11" name="Rectangle 10"/>
          <p:cNvSpPr/>
          <p:nvPr/>
        </p:nvSpPr>
        <p:spPr>
          <a:xfrm>
            <a:off x="6035040" y="1463040"/>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Real-time blocking, &lt;1s detection, 30–60 day ROI on the QBITEL SKU</a:t>
            </a:r>
          </a:p>
        </p:txBody>
      </p:sp>
      <p:sp>
        <p:nvSpPr>
          <p:cNvPr id="12" name="Right Arrow 11"/>
          <p:cNvSpPr/>
          <p:nvPr/>
        </p:nvSpPr>
        <p:spPr>
          <a:xfrm>
            <a:off x="5760720" y="164592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21992"/>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Annual PCI-DSS audit costing $500K–$2M+</a:t>
            </a:r>
          </a:p>
        </p:txBody>
      </p:sp>
      <p:sp>
        <p:nvSpPr>
          <p:cNvPr id="14" name="Rectangle 13"/>
          <p:cNvSpPr/>
          <p:nvPr/>
        </p:nvSpPr>
        <p:spPr>
          <a:xfrm>
            <a:off x="6035040" y="2221992"/>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Up to 80% scope reduction; evidence pack in &lt;10 minutes</a:t>
            </a:r>
          </a:p>
        </p:txBody>
      </p:sp>
      <p:sp>
        <p:nvSpPr>
          <p:cNvPr id="15" name="Right Arrow 14"/>
          <p:cNvSpPr/>
          <p:nvPr/>
        </p:nvSpPr>
        <p:spPr>
          <a:xfrm>
            <a:off x="5760720" y="2404872"/>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80944"/>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Three enterprise clients = three separate audits</a:t>
            </a:r>
          </a:p>
        </p:txBody>
      </p:sp>
      <p:sp>
        <p:nvSpPr>
          <p:cNvPr id="17" name="Rectangle 16"/>
          <p:cNvSpPr/>
          <p:nvPr/>
        </p:nvSpPr>
        <p:spPr>
          <a:xfrm>
            <a:off x="6035040" y="2980944"/>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Per-tenant evidence packs; structural isolation; one platform</a:t>
            </a:r>
          </a:p>
        </p:txBody>
      </p:sp>
      <p:sp>
        <p:nvSpPr>
          <p:cNvPr id="18" name="Right Arrow 17"/>
          <p:cNvSpPr/>
          <p:nvPr/>
        </p:nvSpPr>
        <p:spPr>
          <a:xfrm>
            <a:off x="5760720" y="3163824"/>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39896"/>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Quantum harvest against 7-year recording retention</a:t>
            </a:r>
          </a:p>
        </p:txBody>
      </p:sp>
      <p:sp>
        <p:nvSpPr>
          <p:cNvPr id="20" name="Rectangle 19"/>
          <p:cNvSpPr/>
          <p:nvPr/>
        </p:nvSpPr>
        <p:spPr>
          <a:xfrm>
            <a:off x="6035040" y="3739896"/>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ML-KEM-1024 recording encryption from day one</a:t>
            </a:r>
          </a:p>
        </p:txBody>
      </p:sp>
      <p:sp>
        <p:nvSpPr>
          <p:cNvPr id="21" name="Right Arrow 20"/>
          <p:cNvSpPr/>
          <p:nvPr/>
        </p:nvSpPr>
        <p:spPr>
          <a:xfrm>
            <a:off x="5760720" y="3922776"/>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498848"/>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Insider exfiltration via clipboard, USB, screen, voice</a:t>
            </a:r>
          </a:p>
        </p:txBody>
      </p:sp>
      <p:sp>
        <p:nvSpPr>
          <p:cNvPr id="23" name="Rectangle 22"/>
          <p:cNvSpPr/>
          <p:nvPr/>
        </p:nvSpPr>
        <p:spPr>
          <a:xfrm>
            <a:off x="6035040" y="4498848"/>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Kernel-level DLP across 6 vectors</a:t>
            </a:r>
          </a:p>
        </p:txBody>
      </p:sp>
      <p:sp>
        <p:nvSpPr>
          <p:cNvPr id="24" name="Right Arrow 23"/>
          <p:cNvSpPr/>
          <p:nvPr/>
        </p:nvSpPr>
        <p:spPr>
          <a:xfrm>
            <a:off x="5760720" y="4681728"/>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257800"/>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Remote agents on consumer-grade home networks</a:t>
            </a:r>
          </a:p>
        </p:txBody>
      </p:sp>
      <p:sp>
        <p:nvSpPr>
          <p:cNvPr id="26" name="Rectangle 25"/>
          <p:cNvSpPr/>
          <p:nvPr/>
        </p:nvSpPr>
        <p:spPr>
          <a:xfrm>
            <a:off x="6035040" y="5257800"/>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VPN-less PQC tunnels with continuous posture checks</a:t>
            </a:r>
          </a:p>
        </p:txBody>
      </p:sp>
      <p:sp>
        <p:nvSpPr>
          <p:cNvPr id="27" name="Right Arrow 26"/>
          <p:cNvSpPr/>
          <p:nvPr/>
        </p:nvSpPr>
        <p:spPr>
          <a:xfrm>
            <a:off x="5760720" y="544068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COMMERCIAL MODELS — THREE OPTIONS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We are flexible — pick the structure that matches your existing partner motion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3999" y="1005840"/>
            <a:ext cx="3657600" cy="4937760"/>
          </a:xfrm>
          <a:prstGeom prst="roundRect">
            <a:avLst>
              <a:gd name="adj" fmla="val 12000"/>
            </a:avLst>
          </a:prstGeom>
          <a:solidFill>
            <a:srgbClr val="0D1B3E"/>
          </a:solidFill>
          <a:ln w="317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6879" y="1188720"/>
            <a:ext cx="777240" cy="77724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A</a:t>
            </a:r>
          </a:p>
        </p:txBody>
      </p:sp>
      <p:sp>
        <p:nvSpPr>
          <p:cNvPr id="10" name="TextBox 9"/>
          <p:cNvSpPr txBox="1"/>
          <p:nvPr/>
        </p:nvSpPr>
        <p:spPr>
          <a:xfrm>
            <a:off x="1505559"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D1B3E"/>
                </a:solidFill>
                <a:latin typeface="Calibri"/>
              </a:rPr>
              <a:t>EMBEDDED OEM</a:t>
            </a:r>
          </a:p>
        </p:txBody>
      </p:sp>
      <p:sp>
        <p:nvSpPr>
          <p:cNvPr id="11" name="TextBox 10"/>
          <p:cNvSpPr txBox="1"/>
          <p:nvPr/>
        </p:nvSpPr>
        <p:spPr>
          <a:xfrm>
            <a:off x="1505559"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FFFFFF"/>
                </a:solidFill>
                <a:latin typeface="Calibri"/>
              </a:rPr>
              <a:t>QBITEL ships as a tier of TCN Operator</a:t>
            </a:r>
          </a:p>
        </p:txBody>
      </p:sp>
      <p:sp>
        <p:nvSpPr>
          <p:cNvPr id="12" name="Rectangle 11"/>
          <p:cNvSpPr/>
          <p:nvPr/>
        </p:nvSpPr>
        <p:spPr>
          <a:xfrm>
            <a:off x="728319" y="2194560"/>
            <a:ext cx="3108960" cy="228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319" y="2377440"/>
            <a:ext cx="3108960" cy="3291840"/>
          </a:xfrm>
          <a:prstGeom prst="rect">
            <a:avLst/>
          </a:prstGeom>
          <a:noFill/>
        </p:spPr>
        <p:txBody>
          <a:bodyPr wrap="square">
            <a:spAutoFit/>
          </a:bodyPr>
          <a:lstStyle/>
          <a:p>
            <a:pPr algn="l">
              <a:lnSpc>
                <a:spcPct val="135000"/>
              </a:lnSpc>
            </a:pPr>
            <a:r>
              <a:rPr sz="1100" b="0">
                <a:solidFill>
                  <a:srgbClr val="FFFFFF"/>
                </a:solidFill>
                <a:latin typeface="Calibri"/>
              </a:rPr>
              <a:t>•  TCN bills customer; QBITEL revenue share</a:t>
            </a:r>
          </a:p>
          <a:p>
            <a:pPr algn="l">
              <a:lnSpc>
                <a:spcPct val="135000"/>
              </a:lnSpc>
            </a:pPr>
            <a:r>
              <a:rPr sz="1100" b="0">
                <a:solidFill>
                  <a:srgbClr val="FFFFFF"/>
                </a:solidFill>
                <a:latin typeface="Calibri"/>
              </a:rPr>
              <a:t>•  Strongest joint positioning</a:t>
            </a:r>
          </a:p>
          <a:p>
            <a:pPr algn="l">
              <a:lnSpc>
                <a:spcPct val="135000"/>
              </a:lnSpc>
            </a:pPr>
            <a:r>
              <a:rPr sz="1100" b="0">
                <a:solidFill>
                  <a:srgbClr val="FFFFFF"/>
                </a:solidFill>
                <a:latin typeface="Calibri"/>
              </a:rPr>
              <a:t>•  Fastest adoption velocity</a:t>
            </a:r>
          </a:p>
          <a:p>
            <a:pPr algn="l">
              <a:lnSpc>
                <a:spcPct val="135000"/>
              </a:lnSpc>
            </a:pPr>
            <a:r>
              <a:rPr sz="1100" b="1">
                <a:solidFill>
                  <a:srgbClr val="0D1B3E"/>
                </a:solidFill>
                <a:latin typeface="Calibri"/>
              </a:rPr>
              <a:t>★ Best for: long-term strategic partnership</a:t>
            </a:r>
          </a:p>
        </p:txBody>
      </p:sp>
      <p:sp>
        <p:nvSpPr>
          <p:cNvPr id="14" name="Rounded Rectangle 13"/>
          <p:cNvSpPr/>
          <p:nvPr/>
        </p:nvSpPr>
        <p:spPr>
          <a:xfrm>
            <a:off x="4267047" y="1005840"/>
            <a:ext cx="3657600" cy="4937760"/>
          </a:xfrm>
          <a:prstGeom prst="roundRect">
            <a:avLst>
              <a:gd name="adj" fmla="val 12000"/>
            </a:avLst>
          </a:prstGeom>
          <a:solidFill>
            <a:srgbClr val="F4F7F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49927" y="1188720"/>
            <a:ext cx="777240" cy="77724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B</a:t>
            </a:r>
          </a:p>
        </p:txBody>
      </p:sp>
      <p:sp>
        <p:nvSpPr>
          <p:cNvPr id="16" name="TextBox 15"/>
          <p:cNvSpPr txBox="1"/>
          <p:nvPr/>
        </p:nvSpPr>
        <p:spPr>
          <a:xfrm>
            <a:off x="5318607"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08B9A"/>
                </a:solidFill>
                <a:latin typeface="Calibri"/>
              </a:rPr>
              <a:t>MARKETPLACE</a:t>
            </a:r>
          </a:p>
        </p:txBody>
      </p:sp>
      <p:sp>
        <p:nvSpPr>
          <p:cNvPr id="17" name="TextBox 16"/>
          <p:cNvSpPr txBox="1"/>
          <p:nvPr/>
        </p:nvSpPr>
        <p:spPr>
          <a:xfrm>
            <a:off x="5318607"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Listed alongside Salesforce, Zendesk, ServiceNow…</a:t>
            </a:r>
          </a:p>
        </p:txBody>
      </p:sp>
      <p:sp>
        <p:nvSpPr>
          <p:cNvPr id="18" name="Rectangle 17"/>
          <p:cNvSpPr/>
          <p:nvPr/>
        </p:nvSpPr>
        <p:spPr>
          <a:xfrm>
            <a:off x="4541367" y="2194560"/>
            <a:ext cx="3108960" cy="2286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1367"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Customer opts in per account</a:t>
            </a:r>
          </a:p>
          <a:p>
            <a:pPr algn="l">
              <a:lnSpc>
                <a:spcPct val="135000"/>
              </a:lnSpc>
            </a:pPr>
            <a:r>
              <a:rPr sz="1100" b="0">
                <a:solidFill>
                  <a:srgbClr val="1A1A2E"/>
                </a:solidFill>
                <a:latin typeface="Calibri"/>
              </a:rPr>
              <a:t>•  Direct QBITEL ↔ customer contract</a:t>
            </a:r>
          </a:p>
          <a:p>
            <a:pPr algn="l">
              <a:lnSpc>
                <a:spcPct val="135000"/>
              </a:lnSpc>
            </a:pPr>
            <a:r>
              <a:rPr sz="1100" b="0">
                <a:solidFill>
                  <a:srgbClr val="1A1A2E"/>
                </a:solidFill>
                <a:latin typeface="Calibri"/>
              </a:rPr>
              <a:t>•  TCN receives platform / referral fee</a:t>
            </a:r>
          </a:p>
          <a:p>
            <a:pPr algn="l">
              <a:lnSpc>
                <a:spcPct val="135000"/>
              </a:lnSpc>
            </a:pPr>
            <a:r>
              <a:rPr sz="1100" b="1">
                <a:solidFill>
                  <a:srgbClr val="008B9A"/>
                </a:solidFill>
                <a:latin typeface="Calibri"/>
              </a:rPr>
              <a:t>★ Best for: incremental rollout, low TCN commitment</a:t>
            </a:r>
          </a:p>
        </p:txBody>
      </p:sp>
      <p:sp>
        <p:nvSpPr>
          <p:cNvPr id="20" name="Rounded Rectangle 19"/>
          <p:cNvSpPr/>
          <p:nvPr/>
        </p:nvSpPr>
        <p:spPr>
          <a:xfrm>
            <a:off x="8080095" y="1005840"/>
            <a:ext cx="3657600" cy="4937760"/>
          </a:xfrm>
          <a:prstGeom prst="roundRect">
            <a:avLst>
              <a:gd name="adj" fmla="val 12000"/>
            </a:avLst>
          </a:prstGeom>
          <a:solidFill>
            <a:srgbClr val="F4F7F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62975" y="1188720"/>
            <a:ext cx="777240" cy="77724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0D1B3E"/>
                </a:solidFill>
                <a:latin typeface="Calibri"/>
              </a:rPr>
              <a:t>C</a:t>
            </a:r>
          </a:p>
        </p:txBody>
      </p:sp>
      <p:sp>
        <p:nvSpPr>
          <p:cNvPr id="22" name="TextBox 21"/>
          <p:cNvSpPr txBox="1"/>
          <p:nvPr/>
        </p:nvSpPr>
        <p:spPr>
          <a:xfrm>
            <a:off x="9131655"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F0A500"/>
                </a:solidFill>
                <a:latin typeface="Calibri"/>
              </a:rPr>
              <a:t>REFERRAL / CO-SELL</a:t>
            </a:r>
          </a:p>
        </p:txBody>
      </p:sp>
      <p:sp>
        <p:nvSpPr>
          <p:cNvPr id="23" name="TextBox 22"/>
          <p:cNvSpPr txBox="1"/>
          <p:nvPr/>
        </p:nvSpPr>
        <p:spPr>
          <a:xfrm>
            <a:off x="9131655"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TCN sales refers qualified accounts to QBITEL</a:t>
            </a:r>
          </a:p>
        </p:txBody>
      </p:sp>
      <p:sp>
        <p:nvSpPr>
          <p:cNvPr id="24" name="Rectangle 23"/>
          <p:cNvSpPr/>
          <p:nvPr/>
        </p:nvSpPr>
        <p:spPr>
          <a:xfrm>
            <a:off x="8354415" y="2194560"/>
            <a:ext cx="3108960" cy="2286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4415"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Separate contracts, joint motions</a:t>
            </a:r>
          </a:p>
          <a:p>
            <a:pPr algn="l">
              <a:lnSpc>
                <a:spcPct val="135000"/>
              </a:lnSpc>
            </a:pPr>
            <a:r>
              <a:rPr sz="1100" b="0">
                <a:solidFill>
                  <a:srgbClr val="1A1A2E"/>
                </a:solidFill>
                <a:latin typeface="Calibri"/>
              </a:rPr>
              <a:t>•  Referral fee or rev-share per deal</a:t>
            </a:r>
          </a:p>
          <a:p>
            <a:pPr algn="l">
              <a:lnSpc>
                <a:spcPct val="135000"/>
              </a:lnSpc>
            </a:pPr>
            <a:r>
              <a:rPr sz="1100" b="0">
                <a:solidFill>
                  <a:srgbClr val="1A1A2E"/>
                </a:solidFill>
                <a:latin typeface="Calibri"/>
              </a:rPr>
              <a:t>•  Shared collateral, co-marketing</a:t>
            </a:r>
          </a:p>
          <a:p>
            <a:pPr algn="l">
              <a:lnSpc>
                <a:spcPct val="135000"/>
              </a:lnSpc>
            </a:pPr>
            <a:r>
              <a:rPr sz="1100" b="1">
                <a:solidFill>
                  <a:srgbClr val="F0A500"/>
                </a:solidFill>
                <a:latin typeface="Calibri"/>
              </a:rPr>
              <a:t>★ Best for: a fast first proof-point</a:t>
            </a:r>
          </a:p>
        </p:txBody>
      </p:sp>
      <p:sp>
        <p:nvSpPr>
          <p:cNvPr id="26" name="Rounded Rectangle 25"/>
          <p:cNvSpPr/>
          <p:nvPr/>
        </p:nvSpPr>
        <p:spPr>
          <a:xfrm>
            <a:off x="457200" y="6035040"/>
            <a:ext cx="11274552" cy="5029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Our recommendation: start with Option C or B for the first two quarters (validate demand + integration quality), graduate to Option A for the long term.</a:t>
            </a:r>
          </a:p>
        </p:txBody>
      </p:sp>
      <p:sp>
        <p:nvSpPr>
          <p:cNvPr id="27" name="Rectangle 26"/>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0" name="TextBox 29"/>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TECHNICAL RISKS &amp; MITIGATIONS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questions a VP of Technology should ask — with our honest answers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Voice quality impact?</a:t>
            </a:r>
          </a:p>
        </p:txBody>
      </p:sp>
      <p:sp>
        <p:nvSpPr>
          <p:cNvPr id="10" name="TextBox 9"/>
          <p:cNvSpPr txBox="1"/>
          <p:nvPr/>
        </p:nvSpPr>
        <p:spPr>
          <a:xfrm>
            <a:off x="64008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PQC overhead is &lt;2ms — within ITU-T G.114 budget. MOS measured before/after on every deployment. Passive by default.</a:t>
            </a:r>
          </a:p>
        </p:txBody>
      </p:sp>
      <p:sp>
        <p:nvSpPr>
          <p:cNvPr id="11" name="Rounded Rectangle 10"/>
          <p:cNvSpPr/>
          <p:nvPr/>
        </p:nvSpPr>
        <p:spPr>
          <a:xfrm>
            <a:off x="612648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New failure mode for voice path?</a:t>
            </a:r>
          </a:p>
        </p:txBody>
      </p:sp>
      <p:sp>
        <p:nvSpPr>
          <p:cNvPr id="13" name="TextBox 12"/>
          <p:cNvSpPr txBox="1"/>
          <p:nvPr/>
        </p:nvSpPr>
        <p:spPr>
          <a:xfrm>
            <a:off x="630936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Default mirror topology = QBITEL down has zero voice impact. Inline PQC fails open by default; fail-closed is opt-in per tenant.</a:t>
            </a:r>
          </a:p>
        </p:txBody>
      </p:sp>
      <p:sp>
        <p:nvSpPr>
          <p:cNvPr id="14" name="Rounded Rectangle 13"/>
          <p:cNvSpPr/>
          <p:nvPr/>
        </p:nvSpPr>
        <p:spPr>
          <a:xfrm>
            <a:off x="45720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Latency on Synapse webhook engine?</a:t>
            </a:r>
          </a:p>
        </p:txBody>
      </p:sp>
      <p:sp>
        <p:nvSpPr>
          <p:cNvPr id="16" name="TextBox 15"/>
          <p:cNvSpPr txBox="1"/>
          <p:nvPr/>
        </p:nvSpPr>
        <p:spPr>
          <a:xfrm>
            <a:off x="64008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QBITEL subscribes asynchronously. Webhooks fire at TCN's normal latency; QBITEL processes out-of-band. No back-pressure.</a:t>
            </a:r>
          </a:p>
        </p:txBody>
      </p:sp>
      <p:sp>
        <p:nvSpPr>
          <p:cNvPr id="17" name="Rounded Rectangle 16"/>
          <p:cNvSpPr/>
          <p:nvPr/>
        </p:nvSpPr>
        <p:spPr>
          <a:xfrm>
            <a:off x="612648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CSM team has to learn a new product?</a:t>
            </a:r>
          </a:p>
        </p:txBody>
      </p:sp>
      <p:sp>
        <p:nvSpPr>
          <p:cNvPr id="19" name="TextBox 18"/>
          <p:cNvSpPr txBox="1"/>
          <p:nvPr/>
        </p:nvSpPr>
        <p:spPr>
          <a:xfrm>
            <a:off x="630936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"Security &amp; Compliance" tab is iframe + SSO inside TCN Operator. CSM training is a 1-hour session.</a:t>
            </a:r>
          </a:p>
        </p:txBody>
      </p:sp>
      <p:sp>
        <p:nvSpPr>
          <p:cNvPr id="20" name="Rounded Rectangle 19"/>
          <p:cNvSpPr/>
          <p:nvPr/>
        </p:nvSpPr>
        <p:spPr>
          <a:xfrm>
            <a:off x="45720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Data residency / regulated geos?</a:t>
            </a:r>
          </a:p>
        </p:txBody>
      </p:sp>
      <p:sp>
        <p:nvSpPr>
          <p:cNvPr id="22" name="TextBox 21"/>
          <p:cNvSpPr txBox="1"/>
          <p:nvPr/>
        </p:nvSpPr>
        <p:spPr>
          <a:xfrm>
            <a:off x="64008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Three topologies: TCN-hosted, customer-hosted (on-prem), hybrid. On-prem uses Ollama LLM — zero cloud egress.</a:t>
            </a:r>
          </a:p>
        </p:txBody>
      </p:sp>
      <p:sp>
        <p:nvSpPr>
          <p:cNvPr id="23" name="Rounded Rectangle 22"/>
          <p:cNvSpPr/>
          <p:nvPr/>
        </p:nvSpPr>
        <p:spPr>
          <a:xfrm>
            <a:off x="612648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What if a tenant wants to leave?</a:t>
            </a:r>
          </a:p>
        </p:txBody>
      </p:sp>
      <p:sp>
        <p:nvSpPr>
          <p:cNvPr id="25" name="TextBox 24"/>
          <p:cNvSpPr txBox="1"/>
          <p:nvPr/>
        </p:nvSpPr>
        <p:spPr>
          <a:xfrm>
            <a:off x="630936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Opt-out is a flag on the tenant; QBITEL stops processing within minutes. Evidence pack exported per contract.</a:t>
            </a:r>
          </a:p>
        </p:txBody>
      </p:sp>
      <p:sp>
        <p:nvSpPr>
          <p:cNvPr id="26" name="Rounded Rectangle 25"/>
          <p:cNvSpPr/>
          <p:nvPr/>
        </p:nvSpPr>
        <p:spPr>
          <a:xfrm>
            <a:off x="45720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Liability if QBITEL incorrectly flags fraud?</a:t>
            </a:r>
          </a:p>
        </p:txBody>
      </p:sp>
      <p:sp>
        <p:nvSpPr>
          <p:cNvPr id="28" name="TextBox 27"/>
          <p:cNvSpPr txBox="1"/>
          <p:nvPr/>
        </p:nvSpPr>
        <p:spPr>
          <a:xfrm>
            <a:off x="64008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Tenant-configurable: block+alert / alert-only / alert+recommend. Default in early rollout is alert-only; auto-block is opt-in.</a:t>
            </a:r>
          </a:p>
        </p:txBody>
      </p:sp>
      <p:sp>
        <p:nvSpPr>
          <p:cNvPr id="29" name="Rounded Rectangle 28"/>
          <p:cNvSpPr/>
          <p:nvPr/>
        </p:nvSpPr>
        <p:spPr>
          <a:xfrm>
            <a:off x="612648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GA-stable? Production references?</a:t>
            </a:r>
          </a:p>
        </p:txBody>
      </p:sp>
      <p:sp>
        <p:nvSpPr>
          <p:cNvPr id="31" name="TextBox 30"/>
          <p:cNvSpPr txBox="1"/>
          <p:nvPr/>
        </p:nvSpPr>
        <p:spPr>
          <a:xfrm>
            <a:off x="630936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In production at BPO and FS accounts (references under NDA). Multi-tenant hardened with audit-grade evidence.</a:t>
            </a:r>
          </a:p>
        </p:txBody>
      </p:sp>
      <p:sp>
        <p:nvSpPr>
          <p:cNvPr id="32" name="Rectangle 3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5" name="TextBox 3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POC PLAN — 4-WEEK JOINT SPRINT</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One engineer from each side + one pilot customer = working demo</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81431"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1431"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1</a:t>
            </a:r>
          </a:p>
        </p:txBody>
      </p:sp>
      <p:sp>
        <p:nvSpPr>
          <p:cNvPr id="10" name="TextBox 9"/>
          <p:cNvSpPr txBox="1"/>
          <p:nvPr/>
        </p:nvSpPr>
        <p:spPr>
          <a:xfrm>
            <a:off x="481431"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INTEGRATION SPRINT</a:t>
            </a:r>
          </a:p>
        </p:txBody>
      </p:sp>
      <p:sp>
        <p:nvSpPr>
          <p:cNvPr id="11" name="TextBox 10"/>
          <p:cNvSpPr txBox="1"/>
          <p:nvPr/>
        </p:nvSpPr>
        <p:spPr>
          <a:xfrm>
            <a:off x="664311"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Synapse webhook subscription set up</a:t>
            </a:r>
          </a:p>
          <a:p>
            <a:pPr algn="l">
              <a:lnSpc>
                <a:spcPct val="140000"/>
              </a:lnSpc>
            </a:pPr>
            <a:r>
              <a:rPr sz="1050">
                <a:solidFill>
                  <a:srgbClr val="1A1A2E"/>
                </a:solidFill>
                <a:latin typeface="Calibri"/>
              </a:rPr>
              <a:t>✓  REST API auth handshake validated</a:t>
            </a:r>
          </a:p>
          <a:p>
            <a:pPr algn="l">
              <a:lnSpc>
                <a:spcPct val="140000"/>
              </a:lnSpc>
            </a:pPr>
            <a:r>
              <a:rPr sz="1050">
                <a:solidFill>
                  <a:srgbClr val="1A1A2E"/>
                </a:solidFill>
                <a:latin typeface="Calibri"/>
              </a:rPr>
              <a:t>✓  One CRM hook (e.g., Salesforce) integrated</a:t>
            </a:r>
          </a:p>
          <a:p>
            <a:pPr algn="l">
              <a:lnSpc>
                <a:spcPct val="140000"/>
              </a:lnSpc>
            </a:pPr>
            <a:r>
              <a:rPr sz="1050">
                <a:solidFill>
                  <a:srgbClr val="1A1A2E"/>
                </a:solidFill>
                <a:latin typeface="Calibri"/>
              </a:rPr>
              <a:t>✓  SSO configured for console tab</a:t>
            </a:r>
          </a:p>
        </p:txBody>
      </p:sp>
      <p:sp>
        <p:nvSpPr>
          <p:cNvPr id="12" name="Right Arrow 11"/>
          <p:cNvSpPr/>
          <p:nvPr/>
        </p:nvSpPr>
        <p:spPr>
          <a:xfrm>
            <a:off x="3188055"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25215" y="1005840"/>
            <a:ext cx="2697480" cy="3657600"/>
          </a:xfrm>
          <a:prstGeom prst="roundRect">
            <a:avLst>
              <a:gd name="adj" fmla="val 12000"/>
            </a:avLst>
          </a:prstGeom>
          <a:solidFill>
            <a:srgbClr val="F4F7FA"/>
          </a:solidFill>
          <a:ln w="254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25215" y="1005840"/>
            <a:ext cx="2697480"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2</a:t>
            </a:r>
          </a:p>
        </p:txBody>
      </p:sp>
      <p:sp>
        <p:nvSpPr>
          <p:cNvPr id="15" name="TextBox 14"/>
          <p:cNvSpPr txBox="1"/>
          <p:nvPr/>
        </p:nvSpPr>
        <p:spPr>
          <a:xfrm>
            <a:off x="3325215"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CAPABILITY ACTIVATION</a:t>
            </a:r>
          </a:p>
        </p:txBody>
      </p:sp>
      <p:sp>
        <p:nvSpPr>
          <p:cNvPr id="16" name="TextBox 15"/>
          <p:cNvSpPr txBox="1"/>
          <p:nvPr/>
        </p:nvSpPr>
        <p:spPr>
          <a:xfrm>
            <a:off x="3508095"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Toll-fraud detection on one outbound campaign</a:t>
            </a:r>
          </a:p>
          <a:p>
            <a:pPr algn="l">
              <a:lnSpc>
                <a:spcPct val="140000"/>
              </a:lnSpc>
            </a:pPr>
            <a:r>
              <a:rPr sz="1050">
                <a:solidFill>
                  <a:srgbClr val="1A1A2E"/>
                </a:solidFill>
                <a:latin typeface="Calibri"/>
              </a:rPr>
              <a:t>✓  DTMF masking on one payment-handling skill</a:t>
            </a:r>
          </a:p>
          <a:p>
            <a:pPr algn="l">
              <a:lnSpc>
                <a:spcPct val="140000"/>
              </a:lnSpc>
            </a:pPr>
            <a:r>
              <a:rPr sz="1050">
                <a:solidFill>
                  <a:srgbClr val="1A1A2E"/>
                </a:solidFill>
                <a:latin typeface="Calibri"/>
              </a:rPr>
              <a:t>✓  Agent DLP rolled out to 10 pilot endpoints</a:t>
            </a:r>
          </a:p>
          <a:p>
            <a:pPr algn="l">
              <a:lnSpc>
                <a:spcPct val="140000"/>
              </a:lnSpc>
            </a:pPr>
            <a:r>
              <a:rPr sz="1050">
                <a:solidFill>
                  <a:srgbClr val="1A1A2E"/>
                </a:solidFill>
                <a:latin typeface="Calibri"/>
              </a:rPr>
              <a:t>✓  PQC overlay verified on test trunk</a:t>
            </a:r>
          </a:p>
        </p:txBody>
      </p:sp>
      <p:sp>
        <p:nvSpPr>
          <p:cNvPr id="17" name="Right Arrow 16"/>
          <p:cNvSpPr/>
          <p:nvPr/>
        </p:nvSpPr>
        <p:spPr>
          <a:xfrm>
            <a:off x="6031839"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68999" y="1005840"/>
            <a:ext cx="2697480" cy="3657600"/>
          </a:xfrm>
          <a:prstGeom prst="roundRect">
            <a:avLst>
              <a:gd name="adj" fmla="val 12000"/>
            </a:avLst>
          </a:prstGeom>
          <a:solidFill>
            <a:srgbClr val="F4F7FA"/>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8999" y="1005840"/>
            <a:ext cx="2697480" cy="54864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WEEK 3</a:t>
            </a:r>
          </a:p>
        </p:txBody>
      </p:sp>
      <p:sp>
        <p:nvSpPr>
          <p:cNvPr id="20" name="TextBox 19"/>
          <p:cNvSpPr txBox="1"/>
          <p:nvPr/>
        </p:nvSpPr>
        <p:spPr>
          <a:xfrm>
            <a:off x="6168999"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MULTI-TENANT DEMO</a:t>
            </a:r>
          </a:p>
        </p:txBody>
      </p:sp>
      <p:sp>
        <p:nvSpPr>
          <p:cNvPr id="21" name="TextBox 20"/>
          <p:cNvSpPr txBox="1"/>
          <p:nvPr/>
        </p:nvSpPr>
        <p:spPr>
          <a:xfrm>
            <a:off x="6351879"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Two logical tenants configured in QBITEL</a:t>
            </a:r>
          </a:p>
          <a:p>
            <a:pPr algn="l">
              <a:lnSpc>
                <a:spcPct val="140000"/>
              </a:lnSpc>
            </a:pPr>
            <a:r>
              <a:rPr sz="1050">
                <a:solidFill>
                  <a:srgbClr val="1A1A2E"/>
                </a:solidFill>
                <a:latin typeface="Calibri"/>
              </a:rPr>
              <a:t>✓  Per-tenant policy + key + audit isolation verified</a:t>
            </a:r>
          </a:p>
          <a:p>
            <a:pPr algn="l">
              <a:lnSpc>
                <a:spcPct val="140000"/>
              </a:lnSpc>
            </a:pPr>
            <a:r>
              <a:rPr sz="1050">
                <a:solidFill>
                  <a:srgbClr val="1A1A2E"/>
                </a:solidFill>
                <a:latin typeface="Calibri"/>
              </a:rPr>
              <a:t>✓  Compliance evidence pack generated per tenant</a:t>
            </a:r>
          </a:p>
          <a:p>
            <a:pPr algn="l">
              <a:lnSpc>
                <a:spcPct val="140000"/>
              </a:lnSpc>
            </a:pPr>
            <a:r>
              <a:rPr sz="1050">
                <a:solidFill>
                  <a:srgbClr val="1A1A2E"/>
                </a:solidFill>
                <a:latin typeface="Calibri"/>
              </a:rPr>
              <a:t>✓  Cross-tenant access negative test</a:t>
            </a:r>
          </a:p>
        </p:txBody>
      </p:sp>
      <p:sp>
        <p:nvSpPr>
          <p:cNvPr id="22" name="Right Arrow 21"/>
          <p:cNvSpPr/>
          <p:nvPr/>
        </p:nvSpPr>
        <p:spPr>
          <a:xfrm>
            <a:off x="8875623"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12783"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2783"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4</a:t>
            </a:r>
          </a:p>
        </p:txBody>
      </p:sp>
      <p:sp>
        <p:nvSpPr>
          <p:cNvPr id="25" name="TextBox 24"/>
          <p:cNvSpPr txBox="1"/>
          <p:nvPr/>
        </p:nvSpPr>
        <p:spPr>
          <a:xfrm>
            <a:off x="9012783"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REVIEW</a:t>
            </a:r>
          </a:p>
        </p:txBody>
      </p:sp>
      <p:sp>
        <p:nvSpPr>
          <p:cNvPr id="26" name="TextBox 25"/>
          <p:cNvSpPr txBox="1"/>
          <p:nvPr/>
        </p:nvSpPr>
        <p:spPr>
          <a:xfrm>
            <a:off x="9195663"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Technical readout with TCN eng / product / security</a:t>
            </a:r>
          </a:p>
          <a:p>
            <a:pPr algn="l">
              <a:lnSpc>
                <a:spcPct val="140000"/>
              </a:lnSpc>
            </a:pPr>
            <a:r>
              <a:rPr sz="1050">
                <a:solidFill>
                  <a:srgbClr val="1A1A2E"/>
                </a:solidFill>
                <a:latin typeface="Calibri"/>
              </a:rPr>
              <a:t>✓  Customer feedback session with pilot BPO</a:t>
            </a:r>
          </a:p>
          <a:p>
            <a:pPr algn="l">
              <a:lnSpc>
                <a:spcPct val="140000"/>
              </a:lnSpc>
            </a:pPr>
            <a:r>
              <a:rPr sz="1050">
                <a:solidFill>
                  <a:srgbClr val="1A1A2E"/>
                </a:solidFill>
                <a:latin typeface="Calibri"/>
              </a:rPr>
              <a:t>✓  Decision: proceed to commercial structure</a:t>
            </a:r>
          </a:p>
          <a:p>
            <a:pPr algn="l">
              <a:lnSpc>
                <a:spcPct val="140000"/>
              </a:lnSpc>
            </a:pPr>
            <a:r>
              <a:rPr sz="1050">
                <a:solidFill>
                  <a:srgbClr val="1A1A2E"/>
                </a:solidFill>
                <a:latin typeface="Calibri"/>
              </a:rPr>
              <a:t>✓  Joint go-to-market plan drafted</a:t>
            </a:r>
          </a:p>
        </p:txBody>
      </p:sp>
      <p:sp>
        <p:nvSpPr>
          <p:cNvPr id="27" name="Rounded Rectangle 26"/>
          <p:cNvSpPr/>
          <p:nvPr/>
        </p:nvSpPr>
        <p:spPr>
          <a:xfrm>
            <a:off x="457200" y="4846320"/>
            <a:ext cx="11274552" cy="173736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937760"/>
            <a:ext cx="22860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SUCCESS CRITERIA</a:t>
            </a:r>
          </a:p>
        </p:txBody>
      </p:sp>
      <p:sp>
        <p:nvSpPr>
          <p:cNvPr id="29" name="TextBox 28"/>
          <p:cNvSpPr txBox="1"/>
          <p:nvPr/>
        </p:nvSpPr>
        <p:spPr>
          <a:xfrm>
            <a:off x="640080" y="5303520"/>
            <a:ext cx="10972800" cy="1280160"/>
          </a:xfrm>
          <a:prstGeom prst="rect">
            <a:avLst/>
          </a:prstGeom>
          <a:noFill/>
        </p:spPr>
        <p:txBody>
          <a:bodyPr wrap="square">
            <a:spAutoFit/>
          </a:bodyPr>
          <a:lstStyle/>
          <a:p>
            <a:pPr algn="l">
              <a:lnSpc>
                <a:spcPct val="130000"/>
              </a:lnSpc>
            </a:pPr>
            <a:r>
              <a:rPr sz="1100">
                <a:solidFill>
                  <a:srgbClr val="FFFFFF"/>
                </a:solidFill>
                <a:latin typeface="Calibri"/>
              </a:rPr>
              <a:t>◆  Integration non-disruptive to TCN data plane (verified by latency + MOS measurement)</a:t>
            </a:r>
          </a:p>
          <a:p>
            <a:pPr algn="l">
              <a:lnSpc>
                <a:spcPct val="130000"/>
              </a:lnSpc>
            </a:pPr>
            <a:r>
              <a:rPr sz="1100">
                <a:solidFill>
                  <a:srgbClr val="FFFFFF"/>
                </a:solidFill>
                <a:latin typeface="Calibri"/>
              </a:rPr>
              <a:t>◆  Pilot customer attests the console tab is usable inside TCN Operator with no training</a:t>
            </a:r>
          </a:p>
          <a:p>
            <a:pPr algn="l">
              <a:lnSpc>
                <a:spcPct val="130000"/>
              </a:lnSpc>
            </a:pPr>
            <a:r>
              <a:rPr sz="1100">
                <a:solidFill>
                  <a:srgbClr val="FFFFFF"/>
                </a:solidFill>
                <a:latin typeface="Calibri"/>
              </a:rPr>
              <a:t>◆  Demonstrated end-to-end: one toll-fraud block + one DTMF-masked payment + one per-tenant compliance pack</a:t>
            </a:r>
          </a:p>
          <a:p>
            <a:pPr algn="l">
              <a:lnSpc>
                <a:spcPct val="130000"/>
              </a:lnSpc>
            </a:pPr>
            <a:r>
              <a:rPr sz="1100">
                <a:solidFill>
                  <a:srgbClr val="FFFFFF"/>
                </a:solidFill>
                <a:latin typeface="Calibri"/>
              </a:rPr>
              <a:t>◆  Joint commercial path identified and agreed</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NEXT STEPS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If today's conversation is productive, here is the path forward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731520" y="2286000"/>
            <a:ext cx="10698480"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1</a:t>
            </a:r>
          </a:p>
        </p:txBody>
      </p:sp>
      <p:sp>
        <p:nvSpPr>
          <p:cNvPr id="10" name="Rounded Rectangle 9"/>
          <p:cNvSpPr/>
          <p:nvPr/>
        </p:nvSpPr>
        <p:spPr>
          <a:xfrm>
            <a:off x="4572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 WEEK</a:t>
            </a:r>
          </a:p>
        </p:txBody>
      </p:sp>
      <p:sp>
        <p:nvSpPr>
          <p:cNvPr id="11" name="TextBox 10"/>
          <p:cNvSpPr txBox="1"/>
          <p:nvPr/>
        </p:nvSpPr>
        <p:spPr>
          <a:xfrm>
            <a:off x="1828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MUTUAL NDA + REFERENCES</a:t>
            </a:r>
          </a:p>
        </p:txBody>
      </p:sp>
      <p:sp>
        <p:nvSpPr>
          <p:cNvPr id="12" name="TextBox 11"/>
          <p:cNvSpPr txBox="1"/>
          <p:nvPr/>
        </p:nvSpPr>
        <p:spPr>
          <a:xfrm>
            <a:off x="1828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Mutual NDA in place. QBITEL shares technical reference architecture under NDA, plus customer references.</a:t>
            </a:r>
          </a:p>
        </p:txBody>
      </p:sp>
      <p:sp>
        <p:nvSpPr>
          <p:cNvPr id="13" name="Oval 12"/>
          <p:cNvSpPr/>
          <p:nvPr/>
        </p:nvSpPr>
        <p:spPr>
          <a:xfrm>
            <a:off x="34747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2</a:t>
            </a:r>
          </a:p>
        </p:txBody>
      </p:sp>
      <p:sp>
        <p:nvSpPr>
          <p:cNvPr id="14" name="Rounded Rectangle 13"/>
          <p:cNvSpPr/>
          <p:nvPr/>
        </p:nvSpPr>
        <p:spPr>
          <a:xfrm>
            <a:off x="32004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2 WEEKS</a:t>
            </a:r>
          </a:p>
        </p:txBody>
      </p:sp>
      <p:sp>
        <p:nvSpPr>
          <p:cNvPr id="15" name="TextBox 14"/>
          <p:cNvSpPr txBox="1"/>
          <p:nvPr/>
        </p:nvSpPr>
        <p:spPr>
          <a:xfrm>
            <a:off x="29260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TECHNICAL SCOPING CALL</a:t>
            </a:r>
          </a:p>
        </p:txBody>
      </p:sp>
      <p:sp>
        <p:nvSpPr>
          <p:cNvPr id="16" name="TextBox 15"/>
          <p:cNvSpPr txBox="1"/>
          <p:nvPr/>
        </p:nvSpPr>
        <p:spPr>
          <a:xfrm>
            <a:off x="29260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Joint scoping call: TCN engineering + QBITEL integration team. Confirm seams; pick pilot customer.</a:t>
            </a:r>
          </a:p>
        </p:txBody>
      </p:sp>
      <p:sp>
        <p:nvSpPr>
          <p:cNvPr id="17" name="Oval 16"/>
          <p:cNvSpPr/>
          <p:nvPr/>
        </p:nvSpPr>
        <p:spPr>
          <a:xfrm>
            <a:off x="62179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3</a:t>
            </a:r>
          </a:p>
        </p:txBody>
      </p:sp>
      <p:sp>
        <p:nvSpPr>
          <p:cNvPr id="18" name="Rounded Rectangle 17"/>
          <p:cNvSpPr/>
          <p:nvPr/>
        </p:nvSpPr>
        <p:spPr>
          <a:xfrm>
            <a:off x="59436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4 WEEKS</a:t>
            </a:r>
          </a:p>
        </p:txBody>
      </p:sp>
      <p:sp>
        <p:nvSpPr>
          <p:cNvPr id="19" name="TextBox 18"/>
          <p:cNvSpPr txBox="1"/>
          <p:nvPr/>
        </p:nvSpPr>
        <p:spPr>
          <a:xfrm>
            <a:off x="56692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POC KICKOFF</a:t>
            </a:r>
          </a:p>
        </p:txBody>
      </p:sp>
      <p:sp>
        <p:nvSpPr>
          <p:cNvPr id="20" name="TextBox 19"/>
          <p:cNvSpPr txBox="1"/>
          <p:nvPr/>
        </p:nvSpPr>
        <p:spPr>
          <a:xfrm>
            <a:off x="56692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Four-week joint sprint per the prior slide.</a:t>
            </a:r>
          </a:p>
        </p:txBody>
      </p:sp>
      <p:sp>
        <p:nvSpPr>
          <p:cNvPr id="21" name="Oval 20"/>
          <p:cNvSpPr/>
          <p:nvPr/>
        </p:nvSpPr>
        <p:spPr>
          <a:xfrm>
            <a:off x="89611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4</a:t>
            </a:r>
          </a:p>
        </p:txBody>
      </p:sp>
      <p:sp>
        <p:nvSpPr>
          <p:cNvPr id="22" name="Rounded Rectangle 21"/>
          <p:cNvSpPr/>
          <p:nvPr/>
        </p:nvSpPr>
        <p:spPr>
          <a:xfrm>
            <a:off x="86868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12 WEEKS</a:t>
            </a:r>
          </a:p>
        </p:txBody>
      </p:sp>
      <p:sp>
        <p:nvSpPr>
          <p:cNvPr id="23" name="TextBox 22"/>
          <p:cNvSpPr txBox="1"/>
          <p:nvPr/>
        </p:nvSpPr>
        <p:spPr>
          <a:xfrm>
            <a:off x="84124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GO/NO-GO</a:t>
            </a:r>
          </a:p>
        </p:txBody>
      </p:sp>
      <p:sp>
        <p:nvSpPr>
          <p:cNvPr id="24" name="TextBox 23"/>
          <p:cNvSpPr txBox="1"/>
          <p:nvPr/>
        </p:nvSpPr>
        <p:spPr>
          <a:xfrm>
            <a:off x="84124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Decision on commercial structure (Option A / B / C) and roadmap to GA partnership.</a:t>
            </a:r>
          </a:p>
        </p:txBody>
      </p:sp>
      <p:sp>
        <p:nvSpPr>
          <p:cNvPr id="25" name="Rounded Rectangle 24"/>
          <p:cNvSpPr/>
          <p:nvPr/>
        </p:nvSpPr>
        <p:spPr>
          <a:xfrm>
            <a:off x="457200" y="475488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846320"/>
            <a:ext cx="32004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WE'D LIKE FROM THIS MEETING</a:t>
            </a:r>
          </a:p>
        </p:txBody>
      </p:sp>
      <p:sp>
        <p:nvSpPr>
          <p:cNvPr id="27" name="TextBox 26"/>
          <p:cNvSpPr txBox="1"/>
          <p:nvPr/>
        </p:nvSpPr>
        <p:spPr>
          <a:xfrm>
            <a:off x="640080" y="5212080"/>
            <a:ext cx="10972800" cy="1371600"/>
          </a:xfrm>
          <a:prstGeom prst="rect">
            <a:avLst/>
          </a:prstGeom>
          <a:noFill/>
        </p:spPr>
        <p:txBody>
          <a:bodyPr wrap="square">
            <a:spAutoFit/>
          </a:bodyPr>
          <a:lstStyle/>
          <a:p>
            <a:pPr algn="l">
              <a:lnSpc>
                <a:spcPct val="135000"/>
              </a:lnSpc>
            </a:pPr>
            <a:r>
              <a:rPr sz="1200">
                <a:solidFill>
                  <a:srgbClr val="FFFFFF"/>
                </a:solidFill>
                <a:latin typeface="Calibri"/>
              </a:rPr>
              <a:t>▸  Your initial reaction to the integration architecture</a:t>
            </a:r>
          </a:p>
          <a:p>
            <a:pPr algn="l">
              <a:lnSpc>
                <a:spcPct val="135000"/>
              </a:lnSpc>
            </a:pPr>
            <a:r>
              <a:rPr sz="1200">
                <a:solidFill>
                  <a:srgbClr val="FFFFFF"/>
                </a:solidFill>
                <a:latin typeface="Calibri"/>
              </a:rPr>
              <a:t>▸  Confirmation (or correction) of our understanding of TCN Operator</a:t>
            </a:r>
          </a:p>
          <a:p>
            <a:pPr algn="l">
              <a:lnSpc>
                <a:spcPct val="135000"/>
              </a:lnSpc>
            </a:pPr>
            <a:r>
              <a:rPr sz="1200">
                <a:solidFill>
                  <a:srgbClr val="FFFFFF"/>
                </a:solidFill>
                <a:latin typeface="Calibri"/>
              </a:rPr>
              <a:t>▸  Pointer to the right TCN counterpart for the Week-1 scoping call</a:t>
            </a:r>
          </a:p>
          <a:p>
            <a:pPr algn="l">
              <a:lnSpc>
                <a:spcPct val="135000"/>
              </a:lnSpc>
            </a:pPr>
            <a:r>
              <a:rPr sz="1200">
                <a:solidFill>
                  <a:srgbClr val="FFFFFF"/>
                </a:solidFill>
                <a:latin typeface="Calibri"/>
              </a:rPr>
              <a:t>▸  Indication of which commercial model is most natural for TCN today</a:t>
            </a: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1371600"/>
          </a:xfrm>
          <a:prstGeom prst="rect">
            <a:avLst/>
          </a:prstGeom>
          <a:noFill/>
        </p:spPr>
        <p:txBody>
          <a:bodyPr wrap="square" lIns="50800" rIns="50800" tIns="25400" bIns="25400" anchor="ctr">
            <a:spAutoFit/>
          </a:bodyPr>
          <a:lstStyle/>
          <a:p>
            <a:pPr algn="ctr">
              <a:lnSpc>
                <a:spcPct val="115000"/>
              </a:lnSpc>
            </a:pPr>
            <a:r>
              <a:rPr sz="5600" b="1" i="0">
                <a:solidFill>
                  <a:srgbClr val="FFFFFF"/>
                </a:solidFill>
                <a:latin typeface="Calibri"/>
              </a:rPr>
              <a:t>Thank You</a:t>
            </a:r>
          </a:p>
        </p:txBody>
      </p:sp>
      <p:sp>
        <p:nvSpPr>
          <p:cNvPr id="5" name="TextBox 4"/>
          <p:cNvSpPr txBox="1"/>
          <p:nvPr/>
        </p:nvSpPr>
        <p:spPr>
          <a:xfrm>
            <a:off x="457200" y="2468880"/>
            <a:ext cx="11274552" cy="457200"/>
          </a:xfrm>
          <a:prstGeom prst="rect">
            <a:avLst/>
          </a:prstGeom>
          <a:noFill/>
        </p:spPr>
        <p:txBody>
          <a:bodyPr wrap="square" lIns="50800" rIns="50800" tIns="25400" bIns="25400" anchor="ctr">
            <a:spAutoFit/>
          </a:bodyPr>
          <a:lstStyle/>
          <a:p>
            <a:pPr algn="ctr">
              <a:lnSpc>
                <a:spcPct val="115000"/>
              </a:lnSpc>
            </a:pPr>
            <a:r>
              <a:rPr sz="1500" b="0" i="1">
                <a:solidFill>
                  <a:srgbClr val="CDE8EC"/>
                </a:solidFill>
                <a:latin typeface="Calibri"/>
              </a:rPr>
              <a:t>Let us build the joint motion that makes TCN the only CCaaS with embedded quantum-safe compliance.</a:t>
            </a:r>
          </a:p>
        </p:txBody>
      </p:sp>
      <p:sp>
        <p:nvSpPr>
          <p:cNvPr id="6" name="Rounded Rectangle 5"/>
          <p:cNvSpPr/>
          <p:nvPr/>
        </p:nvSpPr>
        <p:spPr>
          <a:xfrm>
            <a:off x="60944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44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ENTERPRISE</a:t>
            </a:r>
          </a:p>
        </p:txBody>
      </p:sp>
      <p:sp>
        <p:nvSpPr>
          <p:cNvPr id="8" name="TextBox 7"/>
          <p:cNvSpPr txBox="1"/>
          <p:nvPr/>
        </p:nvSpPr>
        <p:spPr>
          <a:xfrm>
            <a:off x="60944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enterprise@qbitel.com</a:t>
            </a:r>
          </a:p>
        </p:txBody>
      </p:sp>
      <p:sp>
        <p:nvSpPr>
          <p:cNvPr id="9" name="Rounded Rectangle 8"/>
          <p:cNvSpPr/>
          <p:nvPr/>
        </p:nvSpPr>
        <p:spPr>
          <a:xfrm>
            <a:off x="435848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848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WEBSITE</a:t>
            </a:r>
          </a:p>
        </p:txBody>
      </p:sp>
      <p:sp>
        <p:nvSpPr>
          <p:cNvPr id="11" name="TextBox 10"/>
          <p:cNvSpPr txBox="1"/>
          <p:nvPr/>
        </p:nvSpPr>
        <p:spPr>
          <a:xfrm>
            <a:off x="435848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bridge.qbitel.com</a:t>
            </a:r>
          </a:p>
        </p:txBody>
      </p:sp>
      <p:sp>
        <p:nvSpPr>
          <p:cNvPr id="12" name="Rounded Rectangle 11"/>
          <p:cNvSpPr/>
          <p:nvPr/>
        </p:nvSpPr>
        <p:spPr>
          <a:xfrm>
            <a:off x="810752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752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SCHEDULE</a:t>
            </a:r>
          </a:p>
        </p:txBody>
      </p:sp>
      <p:sp>
        <p:nvSpPr>
          <p:cNvPr id="14" name="TextBox 13"/>
          <p:cNvSpPr txBox="1"/>
          <p:nvPr/>
        </p:nvSpPr>
        <p:spPr>
          <a:xfrm>
            <a:off x="810752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Contact your account team</a:t>
            </a:r>
          </a:p>
        </p:txBody>
      </p:sp>
      <p:sp>
        <p:nvSpPr>
          <p:cNvPr id="15" name="TextBox 14"/>
          <p:cNvSpPr txBox="1"/>
          <p:nvPr/>
        </p:nvSpPr>
        <p:spPr>
          <a:xfrm>
            <a:off x="457200" y="6126480"/>
            <a:ext cx="11274552" cy="365760"/>
          </a:xfrm>
          <a:prstGeom prst="rect">
            <a:avLst/>
          </a:prstGeom>
          <a:noFill/>
        </p:spPr>
        <p:txBody>
          <a:bodyPr wrap="square" lIns="50800" rIns="50800" tIns="25400" bIns="25400" anchor="ctr">
            <a:spAutoFit/>
          </a:bodyPr>
          <a:lstStyle/>
          <a:p>
            <a:pPr algn="ctr">
              <a:lnSpc>
                <a:spcPct val="115000"/>
              </a:lnSpc>
            </a:pPr>
            <a:r>
              <a:rPr sz="1000" b="0" i="1">
                <a:solidFill>
                  <a:srgbClr val="AABBCC"/>
                </a:solidFill>
                <a:latin typeface="Calibri"/>
              </a:rPr>
              <a:t>QBITEL Bridge — Quantum-Safe Security for the Human API   |   © 2026 QBITEL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