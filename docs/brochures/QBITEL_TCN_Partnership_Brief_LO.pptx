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s/slide17.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5603C63-E265-4534-82DA-7704D17D562B}"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E201509-23A9-4FF5-B99F-26DF8DDDE7D8}"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282E19B-5CF4-4473-A799-92F27C35E685}"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0A0C14E-33C7-458A-B27B-E49A7E97D06D}"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CDE1396-1A97-47E2-A850-787737CBBF7B}"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F9A60EA-3AC8-4F3F-9144-CE76C372B602}"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180C923-855F-444B-BCCB-243ADEFE9CF7}"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DF934D5-EC10-4CF1-B570-867E5946F5B3}"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5194349-FF20-4DC7-8E32-3CC261D77C7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32C54DC-323D-494C-B199-7E991093F727}"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F76AE2C-BCB5-4C3F-8547-C3DD5FDEDFB4}"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Rectangle 1"/>
          <p:cNvSpPr/>
          <p:nvPr/>
        </p:nvSpPr>
        <p:spPr>
          <a:xfrm>
            <a:off x="0" y="0"/>
            <a:ext cx="12191400" cy="685764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 name="Right Triangle 2"/>
          <p:cNvSpPr/>
          <p:nvPr/>
        </p:nvSpPr>
        <p:spPr>
          <a:xfrm rot="5400000">
            <a:off x="8687160" y="0"/>
            <a:ext cx="3474360" cy="2285640"/>
          </a:xfrm>
          <a:prstGeom prst="rtTriangl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 name="Rectangle 3"/>
          <p:cNvSpPr/>
          <p:nvPr/>
        </p:nvSpPr>
        <p:spPr>
          <a:xfrm>
            <a:off x="10058400" y="0"/>
            <a:ext cx="2133000" cy="54828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 name="Rectangle 4"/>
          <p:cNvSpPr/>
          <p:nvPr/>
        </p:nvSpPr>
        <p:spPr>
          <a:xfrm>
            <a:off x="0" y="5577840"/>
            <a:ext cx="12191400" cy="1279800"/>
          </a:xfrm>
          <a:prstGeom prst="rect">
            <a:avLst/>
          </a:prstGeom>
          <a:solidFill>
            <a:srgbClr val="006B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 name="Rectangle 5"/>
          <p:cNvSpPr/>
          <p:nvPr/>
        </p:nvSpPr>
        <p:spPr>
          <a:xfrm>
            <a:off x="0" y="5577840"/>
            <a:ext cx="12191400" cy="5436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6" name="TextBox 6"/>
          <p:cNvSpPr/>
          <p:nvPr/>
        </p:nvSpPr>
        <p:spPr>
          <a:xfrm>
            <a:off x="548640" y="1828800"/>
            <a:ext cx="9143640" cy="1371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6400" b="1" u="none" strike="noStrike">
                <a:solidFill>
                  <a:srgbClr val="FFFFFF"/>
                </a:solidFill>
                <a:effectLst/>
                <a:uFillTx/>
                <a:latin typeface="Calibri"/>
              </a:rPr>
              <a:t>QBITEL  </a:t>
            </a:r>
            <a:r>
              <a:rPr lang="en-US" sz="6400" b="1" u="none" strike="noStrike">
                <a:solidFill>
                  <a:srgbClr val="008B9A"/>
                </a:solidFill>
                <a:effectLst/>
                <a:uFillTx/>
                <a:latin typeface="Calibri"/>
              </a:rPr>
              <a:t>×  TCN</a:t>
            </a:r>
            <a:endParaRPr lang="en-IN" sz="6400" b="0" u="none" strike="noStrike">
              <a:solidFill>
                <a:srgbClr val="000000"/>
              </a:solidFill>
              <a:effectLst/>
              <a:uFillTx/>
              <a:latin typeface="Arial"/>
            </a:endParaRPr>
          </a:p>
        </p:txBody>
      </p:sp>
      <p:sp>
        <p:nvSpPr>
          <p:cNvPr id="67" name="Rectangle 7"/>
          <p:cNvSpPr/>
          <p:nvPr/>
        </p:nvSpPr>
        <p:spPr>
          <a:xfrm>
            <a:off x="548640" y="3017520"/>
            <a:ext cx="3657240" cy="72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68" name="TextBox 8"/>
          <p:cNvSpPr/>
          <p:nvPr/>
        </p:nvSpPr>
        <p:spPr>
          <a:xfrm>
            <a:off x="548640" y="3154680"/>
            <a:ext cx="10058040" cy="5482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2400" b="1" u="none" strike="noStrike">
                <a:solidFill>
                  <a:srgbClr val="FFFFFF"/>
                </a:solidFill>
                <a:effectLst/>
                <a:uFillTx/>
                <a:latin typeface="Calibri"/>
              </a:rPr>
              <a:t>Partnership Brief for the VP of Technology</a:t>
            </a:r>
            <a:endParaRPr lang="en-IN" sz="2400" b="0" u="none" strike="noStrike">
              <a:solidFill>
                <a:srgbClr val="000000"/>
              </a:solidFill>
              <a:effectLst/>
              <a:uFillTx/>
              <a:latin typeface="Arial"/>
            </a:endParaRPr>
          </a:p>
        </p:txBody>
      </p:sp>
      <p:sp>
        <p:nvSpPr>
          <p:cNvPr id="69" name="TextBox 9"/>
          <p:cNvSpPr/>
          <p:nvPr/>
        </p:nvSpPr>
        <p:spPr>
          <a:xfrm>
            <a:off x="548640" y="3703320"/>
            <a:ext cx="10058040" cy="4568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500" b="0" i="1" u="none" strike="noStrike">
                <a:solidFill>
                  <a:srgbClr val="CDE8EC"/>
                </a:solidFill>
                <a:effectLst/>
                <a:uFillTx/>
                <a:latin typeface="Calibri"/>
              </a:rPr>
              <a:t>Embedded Security &amp; Compliance Layer for TCN Operator</a:t>
            </a:r>
            <a:endParaRPr lang="en-IN" sz="1500" b="0" u="none" strike="noStrike">
              <a:solidFill>
                <a:srgbClr val="000000"/>
              </a:solidFill>
              <a:effectLst/>
              <a:uFillTx/>
              <a:latin typeface="Arial"/>
            </a:endParaRPr>
          </a:p>
        </p:txBody>
      </p:sp>
      <p:sp>
        <p:nvSpPr>
          <p:cNvPr id="70" name="Rounded Rectangle 10"/>
          <p:cNvSpPr/>
          <p:nvPr/>
        </p:nvSpPr>
        <p:spPr>
          <a:xfrm>
            <a:off x="677880" y="4434840"/>
            <a:ext cx="2605680" cy="959760"/>
          </a:xfrm>
          <a:prstGeom prst="roundRect">
            <a:avLst>
              <a:gd name="adj" fmla="val 10000"/>
            </a:avLst>
          </a:prstGeom>
          <a:solidFill>
            <a:srgbClr val="1A2D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 name="TextBox 11"/>
          <p:cNvSpPr/>
          <p:nvPr/>
        </p:nvSpPr>
        <p:spPr>
          <a:xfrm>
            <a:off x="677880" y="4507920"/>
            <a:ext cx="2605680" cy="4111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2200" b="1" u="none" strike="noStrike">
                <a:solidFill>
                  <a:srgbClr val="F0A500"/>
                </a:solidFill>
                <a:effectLst/>
                <a:uFillTx/>
                <a:latin typeface="Calibri"/>
              </a:rPr>
              <a:t>5 SEAMS</a:t>
            </a:r>
            <a:endParaRPr lang="en-IN" sz="2200" b="0" u="none" strike="noStrike">
              <a:solidFill>
                <a:srgbClr val="000000"/>
              </a:solidFill>
              <a:effectLst/>
              <a:uFillTx/>
              <a:latin typeface="Arial"/>
            </a:endParaRPr>
          </a:p>
        </p:txBody>
      </p:sp>
      <p:sp>
        <p:nvSpPr>
          <p:cNvPr id="72" name="TextBox 12"/>
          <p:cNvSpPr/>
          <p:nvPr/>
        </p:nvSpPr>
        <p:spPr>
          <a:xfrm>
            <a:off x="677880" y="4937760"/>
            <a:ext cx="2605680" cy="411120"/>
          </a:xfrm>
          <a:prstGeom prst="rect">
            <a:avLst/>
          </a:prstGeom>
          <a:noFill/>
          <a:ln w="0">
            <a:noFill/>
          </a:ln>
        </p:spPr>
        <p:style>
          <a:lnRef idx="0"/>
          <a:fillRef idx="0"/>
          <a:effectRef idx="0"/>
          <a:fontRef idx="minor"/>
        </p:style>
        <p:txBody>
          <a:bodyPr lIns="50760" tIns="25560" rIns="50760" bIns="25560" anchor="t">
            <a:spAutoFit/>
          </a:bodyPr>
          <a:p>
            <a:pPr algn="ctr" defTabSz="457200">
              <a:lnSpc>
                <a:spcPct val="115000"/>
              </a:lnSpc>
            </a:pPr>
            <a:r>
              <a:rPr lang="en-US" sz="1000" b="0" u="none" strike="noStrike">
                <a:solidFill>
                  <a:srgbClr val="FFFFFF"/>
                </a:solidFill>
                <a:effectLst/>
                <a:uFillTx/>
                <a:latin typeface="Calibri"/>
              </a:rPr>
              <a:t>SIP • Webhooks • REST</a:t>
            </a:r>
            <a:endParaRPr lang="en-IN" sz="1000" b="0" u="none" strike="noStrike">
              <a:solidFill>
                <a:srgbClr val="000000"/>
              </a:solidFill>
              <a:effectLst/>
              <a:uFillTx/>
              <a:latin typeface="Arial"/>
            </a:endParaRPr>
          </a:p>
          <a:p>
            <a:pPr algn="ctr" defTabSz="457200">
              <a:lnSpc>
                <a:spcPct val="115000"/>
              </a:lnSpc>
            </a:pPr>
            <a:r>
              <a:rPr lang="en-US" sz="1000" b="0" u="none" strike="noStrike">
                <a:solidFill>
                  <a:srgbClr val="FFFFFF"/>
                </a:solidFill>
                <a:effectLst/>
                <a:uFillTx/>
                <a:latin typeface="Calibri"/>
              </a:rPr>
              <a:t>CRM Hooks • SSO</a:t>
            </a:r>
            <a:endParaRPr lang="en-IN" sz="1000" b="0" u="none" strike="noStrike">
              <a:solidFill>
                <a:srgbClr val="000000"/>
              </a:solidFill>
              <a:effectLst/>
              <a:uFillTx/>
              <a:latin typeface="Arial"/>
            </a:endParaRPr>
          </a:p>
        </p:txBody>
      </p:sp>
      <p:sp>
        <p:nvSpPr>
          <p:cNvPr id="73" name="Rounded Rectangle 13"/>
          <p:cNvSpPr/>
          <p:nvPr/>
        </p:nvSpPr>
        <p:spPr>
          <a:xfrm>
            <a:off x="3421080" y="4434840"/>
            <a:ext cx="2605680" cy="959760"/>
          </a:xfrm>
          <a:prstGeom prst="roundRect">
            <a:avLst>
              <a:gd name="adj" fmla="val 1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 name="TextBox 14"/>
          <p:cNvSpPr/>
          <p:nvPr/>
        </p:nvSpPr>
        <p:spPr>
          <a:xfrm>
            <a:off x="3421080" y="4507920"/>
            <a:ext cx="2605680" cy="4111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2200" b="1" u="none" strike="noStrike">
                <a:solidFill>
                  <a:srgbClr val="F0A500"/>
                </a:solidFill>
                <a:effectLst/>
                <a:uFillTx/>
                <a:latin typeface="Calibri"/>
              </a:rPr>
              <a:t>4 WEEKS</a:t>
            </a:r>
            <a:endParaRPr lang="en-IN" sz="2200" b="0" u="none" strike="noStrike">
              <a:solidFill>
                <a:srgbClr val="000000"/>
              </a:solidFill>
              <a:effectLst/>
              <a:uFillTx/>
              <a:latin typeface="Arial"/>
            </a:endParaRPr>
          </a:p>
        </p:txBody>
      </p:sp>
      <p:sp>
        <p:nvSpPr>
          <p:cNvPr id="75" name="TextBox 15"/>
          <p:cNvSpPr/>
          <p:nvPr/>
        </p:nvSpPr>
        <p:spPr>
          <a:xfrm>
            <a:off x="3421080" y="4937760"/>
            <a:ext cx="2605680" cy="411120"/>
          </a:xfrm>
          <a:prstGeom prst="rect">
            <a:avLst/>
          </a:prstGeom>
          <a:noFill/>
          <a:ln w="0">
            <a:noFill/>
          </a:ln>
        </p:spPr>
        <p:style>
          <a:lnRef idx="0"/>
          <a:fillRef idx="0"/>
          <a:effectRef idx="0"/>
          <a:fontRef idx="minor"/>
        </p:style>
        <p:txBody>
          <a:bodyPr lIns="50760" tIns="25560" rIns="50760" bIns="25560" anchor="t">
            <a:spAutoFit/>
          </a:bodyPr>
          <a:p>
            <a:pPr algn="ctr" defTabSz="457200">
              <a:lnSpc>
                <a:spcPct val="115000"/>
              </a:lnSpc>
            </a:pPr>
            <a:r>
              <a:rPr lang="en-US" sz="1000" b="0" u="none" strike="noStrike">
                <a:solidFill>
                  <a:srgbClr val="FFFFFF"/>
                </a:solidFill>
                <a:effectLst/>
                <a:uFillTx/>
                <a:latin typeface="Calibri"/>
              </a:rPr>
              <a:t>Joint POC to a</a:t>
            </a:r>
            <a:endParaRPr lang="en-IN" sz="1000" b="0" u="none" strike="noStrike">
              <a:solidFill>
                <a:srgbClr val="000000"/>
              </a:solidFill>
              <a:effectLst/>
              <a:uFillTx/>
              <a:latin typeface="Arial"/>
            </a:endParaRPr>
          </a:p>
          <a:p>
            <a:pPr algn="ctr" defTabSz="457200">
              <a:lnSpc>
                <a:spcPct val="115000"/>
              </a:lnSpc>
            </a:pPr>
            <a:r>
              <a:rPr lang="en-US" sz="1000" b="0" u="none" strike="noStrike">
                <a:solidFill>
                  <a:srgbClr val="FFFFFF"/>
                </a:solidFill>
                <a:effectLst/>
                <a:uFillTx/>
                <a:latin typeface="Calibri"/>
              </a:rPr>
              <a:t>Working Demo</a:t>
            </a:r>
            <a:endParaRPr lang="en-IN" sz="1000" b="0" u="none" strike="noStrike">
              <a:solidFill>
                <a:srgbClr val="000000"/>
              </a:solidFill>
              <a:effectLst/>
              <a:uFillTx/>
              <a:latin typeface="Arial"/>
            </a:endParaRPr>
          </a:p>
        </p:txBody>
      </p:sp>
      <p:sp>
        <p:nvSpPr>
          <p:cNvPr id="76" name="Rounded Rectangle 16"/>
          <p:cNvSpPr/>
          <p:nvPr/>
        </p:nvSpPr>
        <p:spPr>
          <a:xfrm>
            <a:off x="6164280" y="4434840"/>
            <a:ext cx="2605680" cy="959760"/>
          </a:xfrm>
          <a:prstGeom prst="roundRect">
            <a:avLst>
              <a:gd name="adj" fmla="val 10000"/>
            </a:avLst>
          </a:prstGeom>
          <a:solidFill>
            <a:srgbClr val="1A2D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 name="TextBox 17"/>
          <p:cNvSpPr/>
          <p:nvPr/>
        </p:nvSpPr>
        <p:spPr>
          <a:xfrm>
            <a:off x="6164280" y="4507920"/>
            <a:ext cx="2605680" cy="4111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2200" b="1" u="none" strike="noStrike">
                <a:solidFill>
                  <a:srgbClr val="F0A500"/>
                </a:solidFill>
                <a:effectLst/>
                <a:uFillTx/>
                <a:latin typeface="Calibri"/>
              </a:rPr>
              <a:t>3 MODELS</a:t>
            </a:r>
            <a:endParaRPr lang="en-IN" sz="2200" b="0" u="none" strike="noStrike">
              <a:solidFill>
                <a:srgbClr val="000000"/>
              </a:solidFill>
              <a:effectLst/>
              <a:uFillTx/>
              <a:latin typeface="Arial"/>
            </a:endParaRPr>
          </a:p>
        </p:txBody>
      </p:sp>
      <p:sp>
        <p:nvSpPr>
          <p:cNvPr id="78" name="TextBox 18"/>
          <p:cNvSpPr/>
          <p:nvPr/>
        </p:nvSpPr>
        <p:spPr>
          <a:xfrm>
            <a:off x="6164280" y="4937760"/>
            <a:ext cx="2605680" cy="411120"/>
          </a:xfrm>
          <a:prstGeom prst="rect">
            <a:avLst/>
          </a:prstGeom>
          <a:noFill/>
          <a:ln w="0">
            <a:noFill/>
          </a:ln>
        </p:spPr>
        <p:style>
          <a:lnRef idx="0"/>
          <a:fillRef idx="0"/>
          <a:effectRef idx="0"/>
          <a:fontRef idx="minor"/>
        </p:style>
        <p:txBody>
          <a:bodyPr lIns="50760" tIns="25560" rIns="50760" bIns="25560" anchor="t">
            <a:spAutoFit/>
          </a:bodyPr>
          <a:p>
            <a:pPr algn="ctr" defTabSz="457200">
              <a:lnSpc>
                <a:spcPct val="115000"/>
              </a:lnSpc>
            </a:pPr>
            <a:r>
              <a:rPr lang="en-US" sz="1000" b="0" u="none" strike="noStrike">
                <a:solidFill>
                  <a:srgbClr val="FFFFFF"/>
                </a:solidFill>
                <a:effectLst/>
                <a:uFillTx/>
                <a:latin typeface="Calibri"/>
              </a:rPr>
              <a:t>Embedded OEM</a:t>
            </a:r>
            <a:endParaRPr lang="en-IN" sz="1000" b="0" u="none" strike="noStrike">
              <a:solidFill>
                <a:srgbClr val="000000"/>
              </a:solidFill>
              <a:effectLst/>
              <a:uFillTx/>
              <a:latin typeface="Arial"/>
            </a:endParaRPr>
          </a:p>
          <a:p>
            <a:pPr algn="ctr" defTabSz="457200">
              <a:lnSpc>
                <a:spcPct val="115000"/>
              </a:lnSpc>
            </a:pPr>
            <a:r>
              <a:rPr lang="en-US" sz="1000" b="0" u="none" strike="noStrike">
                <a:solidFill>
                  <a:srgbClr val="FFFFFF"/>
                </a:solidFill>
                <a:effectLst/>
                <a:uFillTx/>
                <a:latin typeface="Calibri"/>
              </a:rPr>
              <a:t>Marketplace • Referral</a:t>
            </a:r>
            <a:endParaRPr lang="en-IN" sz="1000" b="0" u="none" strike="noStrike">
              <a:solidFill>
                <a:srgbClr val="000000"/>
              </a:solidFill>
              <a:effectLst/>
              <a:uFillTx/>
              <a:latin typeface="Arial"/>
            </a:endParaRPr>
          </a:p>
        </p:txBody>
      </p:sp>
      <p:sp>
        <p:nvSpPr>
          <p:cNvPr id="79" name="Rounded Rectangle 19"/>
          <p:cNvSpPr/>
          <p:nvPr/>
        </p:nvSpPr>
        <p:spPr>
          <a:xfrm>
            <a:off x="8907480" y="4434840"/>
            <a:ext cx="2605680" cy="959760"/>
          </a:xfrm>
          <a:prstGeom prst="roundRect">
            <a:avLst>
              <a:gd name="adj" fmla="val 1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TextBox 20"/>
          <p:cNvSpPr/>
          <p:nvPr/>
        </p:nvSpPr>
        <p:spPr>
          <a:xfrm>
            <a:off x="8907480" y="4507920"/>
            <a:ext cx="2605680" cy="4111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2200" b="1" u="none" strike="noStrike">
                <a:solidFill>
                  <a:srgbClr val="F0A500"/>
                </a:solidFill>
                <a:effectLst/>
                <a:uFillTx/>
                <a:latin typeface="Calibri"/>
              </a:rPr>
              <a:t>&lt;10 MIN</a:t>
            </a:r>
            <a:endParaRPr lang="en-IN" sz="2200" b="0" u="none" strike="noStrike">
              <a:solidFill>
                <a:srgbClr val="000000"/>
              </a:solidFill>
              <a:effectLst/>
              <a:uFillTx/>
              <a:latin typeface="Arial"/>
            </a:endParaRPr>
          </a:p>
        </p:txBody>
      </p:sp>
      <p:sp>
        <p:nvSpPr>
          <p:cNvPr id="81" name="TextBox 21"/>
          <p:cNvSpPr/>
          <p:nvPr/>
        </p:nvSpPr>
        <p:spPr>
          <a:xfrm>
            <a:off x="8907480" y="4937760"/>
            <a:ext cx="2605680" cy="411120"/>
          </a:xfrm>
          <a:prstGeom prst="rect">
            <a:avLst/>
          </a:prstGeom>
          <a:noFill/>
          <a:ln w="0">
            <a:noFill/>
          </a:ln>
        </p:spPr>
        <p:style>
          <a:lnRef idx="0"/>
          <a:fillRef idx="0"/>
          <a:effectRef idx="0"/>
          <a:fontRef idx="minor"/>
        </p:style>
        <p:txBody>
          <a:bodyPr lIns="50760" tIns="25560" rIns="50760" bIns="25560" anchor="t">
            <a:spAutoFit/>
          </a:bodyPr>
          <a:p>
            <a:pPr algn="ctr" defTabSz="457200">
              <a:lnSpc>
                <a:spcPct val="115000"/>
              </a:lnSpc>
            </a:pPr>
            <a:r>
              <a:rPr lang="en-US" sz="1000" b="0" u="none" strike="noStrike">
                <a:solidFill>
                  <a:srgbClr val="FFFFFF"/>
                </a:solidFill>
                <a:effectLst/>
                <a:uFillTx/>
                <a:latin typeface="Calibri"/>
              </a:rPr>
              <a:t>Per-Tenant</a:t>
            </a:r>
            <a:endParaRPr lang="en-IN" sz="1000" b="0" u="none" strike="noStrike">
              <a:solidFill>
                <a:srgbClr val="000000"/>
              </a:solidFill>
              <a:effectLst/>
              <a:uFillTx/>
              <a:latin typeface="Arial"/>
            </a:endParaRPr>
          </a:p>
          <a:p>
            <a:pPr algn="ctr" defTabSz="457200">
              <a:lnSpc>
                <a:spcPct val="115000"/>
              </a:lnSpc>
            </a:pPr>
            <a:r>
              <a:rPr lang="en-US" sz="1000" b="0" u="none" strike="noStrike">
                <a:solidFill>
                  <a:srgbClr val="FFFFFF"/>
                </a:solidFill>
                <a:effectLst/>
                <a:uFillTx/>
                <a:latin typeface="Calibri"/>
              </a:rPr>
              <a:t>Compliance Pack</a:t>
            </a:r>
            <a:endParaRPr lang="en-IN" sz="1000" b="0" u="none" strike="noStrike">
              <a:solidFill>
                <a:srgbClr val="000000"/>
              </a:solidFill>
              <a:effectLst/>
              <a:uFillTx/>
              <a:latin typeface="Arial"/>
            </a:endParaRPr>
          </a:p>
        </p:txBody>
      </p:sp>
      <p:sp>
        <p:nvSpPr>
          <p:cNvPr id="82" name="TextBox 22"/>
          <p:cNvSpPr/>
          <p:nvPr/>
        </p:nvSpPr>
        <p:spPr>
          <a:xfrm>
            <a:off x="548640" y="5852160"/>
            <a:ext cx="10972440" cy="45684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200" b="1" u="none" strike="noStrike">
                <a:solidFill>
                  <a:srgbClr val="FFFFFF"/>
                </a:solidFill>
                <a:effectLst/>
                <a:uFillTx/>
                <a:latin typeface="Calibri"/>
              </a:rPr>
              <a:t>Integration Architecture  •  Flow Diagrams  •  Commercial Models  •  POC Plan</a:t>
            </a:r>
            <a:endParaRPr lang="en-IN" sz="1200" b="0" u="none" strike="noStrike">
              <a:solidFill>
                <a:srgbClr val="000000"/>
              </a:solidFill>
              <a:effectLst/>
              <a:uFillTx/>
              <a:latin typeface="Arial"/>
            </a:endParaRPr>
          </a:p>
        </p:txBody>
      </p:sp>
      <p:sp>
        <p:nvSpPr>
          <p:cNvPr id="83" name="TextBox 23"/>
          <p:cNvSpPr/>
          <p:nvPr/>
        </p:nvSpPr>
        <p:spPr>
          <a:xfrm>
            <a:off x="548640" y="6309360"/>
            <a:ext cx="10972440" cy="3196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00" b="0" i="1" u="none" strike="noStrike">
                <a:solidFill>
                  <a:srgbClr val="AABBCC"/>
                </a:solidFill>
                <a:effectLst/>
                <a:uFillTx/>
                <a:latin typeface="Calibri"/>
              </a:rPr>
              <a:t>Version 1.0  •  February 2026  •  Confidential</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6"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AGENDA</a:t>
            </a:r>
            <a:endParaRPr lang="en-IN" sz="1800" b="0" u="none" strike="noStrike">
              <a:solidFill>
                <a:srgbClr val="000000"/>
              </a:solidFill>
              <a:effectLst/>
              <a:uFillTx/>
              <a:latin typeface="Arial"/>
            </a:endParaRPr>
          </a:p>
        </p:txBody>
      </p:sp>
      <p:sp>
        <p:nvSpPr>
          <p:cNvPr id="88"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What we will cover in this conversation</a:t>
            </a:r>
            <a:endParaRPr lang="en-IN" sz="1050" b="0" u="none" strike="noStrike">
              <a:solidFill>
                <a:srgbClr val="000000"/>
              </a:solidFill>
              <a:effectLst/>
              <a:uFillTx/>
              <a:latin typeface="Arial"/>
            </a:endParaRPr>
          </a:p>
        </p:txBody>
      </p:sp>
      <p:sp>
        <p:nvSpPr>
          <p:cNvPr id="89"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90" name="Oval 7"/>
          <p:cNvSpPr/>
          <p:nvPr/>
        </p:nvSpPr>
        <p:spPr>
          <a:xfrm>
            <a:off x="640080" y="100584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1</a:t>
            </a:r>
            <a:endParaRPr lang="en-IN" sz="1400" b="0" u="none" strike="noStrike">
              <a:solidFill>
                <a:srgbClr val="000000"/>
              </a:solidFill>
              <a:effectLst/>
              <a:uFillTx/>
              <a:latin typeface="Arial"/>
            </a:endParaRPr>
          </a:p>
        </p:txBody>
      </p:sp>
      <p:sp>
        <p:nvSpPr>
          <p:cNvPr id="91" name="TextBox 8"/>
          <p:cNvSpPr/>
          <p:nvPr/>
        </p:nvSpPr>
        <p:spPr>
          <a:xfrm>
            <a:off x="1143000" y="102420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Meeting objective and what we are asking from TCN</a:t>
            </a:r>
            <a:endParaRPr lang="en-IN" sz="1400" b="0" u="none" strike="noStrike">
              <a:solidFill>
                <a:srgbClr val="000000"/>
              </a:solidFill>
              <a:effectLst/>
              <a:uFillTx/>
              <a:latin typeface="Arial"/>
            </a:endParaRPr>
          </a:p>
        </p:txBody>
      </p:sp>
      <p:sp>
        <p:nvSpPr>
          <p:cNvPr id="92" name="Oval 9"/>
          <p:cNvSpPr/>
          <p:nvPr/>
        </p:nvSpPr>
        <p:spPr>
          <a:xfrm>
            <a:off x="640080" y="142632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2</a:t>
            </a:r>
            <a:endParaRPr lang="en-IN" sz="1400" b="0" u="none" strike="noStrike">
              <a:solidFill>
                <a:srgbClr val="000000"/>
              </a:solidFill>
              <a:effectLst/>
              <a:uFillTx/>
              <a:latin typeface="Arial"/>
            </a:endParaRPr>
          </a:p>
        </p:txBody>
      </p:sp>
      <p:sp>
        <p:nvSpPr>
          <p:cNvPr id="93" name="TextBox 10"/>
          <p:cNvSpPr/>
          <p:nvPr/>
        </p:nvSpPr>
        <p:spPr>
          <a:xfrm>
            <a:off x="1143000" y="144468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What we understand about TCN Operator (please correct)</a:t>
            </a:r>
            <a:endParaRPr lang="en-IN" sz="1400" b="0" u="none" strike="noStrike">
              <a:solidFill>
                <a:srgbClr val="000000"/>
              </a:solidFill>
              <a:effectLst/>
              <a:uFillTx/>
              <a:latin typeface="Arial"/>
            </a:endParaRPr>
          </a:p>
        </p:txBody>
      </p:sp>
      <p:sp>
        <p:nvSpPr>
          <p:cNvPr id="94" name="Oval 11"/>
          <p:cNvSpPr/>
          <p:nvPr/>
        </p:nvSpPr>
        <p:spPr>
          <a:xfrm>
            <a:off x="640080" y="184716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3</a:t>
            </a:r>
            <a:endParaRPr lang="en-IN" sz="1400" b="0" u="none" strike="noStrike">
              <a:solidFill>
                <a:srgbClr val="000000"/>
              </a:solidFill>
              <a:effectLst/>
              <a:uFillTx/>
              <a:latin typeface="Arial"/>
            </a:endParaRPr>
          </a:p>
        </p:txBody>
      </p:sp>
      <p:sp>
        <p:nvSpPr>
          <p:cNvPr id="95" name="TextBox 12"/>
          <p:cNvSpPr/>
          <p:nvPr/>
        </p:nvSpPr>
        <p:spPr>
          <a:xfrm>
            <a:off x="1143000" y="186552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QBITEL Bridge in one slide</a:t>
            </a:r>
            <a:endParaRPr lang="en-IN" sz="1400" b="0" u="none" strike="noStrike">
              <a:solidFill>
                <a:srgbClr val="000000"/>
              </a:solidFill>
              <a:effectLst/>
              <a:uFillTx/>
              <a:latin typeface="Arial"/>
            </a:endParaRPr>
          </a:p>
        </p:txBody>
      </p:sp>
      <p:sp>
        <p:nvSpPr>
          <p:cNvPr id="96" name="Oval 13"/>
          <p:cNvSpPr/>
          <p:nvPr/>
        </p:nvSpPr>
        <p:spPr>
          <a:xfrm>
            <a:off x="640080" y="226764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4</a:t>
            </a:r>
            <a:endParaRPr lang="en-IN" sz="1400" b="0" u="none" strike="noStrike">
              <a:solidFill>
                <a:srgbClr val="000000"/>
              </a:solidFill>
              <a:effectLst/>
              <a:uFillTx/>
              <a:latin typeface="Arial"/>
            </a:endParaRPr>
          </a:p>
        </p:txBody>
      </p:sp>
      <p:sp>
        <p:nvSpPr>
          <p:cNvPr id="97" name="TextBox 14"/>
          <p:cNvSpPr/>
          <p:nvPr/>
        </p:nvSpPr>
        <p:spPr>
          <a:xfrm>
            <a:off x="1143000" y="228600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Why a TCN × QBITEL partnership — overlap and complementarity</a:t>
            </a:r>
            <a:endParaRPr lang="en-IN" sz="1400" b="0" u="none" strike="noStrike">
              <a:solidFill>
                <a:srgbClr val="000000"/>
              </a:solidFill>
              <a:effectLst/>
              <a:uFillTx/>
              <a:latin typeface="Arial"/>
            </a:endParaRPr>
          </a:p>
        </p:txBody>
      </p:sp>
      <p:sp>
        <p:nvSpPr>
          <p:cNvPr id="98" name="Oval 15"/>
          <p:cNvSpPr/>
          <p:nvPr/>
        </p:nvSpPr>
        <p:spPr>
          <a:xfrm>
            <a:off x="640080" y="268848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5</a:t>
            </a:r>
            <a:endParaRPr lang="en-IN" sz="1400" b="0" u="none" strike="noStrike">
              <a:solidFill>
                <a:srgbClr val="000000"/>
              </a:solidFill>
              <a:effectLst/>
              <a:uFillTx/>
              <a:latin typeface="Arial"/>
            </a:endParaRPr>
          </a:p>
        </p:txBody>
      </p:sp>
      <p:sp>
        <p:nvSpPr>
          <p:cNvPr id="99" name="TextBox 16"/>
          <p:cNvSpPr/>
          <p:nvPr/>
        </p:nvSpPr>
        <p:spPr>
          <a:xfrm>
            <a:off x="1143000" y="270648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Integration architecture and the five seams</a:t>
            </a:r>
            <a:endParaRPr lang="en-IN" sz="1400" b="0" u="none" strike="noStrike">
              <a:solidFill>
                <a:srgbClr val="000000"/>
              </a:solidFill>
              <a:effectLst/>
              <a:uFillTx/>
              <a:latin typeface="Arial"/>
            </a:endParaRPr>
          </a:p>
        </p:txBody>
      </p:sp>
      <p:sp>
        <p:nvSpPr>
          <p:cNvPr id="100" name="Oval 17"/>
          <p:cNvSpPr/>
          <p:nvPr/>
        </p:nvSpPr>
        <p:spPr>
          <a:xfrm>
            <a:off x="640080" y="310896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6</a:t>
            </a:r>
            <a:endParaRPr lang="en-IN" sz="1400" b="0" u="none" strike="noStrike">
              <a:solidFill>
                <a:srgbClr val="000000"/>
              </a:solidFill>
              <a:effectLst/>
              <a:uFillTx/>
              <a:latin typeface="Arial"/>
            </a:endParaRPr>
          </a:p>
        </p:txBody>
      </p:sp>
      <p:sp>
        <p:nvSpPr>
          <p:cNvPr id="101" name="TextBox 18"/>
          <p:cNvSpPr/>
          <p:nvPr/>
        </p:nvSpPr>
        <p:spPr>
          <a:xfrm>
            <a:off x="1143000" y="312732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Three flow diagrams: inbound, outbound, payment</a:t>
            </a:r>
            <a:endParaRPr lang="en-IN" sz="1400" b="0" u="none" strike="noStrike">
              <a:solidFill>
                <a:srgbClr val="000000"/>
              </a:solidFill>
              <a:effectLst/>
              <a:uFillTx/>
              <a:latin typeface="Arial"/>
            </a:endParaRPr>
          </a:p>
        </p:txBody>
      </p:sp>
      <p:sp>
        <p:nvSpPr>
          <p:cNvPr id="102" name="Oval 19"/>
          <p:cNvSpPr/>
          <p:nvPr/>
        </p:nvSpPr>
        <p:spPr>
          <a:xfrm>
            <a:off x="640080" y="352944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7</a:t>
            </a:r>
            <a:endParaRPr lang="en-IN" sz="1400" b="0" u="none" strike="noStrike">
              <a:solidFill>
                <a:srgbClr val="000000"/>
              </a:solidFill>
              <a:effectLst/>
              <a:uFillTx/>
              <a:latin typeface="Arial"/>
            </a:endParaRPr>
          </a:p>
        </p:txBody>
      </p:sp>
      <p:sp>
        <p:nvSpPr>
          <p:cNvPr id="103" name="TextBox 20"/>
          <p:cNvSpPr/>
          <p:nvPr/>
        </p:nvSpPr>
        <p:spPr>
          <a:xfrm>
            <a:off x="1143000" y="354780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Multi-tenant isolation for TCN's BPO customers</a:t>
            </a:r>
            <a:endParaRPr lang="en-IN" sz="1400" b="0" u="none" strike="noStrike">
              <a:solidFill>
                <a:srgbClr val="000000"/>
              </a:solidFill>
              <a:effectLst/>
              <a:uFillTx/>
              <a:latin typeface="Arial"/>
            </a:endParaRPr>
          </a:p>
        </p:txBody>
      </p:sp>
      <p:sp>
        <p:nvSpPr>
          <p:cNvPr id="104" name="Oval 21"/>
          <p:cNvSpPr/>
          <p:nvPr/>
        </p:nvSpPr>
        <p:spPr>
          <a:xfrm>
            <a:off x="640080" y="395028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8</a:t>
            </a:r>
            <a:endParaRPr lang="en-IN" sz="1400" b="0" u="none" strike="noStrike">
              <a:solidFill>
                <a:srgbClr val="000000"/>
              </a:solidFill>
              <a:effectLst/>
              <a:uFillTx/>
              <a:latin typeface="Arial"/>
            </a:endParaRPr>
          </a:p>
        </p:txBody>
      </p:sp>
      <p:sp>
        <p:nvSpPr>
          <p:cNvPr id="105" name="TextBox 22"/>
          <p:cNvSpPr/>
          <p:nvPr/>
        </p:nvSpPr>
        <p:spPr>
          <a:xfrm>
            <a:off x="1143000" y="396864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Commercial models — three options</a:t>
            </a:r>
            <a:endParaRPr lang="en-IN" sz="1400" b="0" u="none" strike="noStrike">
              <a:solidFill>
                <a:srgbClr val="000000"/>
              </a:solidFill>
              <a:effectLst/>
              <a:uFillTx/>
              <a:latin typeface="Arial"/>
            </a:endParaRPr>
          </a:p>
        </p:txBody>
      </p:sp>
      <p:sp>
        <p:nvSpPr>
          <p:cNvPr id="106" name="Oval 23"/>
          <p:cNvSpPr/>
          <p:nvPr/>
        </p:nvSpPr>
        <p:spPr>
          <a:xfrm>
            <a:off x="640080" y="437076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9</a:t>
            </a:r>
            <a:endParaRPr lang="en-IN" sz="1400" b="0" u="none" strike="noStrike">
              <a:solidFill>
                <a:srgbClr val="000000"/>
              </a:solidFill>
              <a:effectLst/>
              <a:uFillTx/>
              <a:latin typeface="Arial"/>
            </a:endParaRPr>
          </a:p>
        </p:txBody>
      </p:sp>
      <p:sp>
        <p:nvSpPr>
          <p:cNvPr id="107" name="TextBox 24"/>
          <p:cNvSpPr/>
          <p:nvPr/>
        </p:nvSpPr>
        <p:spPr>
          <a:xfrm>
            <a:off x="1143000" y="438912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Technical risks and mitigations</a:t>
            </a:r>
            <a:endParaRPr lang="en-IN" sz="1400" b="0" u="none" strike="noStrike">
              <a:solidFill>
                <a:srgbClr val="000000"/>
              </a:solidFill>
              <a:effectLst/>
              <a:uFillTx/>
              <a:latin typeface="Arial"/>
            </a:endParaRPr>
          </a:p>
        </p:txBody>
      </p:sp>
      <p:sp>
        <p:nvSpPr>
          <p:cNvPr id="108" name="Oval 25"/>
          <p:cNvSpPr/>
          <p:nvPr/>
        </p:nvSpPr>
        <p:spPr>
          <a:xfrm>
            <a:off x="640080" y="479160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10</a:t>
            </a:r>
            <a:endParaRPr lang="en-IN" sz="1400" b="0" u="none" strike="noStrike">
              <a:solidFill>
                <a:srgbClr val="000000"/>
              </a:solidFill>
              <a:effectLst/>
              <a:uFillTx/>
              <a:latin typeface="Arial"/>
            </a:endParaRPr>
          </a:p>
        </p:txBody>
      </p:sp>
      <p:sp>
        <p:nvSpPr>
          <p:cNvPr id="109" name="TextBox 26"/>
          <p:cNvSpPr/>
          <p:nvPr/>
        </p:nvSpPr>
        <p:spPr>
          <a:xfrm>
            <a:off x="1143000" y="480960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Joint POC proposal — four weeks</a:t>
            </a:r>
            <a:endParaRPr lang="en-IN" sz="1400" b="0" u="none" strike="noStrike">
              <a:solidFill>
                <a:srgbClr val="000000"/>
              </a:solidFill>
              <a:effectLst/>
              <a:uFillTx/>
              <a:latin typeface="Arial"/>
            </a:endParaRPr>
          </a:p>
        </p:txBody>
      </p:sp>
      <p:sp>
        <p:nvSpPr>
          <p:cNvPr id="110" name="Oval 27"/>
          <p:cNvSpPr/>
          <p:nvPr/>
        </p:nvSpPr>
        <p:spPr>
          <a:xfrm>
            <a:off x="640080" y="5212080"/>
            <a:ext cx="347040" cy="3470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11</a:t>
            </a:r>
            <a:endParaRPr lang="en-IN" sz="1400" b="0" u="none" strike="noStrike">
              <a:solidFill>
                <a:srgbClr val="000000"/>
              </a:solidFill>
              <a:effectLst/>
              <a:uFillTx/>
              <a:latin typeface="Arial"/>
            </a:endParaRPr>
          </a:p>
        </p:txBody>
      </p:sp>
      <p:sp>
        <p:nvSpPr>
          <p:cNvPr id="111" name="TextBox 28"/>
          <p:cNvSpPr/>
          <p:nvPr/>
        </p:nvSpPr>
        <p:spPr>
          <a:xfrm>
            <a:off x="1143000" y="5230440"/>
            <a:ext cx="10058040" cy="383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0" u="none" strike="noStrike">
                <a:solidFill>
                  <a:srgbClr val="1A1A2E"/>
                </a:solidFill>
                <a:effectLst/>
                <a:uFillTx/>
                <a:latin typeface="Calibri"/>
              </a:rPr>
              <a:t>Next steps</a:t>
            </a:r>
            <a:endParaRPr lang="en-IN" sz="1400" b="0" u="none" strike="noStrike">
              <a:solidFill>
                <a:srgbClr val="000000"/>
              </a:solidFill>
              <a:effectLst/>
              <a:uFillTx/>
              <a:latin typeface="Arial"/>
            </a:endParaRPr>
          </a:p>
        </p:txBody>
      </p:sp>
      <p:sp>
        <p:nvSpPr>
          <p:cNvPr id="112" name="Rectangle 29"/>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3" name="Rectangle 30"/>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14" name="TextBox 31"/>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115" name="TextBox 32"/>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7"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8"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9"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MEETING OBJECTIVE</a:t>
            </a:r>
            <a:endParaRPr lang="en-IN" sz="1800" b="0" u="none" strike="noStrike">
              <a:solidFill>
                <a:srgbClr val="000000"/>
              </a:solidFill>
              <a:effectLst/>
              <a:uFillTx/>
              <a:latin typeface="Arial"/>
            </a:endParaRPr>
          </a:p>
        </p:txBody>
      </p:sp>
      <p:sp>
        <p:nvSpPr>
          <p:cNvPr id="120"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Why we asked for this conversation</a:t>
            </a:r>
            <a:endParaRPr lang="en-IN" sz="1050" b="0" u="none" strike="noStrike">
              <a:solidFill>
                <a:srgbClr val="000000"/>
              </a:solidFill>
              <a:effectLst/>
              <a:uFillTx/>
              <a:latin typeface="Arial"/>
            </a:endParaRPr>
          </a:p>
        </p:txBody>
      </p:sp>
      <p:sp>
        <p:nvSpPr>
          <p:cNvPr id="121"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122" name="Rounded Rectangle 7"/>
          <p:cNvSpPr/>
          <p:nvPr/>
        </p:nvSpPr>
        <p:spPr>
          <a:xfrm>
            <a:off x="640080" y="1097280"/>
            <a:ext cx="10881000" cy="1828440"/>
          </a:xfrm>
          <a:prstGeom prst="roundRect">
            <a:avLst>
              <a:gd name="adj" fmla="val 12000"/>
            </a:avLst>
          </a:prstGeom>
          <a:solidFill>
            <a:srgbClr val="0D1B3E"/>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0" u="none" strike="noStrike">
                <a:solidFill>
                  <a:srgbClr val="FFFFFF"/>
                </a:solidFill>
                <a:effectLst/>
                <a:uFillTx/>
                <a:latin typeface="Calibri"/>
              </a:rPr>
              <a:t>Explore a technology partnership in which QBITEL Bridge becomes an embedded or marketplace-available security &amp; compliance layer inside TCN Operator — giving TCN's BPO and enterprise customers a single answer to toll fraud, PCI/HIPAA scope, post-quantum readiness, and multi-tenant compliance, without any change to the agent experience or TCN's product surface.</a:t>
            </a:r>
            <a:endParaRPr lang="en-IN" sz="1400" b="0" u="none" strike="noStrike">
              <a:solidFill>
                <a:srgbClr val="FFFFFF"/>
              </a:solidFill>
              <a:effectLst/>
              <a:uFillTx/>
              <a:latin typeface="Arial"/>
            </a:endParaRPr>
          </a:p>
        </p:txBody>
      </p:sp>
      <p:sp>
        <p:nvSpPr>
          <p:cNvPr id="123" name="Rounded Rectangle 8"/>
          <p:cNvSpPr/>
          <p:nvPr/>
        </p:nvSpPr>
        <p:spPr>
          <a:xfrm>
            <a:off x="640080" y="3200400"/>
            <a:ext cx="5303160" cy="2377080"/>
          </a:xfrm>
          <a:prstGeom prst="roundRect">
            <a:avLst>
              <a:gd name="adj" fmla="val 12000"/>
            </a:avLst>
          </a:prstGeom>
          <a:solidFill>
            <a:srgbClr val="F4F7FA"/>
          </a:solidFill>
          <a:ln>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500" b="1" u="none" strike="noStrike">
                <a:solidFill>
                  <a:srgbClr val="0D1B3E"/>
                </a:solidFill>
                <a:effectLst/>
                <a:uFillTx/>
                <a:latin typeface="Calibri"/>
              </a:rPr>
              <a:t>TCN handles the contact center.</a:t>
            </a:r>
            <a:endParaRPr lang="en-IN" sz="1500" b="0" u="none" strike="noStrike">
              <a:solidFill>
                <a:srgbClr val="000000"/>
              </a:solidFill>
              <a:effectLst/>
              <a:uFillTx/>
              <a:latin typeface="Arial"/>
            </a:endParaRPr>
          </a:p>
        </p:txBody>
      </p:sp>
      <p:sp>
        <p:nvSpPr>
          <p:cNvPr id="124" name="TextBox 9"/>
          <p:cNvSpPr/>
          <p:nvPr/>
        </p:nvSpPr>
        <p:spPr>
          <a:xfrm>
            <a:off x="822960" y="3931920"/>
            <a:ext cx="4937400" cy="15541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0" u="none" strike="noStrike">
                <a:solidFill>
                  <a:srgbClr val="1A1A2E"/>
                </a:solidFill>
                <a:effectLst/>
                <a:uFillTx/>
                <a:latin typeface="Calibri"/>
              </a:rPr>
              <a:t>Dialers • IVR/IVM • Agent workspace</a:t>
            </a:r>
            <a:endParaRPr lang="en-IN" sz="1200" b="0" u="none" strike="noStrike">
              <a:solidFill>
                <a:srgbClr val="000000"/>
              </a:solidFill>
              <a:effectLst/>
              <a:uFillTx/>
              <a:latin typeface="Arial"/>
            </a:endParaRPr>
          </a:p>
          <a:p>
            <a:pPr algn="ctr" defTabSz="457200">
              <a:lnSpc>
                <a:spcPct val="115000"/>
              </a:lnSpc>
            </a:pPr>
            <a:r>
              <a:rPr lang="en-US" sz="1200" b="0" u="none" strike="noStrike">
                <a:solidFill>
                  <a:srgbClr val="1A1A2E"/>
                </a:solidFill>
                <a:effectLst/>
                <a:uFillTx/>
                <a:latin typeface="Calibri"/>
              </a:rPr>
              <a:t>Recording • Native CRM/ITSM • Analytics</a:t>
            </a:r>
            <a:endParaRPr lang="en-IN" sz="1200" b="0" u="none" strike="noStrike">
              <a:solidFill>
                <a:srgbClr val="000000"/>
              </a:solidFill>
              <a:effectLst/>
              <a:uFillTx/>
              <a:latin typeface="Arial"/>
            </a:endParaRPr>
          </a:p>
        </p:txBody>
      </p:sp>
      <p:sp>
        <p:nvSpPr>
          <p:cNvPr id="125" name="Rounded Rectangle 10"/>
          <p:cNvSpPr/>
          <p:nvPr/>
        </p:nvSpPr>
        <p:spPr>
          <a:xfrm>
            <a:off x="6263640" y="3200400"/>
            <a:ext cx="5303160" cy="2377080"/>
          </a:xfrm>
          <a:prstGeom prst="roundRect">
            <a:avLst>
              <a:gd name="adj" fmla="val 12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500" b="1" u="none" strike="noStrike">
                <a:solidFill>
                  <a:srgbClr val="FFFFFF"/>
                </a:solidFill>
                <a:effectLst/>
                <a:uFillTx/>
                <a:latin typeface="Calibri"/>
              </a:rPr>
              <a:t>QBITEL handles what the regulators ask about it.</a:t>
            </a:r>
            <a:endParaRPr lang="en-IN" sz="1500" b="0" u="none" strike="noStrike">
              <a:solidFill>
                <a:srgbClr val="FFFFFF"/>
              </a:solidFill>
              <a:effectLst/>
              <a:uFillTx/>
              <a:latin typeface="Arial"/>
            </a:endParaRPr>
          </a:p>
        </p:txBody>
      </p:sp>
      <p:sp>
        <p:nvSpPr>
          <p:cNvPr id="126" name="TextBox 11"/>
          <p:cNvSpPr/>
          <p:nvPr/>
        </p:nvSpPr>
        <p:spPr>
          <a:xfrm>
            <a:off x="6400800" y="3931920"/>
            <a:ext cx="5028840" cy="15541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0" u="none" strike="noStrike">
                <a:solidFill>
                  <a:srgbClr val="FFFFFF"/>
                </a:solidFill>
                <a:effectLst/>
                <a:uFillTx/>
                <a:latin typeface="Calibri"/>
              </a:rPr>
              <a:t>PQC encryption • DTMF masking • Toll-fraud detection</a:t>
            </a:r>
            <a:endParaRPr lang="en-IN" sz="1200" b="0" u="none" strike="noStrike">
              <a:solidFill>
                <a:srgbClr val="000000"/>
              </a:solidFill>
              <a:effectLst/>
              <a:uFillTx/>
              <a:latin typeface="Arial"/>
            </a:endParaRPr>
          </a:p>
          <a:p>
            <a:pPr algn="ctr" defTabSz="457200">
              <a:lnSpc>
                <a:spcPct val="115000"/>
              </a:lnSpc>
            </a:pPr>
            <a:r>
              <a:rPr lang="en-US" sz="1200" b="0" u="none" strike="noStrike">
                <a:solidFill>
                  <a:srgbClr val="FFFFFF"/>
                </a:solidFill>
                <a:effectLst/>
                <a:uFillTx/>
                <a:latin typeface="Calibri"/>
              </a:rPr>
              <a:t>Agent DLP • Multi-tenant compliance evidence</a:t>
            </a:r>
            <a:endParaRPr lang="en-IN" sz="1200" b="0" u="none" strike="noStrike">
              <a:solidFill>
                <a:srgbClr val="000000"/>
              </a:solidFill>
              <a:effectLst/>
              <a:uFillTx/>
              <a:latin typeface="Arial"/>
            </a:endParaRPr>
          </a:p>
        </p:txBody>
      </p:sp>
      <p:sp>
        <p:nvSpPr>
          <p:cNvPr id="127" name="TextBox 12"/>
          <p:cNvSpPr/>
          <p:nvPr/>
        </p:nvSpPr>
        <p:spPr>
          <a:xfrm>
            <a:off x="640080" y="5760720"/>
            <a:ext cx="10881000" cy="45684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400" b="1" i="1" u="none" strike="noStrike">
                <a:solidFill>
                  <a:srgbClr val="F0A500"/>
                </a:solidFill>
                <a:effectLst/>
                <a:uFillTx/>
                <a:latin typeface="Calibri"/>
              </a:rPr>
              <a:t>Together you sell one platform. Separately, you both leave money on the table.</a:t>
            </a:r>
            <a:endParaRPr lang="en-IN" sz="1400" b="0" u="none" strike="noStrike">
              <a:solidFill>
                <a:srgbClr val="000000"/>
              </a:solidFill>
              <a:effectLst/>
              <a:uFillTx/>
              <a:latin typeface="Arial"/>
            </a:endParaRPr>
          </a:p>
        </p:txBody>
      </p:sp>
      <p:sp>
        <p:nvSpPr>
          <p:cNvPr id="128" name="Rectangle 13"/>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9" name="Rectangle 14"/>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30" name="TextBox 15"/>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131" name="TextBox 16"/>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3"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4"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5"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WHAT WE UNDERSTAND ABOUT TCN OPERATOR</a:t>
            </a:r>
            <a:endParaRPr lang="en-IN" sz="1800" b="0" u="none" strike="noStrike">
              <a:solidFill>
                <a:srgbClr val="000000"/>
              </a:solidFill>
              <a:effectLst/>
              <a:uFillTx/>
              <a:latin typeface="Arial"/>
            </a:endParaRPr>
          </a:p>
        </p:txBody>
      </p:sp>
      <p:sp>
        <p:nvSpPr>
          <p:cNvPr id="136"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From public materials — please correct anything that does not match</a:t>
            </a:r>
            <a:endParaRPr lang="en-IN" sz="1050" b="0" u="none" strike="noStrike">
              <a:solidFill>
                <a:srgbClr val="000000"/>
              </a:solidFill>
              <a:effectLst/>
              <a:uFillTx/>
              <a:latin typeface="Arial"/>
            </a:endParaRPr>
          </a:p>
        </p:txBody>
      </p:sp>
      <p:sp>
        <p:nvSpPr>
          <p:cNvPr id="137"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138" name="Rounded Rectangle 7"/>
          <p:cNvSpPr/>
          <p:nvPr/>
        </p:nvSpPr>
        <p:spPr>
          <a:xfrm>
            <a:off x="640080" y="960120"/>
            <a:ext cx="2377080" cy="548280"/>
          </a:xfrm>
          <a:prstGeom prst="roundRect">
            <a:avLst>
              <a:gd name="adj" fmla="val 12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FFFFFF"/>
                </a:solidFill>
                <a:effectLst/>
                <a:uFillTx/>
                <a:latin typeface="Calibri"/>
              </a:rPr>
              <a:t>Product</a:t>
            </a:r>
            <a:endParaRPr lang="en-IN" sz="1100" b="0" u="none" strike="noStrike">
              <a:solidFill>
                <a:srgbClr val="FFFFFF"/>
              </a:solidFill>
              <a:effectLst/>
              <a:uFillTx/>
              <a:latin typeface="Arial"/>
            </a:endParaRPr>
          </a:p>
        </p:txBody>
      </p:sp>
      <p:sp>
        <p:nvSpPr>
          <p:cNvPr id="139" name="Rounded Rectangle 8"/>
          <p:cNvSpPr/>
          <p:nvPr/>
        </p:nvSpPr>
        <p:spPr>
          <a:xfrm>
            <a:off x="3063240" y="960120"/>
            <a:ext cx="8503560" cy="548280"/>
          </a:xfrm>
          <a:prstGeom prst="roundRect">
            <a:avLst>
              <a:gd name="adj" fmla="val 12000"/>
            </a:avLst>
          </a:prstGeom>
          <a:solidFill>
            <a:srgbClr val="F4F7FA"/>
          </a:solidFill>
          <a:ln>
            <a:solidFill>
              <a:srgbClr val="E6EAE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TCN Operator — unified cloud contact center platform</a:t>
            </a:r>
            <a:endParaRPr lang="en-IN" sz="1050" b="0" u="none" strike="noStrike">
              <a:solidFill>
                <a:srgbClr val="000000"/>
              </a:solidFill>
              <a:effectLst/>
              <a:uFillTx/>
              <a:latin typeface="Arial"/>
            </a:endParaRPr>
          </a:p>
        </p:txBody>
      </p:sp>
      <p:sp>
        <p:nvSpPr>
          <p:cNvPr id="140" name="Rounded Rectangle 9"/>
          <p:cNvSpPr/>
          <p:nvPr/>
        </p:nvSpPr>
        <p:spPr>
          <a:xfrm>
            <a:off x="640080" y="1563480"/>
            <a:ext cx="2377080" cy="548280"/>
          </a:xfrm>
          <a:prstGeom prst="roundRect">
            <a:avLst>
              <a:gd name="adj" fmla="val 12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FFFFFF"/>
                </a:solidFill>
                <a:effectLst/>
                <a:uFillTx/>
                <a:latin typeface="Calibri"/>
              </a:rPr>
              <a:t>Core capabilities</a:t>
            </a:r>
            <a:endParaRPr lang="en-IN" sz="1100" b="0" u="none" strike="noStrike">
              <a:solidFill>
                <a:srgbClr val="FFFFFF"/>
              </a:solidFill>
              <a:effectLst/>
              <a:uFillTx/>
              <a:latin typeface="Arial"/>
            </a:endParaRPr>
          </a:p>
        </p:txBody>
      </p:sp>
      <p:sp>
        <p:nvSpPr>
          <p:cNvPr id="141" name="Rounded Rectangle 10"/>
          <p:cNvSpPr/>
          <p:nvPr/>
        </p:nvSpPr>
        <p:spPr>
          <a:xfrm>
            <a:off x="3063240" y="1563480"/>
            <a:ext cx="8503560" cy="548280"/>
          </a:xfrm>
          <a:prstGeom prst="roundRect">
            <a:avLst>
              <a:gd name="adj" fmla="val 12000"/>
            </a:avLst>
          </a:prstGeom>
          <a:solidFill>
            <a:srgbClr val="F4F7FA"/>
          </a:solidFill>
          <a:ln>
            <a:solidFill>
              <a:srgbClr val="E6EAE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Autodialer • Manual dialer • Preview dialer • IVR • IVM • Voicemail • Speech analytics • Call recording • Agent scripting • Dashboards • Live monitoring</a:t>
            </a:r>
            <a:endParaRPr lang="en-IN" sz="1050" b="0" u="none" strike="noStrike">
              <a:solidFill>
                <a:srgbClr val="000000"/>
              </a:solidFill>
              <a:effectLst/>
              <a:uFillTx/>
              <a:latin typeface="Arial"/>
            </a:endParaRPr>
          </a:p>
        </p:txBody>
      </p:sp>
      <p:sp>
        <p:nvSpPr>
          <p:cNvPr id="142" name="Rounded Rectangle 11"/>
          <p:cNvSpPr/>
          <p:nvPr/>
        </p:nvSpPr>
        <p:spPr>
          <a:xfrm>
            <a:off x="640080" y="2167200"/>
            <a:ext cx="2377080" cy="548280"/>
          </a:xfrm>
          <a:prstGeom prst="roundRect">
            <a:avLst>
              <a:gd name="adj" fmla="val 12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FFFFFF"/>
                </a:solidFill>
                <a:effectLst/>
                <a:uFillTx/>
                <a:latin typeface="Calibri"/>
              </a:rPr>
              <a:t>Channels</a:t>
            </a:r>
            <a:endParaRPr lang="en-IN" sz="1100" b="0" u="none" strike="noStrike">
              <a:solidFill>
                <a:srgbClr val="FFFFFF"/>
              </a:solidFill>
              <a:effectLst/>
              <a:uFillTx/>
              <a:latin typeface="Arial"/>
            </a:endParaRPr>
          </a:p>
        </p:txBody>
      </p:sp>
      <p:sp>
        <p:nvSpPr>
          <p:cNvPr id="143" name="Rounded Rectangle 12"/>
          <p:cNvSpPr/>
          <p:nvPr/>
        </p:nvSpPr>
        <p:spPr>
          <a:xfrm>
            <a:off x="3063240" y="2167200"/>
            <a:ext cx="8503560" cy="548280"/>
          </a:xfrm>
          <a:prstGeom prst="roundRect">
            <a:avLst>
              <a:gd name="adj" fmla="val 12000"/>
            </a:avLst>
          </a:prstGeom>
          <a:solidFill>
            <a:srgbClr val="F4F7FA"/>
          </a:solidFill>
          <a:ln>
            <a:solidFill>
              <a:srgbClr val="E6EAE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Inbound • Outbound • Blended voice • Email • SMS</a:t>
            </a:r>
            <a:endParaRPr lang="en-IN" sz="1050" b="0" u="none" strike="noStrike">
              <a:solidFill>
                <a:srgbClr val="000000"/>
              </a:solidFill>
              <a:effectLst/>
              <a:uFillTx/>
              <a:latin typeface="Arial"/>
            </a:endParaRPr>
          </a:p>
        </p:txBody>
      </p:sp>
      <p:sp>
        <p:nvSpPr>
          <p:cNvPr id="144" name="Rounded Rectangle 13"/>
          <p:cNvSpPr/>
          <p:nvPr/>
        </p:nvSpPr>
        <p:spPr>
          <a:xfrm>
            <a:off x="640080" y="2770560"/>
            <a:ext cx="2377080" cy="548280"/>
          </a:xfrm>
          <a:prstGeom prst="roundRect">
            <a:avLst>
              <a:gd name="adj" fmla="val 12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FFFFFF"/>
                </a:solidFill>
                <a:effectLst/>
                <a:uFillTx/>
                <a:latin typeface="Calibri"/>
              </a:rPr>
              <a:t>Native integrations</a:t>
            </a:r>
            <a:endParaRPr lang="en-IN" sz="1100" b="0" u="none" strike="noStrike">
              <a:solidFill>
                <a:srgbClr val="FFFFFF"/>
              </a:solidFill>
              <a:effectLst/>
              <a:uFillTx/>
              <a:latin typeface="Arial"/>
            </a:endParaRPr>
          </a:p>
        </p:txBody>
      </p:sp>
      <p:sp>
        <p:nvSpPr>
          <p:cNvPr id="145" name="Rounded Rectangle 14"/>
          <p:cNvSpPr/>
          <p:nvPr/>
        </p:nvSpPr>
        <p:spPr>
          <a:xfrm>
            <a:off x="3063240" y="2770560"/>
            <a:ext cx="8503560" cy="548280"/>
          </a:xfrm>
          <a:prstGeom prst="roundRect">
            <a:avLst>
              <a:gd name="adj" fmla="val 12000"/>
            </a:avLst>
          </a:prstGeom>
          <a:solidFill>
            <a:srgbClr val="F4F7FA"/>
          </a:solidFill>
          <a:ln>
            <a:solidFill>
              <a:srgbClr val="E6EAE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Salesforce • Zendesk • ServiceNow • Finvi • Zoho • Freshworks • Leadsquared  (close to 2,000 logos total)</a:t>
            </a:r>
            <a:endParaRPr lang="en-IN" sz="1050" b="0" u="none" strike="noStrike">
              <a:solidFill>
                <a:srgbClr val="000000"/>
              </a:solidFill>
              <a:effectLst/>
              <a:uFillTx/>
              <a:latin typeface="Arial"/>
            </a:endParaRPr>
          </a:p>
        </p:txBody>
      </p:sp>
      <p:sp>
        <p:nvSpPr>
          <p:cNvPr id="146" name="Rounded Rectangle 15"/>
          <p:cNvSpPr/>
          <p:nvPr/>
        </p:nvSpPr>
        <p:spPr>
          <a:xfrm>
            <a:off x="640080" y="3374280"/>
            <a:ext cx="2377080" cy="548280"/>
          </a:xfrm>
          <a:prstGeom prst="roundRect">
            <a:avLst>
              <a:gd name="adj" fmla="val 12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FFFFFF"/>
                </a:solidFill>
                <a:effectLst/>
                <a:uFillTx/>
                <a:latin typeface="Calibri"/>
              </a:rPr>
              <a:t>Integration framework</a:t>
            </a:r>
            <a:endParaRPr lang="en-IN" sz="1100" b="0" u="none" strike="noStrike">
              <a:solidFill>
                <a:srgbClr val="FFFFFF"/>
              </a:solidFill>
              <a:effectLst/>
              <a:uFillTx/>
              <a:latin typeface="Arial"/>
            </a:endParaRPr>
          </a:p>
        </p:txBody>
      </p:sp>
      <p:sp>
        <p:nvSpPr>
          <p:cNvPr id="147" name="Rounded Rectangle 16"/>
          <p:cNvSpPr/>
          <p:nvPr/>
        </p:nvSpPr>
        <p:spPr>
          <a:xfrm>
            <a:off x="3063240" y="3374280"/>
            <a:ext cx="8503560" cy="548280"/>
          </a:xfrm>
          <a:prstGeom prst="roundRect">
            <a:avLst>
              <a:gd name="adj" fmla="val 12000"/>
            </a:avLst>
          </a:prstGeom>
          <a:solidFill>
            <a:srgbClr val="F4F7FA"/>
          </a:solidFill>
          <a:ln>
            <a:solidFill>
              <a:srgbClr val="E6EAE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Advanced REST API; Synapse engine for outbound webhooks and integration actions (2026 enhancement)</a:t>
            </a:r>
            <a:endParaRPr lang="en-IN" sz="1050" b="0" u="none" strike="noStrike">
              <a:solidFill>
                <a:srgbClr val="000000"/>
              </a:solidFill>
              <a:effectLst/>
              <a:uFillTx/>
              <a:latin typeface="Arial"/>
            </a:endParaRPr>
          </a:p>
        </p:txBody>
      </p:sp>
      <p:sp>
        <p:nvSpPr>
          <p:cNvPr id="148" name="Rounded Rectangle 17"/>
          <p:cNvSpPr/>
          <p:nvPr/>
        </p:nvSpPr>
        <p:spPr>
          <a:xfrm>
            <a:off x="640080" y="3977640"/>
            <a:ext cx="2377080" cy="548280"/>
          </a:xfrm>
          <a:prstGeom prst="roundRect">
            <a:avLst>
              <a:gd name="adj" fmla="val 12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FFFFFF"/>
                </a:solidFill>
                <a:effectLst/>
                <a:uFillTx/>
                <a:latin typeface="Calibri"/>
              </a:rPr>
              <a:t>Telephony</a:t>
            </a:r>
            <a:endParaRPr lang="en-IN" sz="1100" b="0" u="none" strike="noStrike">
              <a:solidFill>
                <a:srgbClr val="FFFFFF"/>
              </a:solidFill>
              <a:effectLst/>
              <a:uFillTx/>
              <a:latin typeface="Arial"/>
            </a:endParaRPr>
          </a:p>
        </p:txBody>
      </p:sp>
      <p:sp>
        <p:nvSpPr>
          <p:cNvPr id="149" name="Rounded Rectangle 18"/>
          <p:cNvSpPr/>
          <p:nvPr/>
        </p:nvSpPr>
        <p:spPr>
          <a:xfrm>
            <a:off x="3063240" y="3977640"/>
            <a:ext cx="8503560" cy="548280"/>
          </a:xfrm>
          <a:prstGeom prst="roundRect">
            <a:avLst>
              <a:gd name="adj" fmla="val 12000"/>
            </a:avLst>
          </a:prstGeom>
          <a:solidFill>
            <a:srgbClr val="F4F7FA"/>
          </a:solidFill>
          <a:ln>
            <a:solidFill>
              <a:srgbClr val="E6EAE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SIP-based voice infrastructure with IVR/IVM logic</a:t>
            </a:r>
            <a:endParaRPr lang="en-IN" sz="1050" b="0" u="none" strike="noStrike">
              <a:solidFill>
                <a:srgbClr val="000000"/>
              </a:solidFill>
              <a:effectLst/>
              <a:uFillTx/>
              <a:latin typeface="Arial"/>
            </a:endParaRPr>
          </a:p>
        </p:txBody>
      </p:sp>
      <p:sp>
        <p:nvSpPr>
          <p:cNvPr id="150" name="Rounded Rectangle 19"/>
          <p:cNvSpPr/>
          <p:nvPr/>
        </p:nvSpPr>
        <p:spPr>
          <a:xfrm>
            <a:off x="640080" y="4581000"/>
            <a:ext cx="2377080" cy="548280"/>
          </a:xfrm>
          <a:prstGeom prst="roundRect">
            <a:avLst>
              <a:gd name="adj" fmla="val 12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FFFFFF"/>
                </a:solidFill>
                <a:effectLst/>
                <a:uFillTx/>
                <a:latin typeface="Calibri"/>
              </a:rPr>
              <a:t>Customer base</a:t>
            </a:r>
            <a:endParaRPr lang="en-IN" sz="1100" b="0" u="none" strike="noStrike">
              <a:solidFill>
                <a:srgbClr val="FFFFFF"/>
              </a:solidFill>
              <a:effectLst/>
              <a:uFillTx/>
              <a:latin typeface="Arial"/>
            </a:endParaRPr>
          </a:p>
        </p:txBody>
      </p:sp>
      <p:sp>
        <p:nvSpPr>
          <p:cNvPr id="151" name="Rounded Rectangle 20"/>
          <p:cNvSpPr/>
          <p:nvPr/>
        </p:nvSpPr>
        <p:spPr>
          <a:xfrm>
            <a:off x="3063240" y="4581000"/>
            <a:ext cx="8503560" cy="548280"/>
          </a:xfrm>
          <a:prstGeom prst="roundRect">
            <a:avLst>
              <a:gd name="adj" fmla="val 12000"/>
            </a:avLst>
          </a:prstGeom>
          <a:solidFill>
            <a:srgbClr val="F4F7FA"/>
          </a:solidFill>
          <a:ln>
            <a:solidFill>
              <a:srgbClr val="E6EAE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BPOs • Collections • Healthcare • Financial services • CX operations</a:t>
            </a:r>
            <a:endParaRPr lang="en-IN" sz="1050" b="0" u="none" strike="noStrike">
              <a:solidFill>
                <a:srgbClr val="000000"/>
              </a:solidFill>
              <a:effectLst/>
              <a:uFillTx/>
              <a:latin typeface="Arial"/>
            </a:endParaRPr>
          </a:p>
        </p:txBody>
      </p:sp>
      <p:sp>
        <p:nvSpPr>
          <p:cNvPr id="152" name="Rounded Rectangle 21"/>
          <p:cNvSpPr/>
          <p:nvPr/>
        </p:nvSpPr>
        <p:spPr>
          <a:xfrm>
            <a:off x="640080" y="5184720"/>
            <a:ext cx="2377080" cy="548280"/>
          </a:xfrm>
          <a:prstGeom prst="roundRect">
            <a:avLst>
              <a:gd name="adj" fmla="val 12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FFFFFF"/>
                </a:solidFill>
                <a:effectLst/>
                <a:uFillTx/>
                <a:latin typeface="Calibri"/>
              </a:rPr>
              <a:t>2026 direction</a:t>
            </a:r>
            <a:endParaRPr lang="en-IN" sz="1100" b="0" u="none" strike="noStrike">
              <a:solidFill>
                <a:srgbClr val="FFFFFF"/>
              </a:solidFill>
              <a:effectLst/>
              <a:uFillTx/>
              <a:latin typeface="Arial"/>
            </a:endParaRPr>
          </a:p>
        </p:txBody>
      </p:sp>
      <p:sp>
        <p:nvSpPr>
          <p:cNvPr id="153" name="Rounded Rectangle 22"/>
          <p:cNvSpPr/>
          <p:nvPr/>
        </p:nvSpPr>
        <p:spPr>
          <a:xfrm>
            <a:off x="3063240" y="5184720"/>
            <a:ext cx="8503560" cy="548280"/>
          </a:xfrm>
          <a:prstGeom prst="roundRect">
            <a:avLst>
              <a:gd name="adj" fmla="val 12000"/>
            </a:avLst>
          </a:prstGeom>
          <a:solidFill>
            <a:srgbClr val="F4F7FA"/>
          </a:solidFill>
          <a:ln>
            <a:solidFill>
              <a:srgbClr val="E6EAE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AI-powered features • Centralized automation • Omnichannel throughput</a:t>
            </a:r>
            <a:endParaRPr lang="en-IN" sz="1050" b="0" u="none" strike="noStrike">
              <a:solidFill>
                <a:srgbClr val="000000"/>
              </a:solidFill>
              <a:effectLst/>
              <a:uFillTx/>
              <a:latin typeface="Arial"/>
            </a:endParaRPr>
          </a:p>
        </p:txBody>
      </p:sp>
      <p:sp>
        <p:nvSpPr>
          <p:cNvPr id="154" name="TextBox 23"/>
          <p:cNvSpPr/>
          <p:nvPr/>
        </p:nvSpPr>
        <p:spPr>
          <a:xfrm>
            <a:off x="640080" y="5989320"/>
            <a:ext cx="10881000" cy="36540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100" b="0" i="1" u="none" strike="noStrike">
                <a:solidFill>
                  <a:srgbClr val="006B7A"/>
                </a:solidFill>
                <a:effectLst/>
                <a:uFillTx/>
                <a:latin typeface="Calibri"/>
              </a:rPr>
              <a:t>The gap your BPO customers raise loudest: the security &amp; compliance layer across all of these components per-client. That is what QBITEL Bridge does.</a:t>
            </a:r>
            <a:endParaRPr lang="en-IN" sz="1100" b="0" u="none" strike="noStrike">
              <a:solidFill>
                <a:srgbClr val="000000"/>
              </a:solidFill>
              <a:effectLst/>
              <a:uFillTx/>
              <a:latin typeface="Arial"/>
            </a:endParaRPr>
          </a:p>
        </p:txBody>
      </p:sp>
      <p:sp>
        <p:nvSpPr>
          <p:cNvPr id="155" name="Rectangle 24"/>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6" name="Rectangle 25"/>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57" name="TextBox 26"/>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158" name="TextBox 27"/>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0"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1"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2"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QBITEL BRIDGE — AT A GLANCE</a:t>
            </a:r>
            <a:endParaRPr lang="en-IN" sz="1800" b="0" u="none" strike="noStrike">
              <a:solidFill>
                <a:srgbClr val="000000"/>
              </a:solidFill>
              <a:effectLst/>
              <a:uFillTx/>
              <a:latin typeface="Arial"/>
            </a:endParaRPr>
          </a:p>
        </p:txBody>
      </p:sp>
      <p:sp>
        <p:nvSpPr>
          <p:cNvPr id="163"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AI-powered, network-overlay security &amp; compliance for contact centers</a:t>
            </a:r>
            <a:endParaRPr lang="en-IN" sz="1050" b="0" u="none" strike="noStrike">
              <a:solidFill>
                <a:srgbClr val="000000"/>
              </a:solidFill>
              <a:effectLst/>
              <a:uFillTx/>
              <a:latin typeface="Arial"/>
            </a:endParaRPr>
          </a:p>
        </p:txBody>
      </p:sp>
      <p:sp>
        <p:nvSpPr>
          <p:cNvPr id="164"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165" name="Rounded Rectangle 7"/>
          <p:cNvSpPr/>
          <p:nvPr/>
        </p:nvSpPr>
        <p:spPr>
          <a:xfrm>
            <a:off x="371880" y="960120"/>
            <a:ext cx="2194200" cy="2194200"/>
          </a:xfrm>
          <a:prstGeom prst="roundRect">
            <a:avLst>
              <a:gd name="adj" fmla="val 12000"/>
            </a:avLst>
          </a:prstGeom>
          <a:solidFill>
            <a:srgbClr val="F4F7FA"/>
          </a:solidFill>
          <a:ln w="1270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6" name="Rectangle 8"/>
          <p:cNvSpPr/>
          <p:nvPr/>
        </p:nvSpPr>
        <p:spPr>
          <a:xfrm>
            <a:off x="371880" y="960120"/>
            <a:ext cx="2194200" cy="50256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300" b="1" u="none" strike="noStrike">
                <a:solidFill>
                  <a:srgbClr val="F0A500"/>
                </a:solidFill>
                <a:effectLst/>
                <a:uFillTx/>
                <a:latin typeface="Calibri"/>
              </a:rPr>
              <a:t>DISCOVER</a:t>
            </a:r>
            <a:endParaRPr lang="en-IN" sz="1300" b="0" u="none" strike="noStrike">
              <a:solidFill>
                <a:srgbClr val="FFFFFF"/>
              </a:solidFill>
              <a:effectLst/>
              <a:uFillTx/>
              <a:latin typeface="Arial"/>
            </a:endParaRPr>
          </a:p>
        </p:txBody>
      </p:sp>
      <p:sp>
        <p:nvSpPr>
          <p:cNvPr id="167" name="Rectangle 9"/>
          <p:cNvSpPr/>
          <p:nvPr/>
        </p:nvSpPr>
        <p:spPr>
          <a:xfrm>
            <a:off x="371880" y="1463040"/>
            <a:ext cx="2194200" cy="3636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68" name="TextBox 10"/>
          <p:cNvSpPr/>
          <p:nvPr/>
        </p:nvSpPr>
        <p:spPr>
          <a:xfrm>
            <a:off x="371880" y="1600200"/>
            <a:ext cx="2194200" cy="8226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AI protocol &amp;</a:t>
            </a:r>
            <a:endParaRPr lang="en-IN" sz="1200" b="0" u="none" strike="noStrike">
              <a:solidFill>
                <a:srgbClr val="000000"/>
              </a:solidFill>
              <a:effectLst/>
              <a:uFillTx/>
              <a:latin typeface="Arial"/>
            </a:endParaRPr>
          </a:p>
          <a:p>
            <a:pPr algn="ctr" defTabSz="457200">
              <a:lnSpc>
                <a:spcPct val="115000"/>
              </a:lnSpc>
            </a:pPr>
            <a:r>
              <a:rPr lang="en-US" sz="1200" b="1" u="none" strike="noStrike">
                <a:solidFill>
                  <a:srgbClr val="0D1B3E"/>
                </a:solidFill>
                <a:effectLst/>
                <a:uFillTx/>
                <a:latin typeface="Calibri"/>
              </a:rPr>
              <a:t>asset graph</a:t>
            </a:r>
            <a:endParaRPr lang="en-IN" sz="1200" b="0" u="none" strike="noStrike">
              <a:solidFill>
                <a:srgbClr val="000000"/>
              </a:solidFill>
              <a:effectLst/>
              <a:uFillTx/>
              <a:latin typeface="Arial"/>
            </a:endParaRPr>
          </a:p>
        </p:txBody>
      </p:sp>
      <p:sp>
        <p:nvSpPr>
          <p:cNvPr id="169" name="TextBox 11"/>
          <p:cNvSpPr/>
          <p:nvPr/>
        </p:nvSpPr>
        <p:spPr>
          <a:xfrm>
            <a:off x="371880" y="2468880"/>
            <a:ext cx="219420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000" b="0" i="1" u="none" strike="noStrike">
                <a:solidFill>
                  <a:srgbClr val="5A6A7A"/>
                </a:solidFill>
                <a:effectLst/>
                <a:uFillTx/>
                <a:latin typeface="Calibri"/>
              </a:rPr>
              <a:t>2–4 hour scan</a:t>
            </a:r>
            <a:endParaRPr lang="en-IN" sz="1000" b="0" u="none" strike="noStrike">
              <a:solidFill>
                <a:srgbClr val="000000"/>
              </a:solidFill>
              <a:effectLst/>
              <a:uFillTx/>
              <a:latin typeface="Arial"/>
            </a:endParaRPr>
          </a:p>
          <a:p>
            <a:pPr algn="ctr" defTabSz="457200">
              <a:lnSpc>
                <a:spcPct val="115000"/>
              </a:lnSpc>
            </a:pPr>
            <a:r>
              <a:rPr lang="en-US" sz="1000" b="0" i="1" u="none" strike="noStrike">
                <a:solidFill>
                  <a:srgbClr val="5A6A7A"/>
                </a:solidFill>
                <a:effectLst/>
                <a:uFillTx/>
                <a:latin typeface="Calibri"/>
              </a:rPr>
              <a:t>89%+ accuracy</a:t>
            </a:r>
            <a:endParaRPr lang="en-IN" sz="1000" b="0" u="none" strike="noStrike">
              <a:solidFill>
                <a:srgbClr val="000000"/>
              </a:solidFill>
              <a:effectLst/>
              <a:uFillTx/>
              <a:latin typeface="Arial"/>
            </a:endParaRPr>
          </a:p>
        </p:txBody>
      </p:sp>
      <p:sp>
        <p:nvSpPr>
          <p:cNvPr id="170" name="Rounded Rectangle 12"/>
          <p:cNvSpPr/>
          <p:nvPr/>
        </p:nvSpPr>
        <p:spPr>
          <a:xfrm>
            <a:off x="2685240" y="960120"/>
            <a:ext cx="2194200" cy="2194200"/>
          </a:xfrm>
          <a:prstGeom prst="roundRect">
            <a:avLst>
              <a:gd name="adj" fmla="val 12000"/>
            </a:avLst>
          </a:prstGeom>
          <a:solidFill>
            <a:srgbClr val="F4F7FA"/>
          </a:solidFill>
          <a:ln w="1270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1" name="Rectangle 13"/>
          <p:cNvSpPr/>
          <p:nvPr/>
        </p:nvSpPr>
        <p:spPr>
          <a:xfrm>
            <a:off x="2685240" y="960120"/>
            <a:ext cx="2194200" cy="50256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300" b="1" u="none" strike="noStrike">
                <a:solidFill>
                  <a:srgbClr val="F0A500"/>
                </a:solidFill>
                <a:effectLst/>
                <a:uFillTx/>
                <a:latin typeface="Calibri"/>
              </a:rPr>
              <a:t>UNDERSTAND</a:t>
            </a:r>
            <a:endParaRPr lang="en-IN" sz="1300" b="0" u="none" strike="noStrike">
              <a:solidFill>
                <a:srgbClr val="FFFFFF"/>
              </a:solidFill>
              <a:effectLst/>
              <a:uFillTx/>
              <a:latin typeface="Arial"/>
            </a:endParaRPr>
          </a:p>
        </p:txBody>
      </p:sp>
      <p:sp>
        <p:nvSpPr>
          <p:cNvPr id="172" name="Rectangle 14"/>
          <p:cNvSpPr/>
          <p:nvPr/>
        </p:nvSpPr>
        <p:spPr>
          <a:xfrm>
            <a:off x="2685240" y="1463040"/>
            <a:ext cx="2194200" cy="3636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73" name="TextBox 15"/>
          <p:cNvSpPr/>
          <p:nvPr/>
        </p:nvSpPr>
        <p:spPr>
          <a:xfrm>
            <a:off x="2685240" y="1600200"/>
            <a:ext cx="2194200" cy="8226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LLM-generated</a:t>
            </a:r>
            <a:endParaRPr lang="en-IN" sz="1200" b="0" u="none" strike="noStrike">
              <a:solidFill>
                <a:srgbClr val="000000"/>
              </a:solidFill>
              <a:effectLst/>
              <a:uFillTx/>
              <a:latin typeface="Arial"/>
            </a:endParaRPr>
          </a:p>
          <a:p>
            <a:pPr algn="ctr" defTabSz="457200">
              <a:lnSpc>
                <a:spcPct val="115000"/>
              </a:lnSpc>
            </a:pPr>
            <a:r>
              <a:rPr lang="en-US" sz="1200" b="1" u="none" strike="noStrike">
                <a:solidFill>
                  <a:srgbClr val="0D1B3E"/>
                </a:solidFill>
                <a:effectLst/>
                <a:uFillTx/>
                <a:latin typeface="Calibri"/>
              </a:rPr>
              <a:t>risk narratives</a:t>
            </a:r>
            <a:endParaRPr lang="en-IN" sz="1200" b="0" u="none" strike="noStrike">
              <a:solidFill>
                <a:srgbClr val="000000"/>
              </a:solidFill>
              <a:effectLst/>
              <a:uFillTx/>
              <a:latin typeface="Arial"/>
            </a:endParaRPr>
          </a:p>
        </p:txBody>
      </p:sp>
      <p:sp>
        <p:nvSpPr>
          <p:cNvPr id="174" name="TextBox 16"/>
          <p:cNvSpPr/>
          <p:nvPr/>
        </p:nvSpPr>
        <p:spPr>
          <a:xfrm>
            <a:off x="2685240" y="2468880"/>
            <a:ext cx="219420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000" b="0" i="1" u="none" strike="noStrike">
                <a:solidFill>
                  <a:srgbClr val="5A6A7A"/>
                </a:solidFill>
                <a:effectLst/>
                <a:uFillTx/>
                <a:latin typeface="Calibri"/>
              </a:rPr>
              <a:t>Per-tenant</a:t>
            </a:r>
            <a:endParaRPr lang="en-IN" sz="1000" b="0" u="none" strike="noStrike">
              <a:solidFill>
                <a:srgbClr val="000000"/>
              </a:solidFill>
              <a:effectLst/>
              <a:uFillTx/>
              <a:latin typeface="Arial"/>
            </a:endParaRPr>
          </a:p>
          <a:p>
            <a:pPr algn="ctr" defTabSz="457200">
              <a:lnSpc>
                <a:spcPct val="115000"/>
              </a:lnSpc>
            </a:pPr>
            <a:r>
              <a:rPr lang="en-US" sz="1000" b="0" i="1" u="none" strike="noStrike">
                <a:solidFill>
                  <a:srgbClr val="5A6A7A"/>
                </a:solidFill>
                <a:effectLst/>
                <a:uFillTx/>
                <a:latin typeface="Calibri"/>
              </a:rPr>
              <a:t>risk explained</a:t>
            </a:r>
            <a:endParaRPr lang="en-IN" sz="1000" b="0" u="none" strike="noStrike">
              <a:solidFill>
                <a:srgbClr val="000000"/>
              </a:solidFill>
              <a:effectLst/>
              <a:uFillTx/>
              <a:latin typeface="Arial"/>
            </a:endParaRPr>
          </a:p>
        </p:txBody>
      </p:sp>
      <p:sp>
        <p:nvSpPr>
          <p:cNvPr id="175" name="Rounded Rectangle 17"/>
          <p:cNvSpPr/>
          <p:nvPr/>
        </p:nvSpPr>
        <p:spPr>
          <a:xfrm>
            <a:off x="4998600" y="960120"/>
            <a:ext cx="2194200" cy="2194200"/>
          </a:xfrm>
          <a:prstGeom prst="roundRect">
            <a:avLst>
              <a:gd name="adj" fmla="val 12000"/>
            </a:avLst>
          </a:prstGeom>
          <a:solidFill>
            <a:srgbClr val="F4F7FA"/>
          </a:solidFill>
          <a:ln w="1270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6" name="Rectangle 18"/>
          <p:cNvSpPr/>
          <p:nvPr/>
        </p:nvSpPr>
        <p:spPr>
          <a:xfrm>
            <a:off x="4998600" y="960120"/>
            <a:ext cx="2194200" cy="50256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300" b="1" u="none" strike="noStrike">
                <a:solidFill>
                  <a:srgbClr val="F0A500"/>
                </a:solidFill>
                <a:effectLst/>
                <a:uFillTx/>
                <a:latin typeface="Calibri"/>
              </a:rPr>
              <a:t>MODERNIZE</a:t>
            </a:r>
            <a:endParaRPr lang="en-IN" sz="1300" b="0" u="none" strike="noStrike">
              <a:solidFill>
                <a:srgbClr val="FFFFFF"/>
              </a:solidFill>
              <a:effectLst/>
              <a:uFillTx/>
              <a:latin typeface="Arial"/>
            </a:endParaRPr>
          </a:p>
        </p:txBody>
      </p:sp>
      <p:sp>
        <p:nvSpPr>
          <p:cNvPr id="177" name="Rectangle 19"/>
          <p:cNvSpPr/>
          <p:nvPr/>
        </p:nvSpPr>
        <p:spPr>
          <a:xfrm>
            <a:off x="4998600" y="1463040"/>
            <a:ext cx="2194200" cy="3636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78" name="TextBox 20"/>
          <p:cNvSpPr/>
          <p:nvPr/>
        </p:nvSpPr>
        <p:spPr>
          <a:xfrm>
            <a:off x="4998600" y="1600200"/>
            <a:ext cx="2194200" cy="8226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Auto REST APIs</a:t>
            </a:r>
            <a:endParaRPr lang="en-IN" sz="1200" b="0" u="none" strike="noStrike">
              <a:solidFill>
                <a:srgbClr val="000000"/>
              </a:solidFill>
              <a:effectLst/>
              <a:uFillTx/>
              <a:latin typeface="Arial"/>
            </a:endParaRPr>
          </a:p>
          <a:p>
            <a:pPr algn="ctr" defTabSz="457200">
              <a:lnSpc>
                <a:spcPct val="115000"/>
              </a:lnSpc>
            </a:pPr>
            <a:r>
              <a:rPr lang="en-US" sz="1200" b="1" u="none" strike="noStrike">
                <a:solidFill>
                  <a:srgbClr val="0D1B3E"/>
                </a:solidFill>
                <a:effectLst/>
                <a:uFillTx/>
                <a:latin typeface="Calibri"/>
              </a:rPr>
              <a:t>+ 6 SDKs</a:t>
            </a:r>
            <a:endParaRPr lang="en-IN" sz="1200" b="0" u="none" strike="noStrike">
              <a:solidFill>
                <a:srgbClr val="000000"/>
              </a:solidFill>
              <a:effectLst/>
              <a:uFillTx/>
              <a:latin typeface="Arial"/>
            </a:endParaRPr>
          </a:p>
        </p:txBody>
      </p:sp>
      <p:sp>
        <p:nvSpPr>
          <p:cNvPr id="179" name="TextBox 21"/>
          <p:cNvSpPr/>
          <p:nvPr/>
        </p:nvSpPr>
        <p:spPr>
          <a:xfrm>
            <a:off x="4998600" y="2468880"/>
            <a:ext cx="219420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000" b="0" i="1" u="none" strike="noStrike">
                <a:solidFill>
                  <a:srgbClr val="5A6A7A"/>
                </a:solidFill>
                <a:effectLst/>
                <a:uFillTx/>
                <a:latin typeface="Calibri"/>
              </a:rPr>
              <a:t>Translation Studio</a:t>
            </a:r>
            <a:endParaRPr lang="en-IN" sz="1000" b="0" u="none" strike="noStrike">
              <a:solidFill>
                <a:srgbClr val="000000"/>
              </a:solidFill>
              <a:effectLst/>
              <a:uFillTx/>
              <a:latin typeface="Arial"/>
            </a:endParaRPr>
          </a:p>
          <a:p>
            <a:pPr algn="ctr" defTabSz="457200">
              <a:lnSpc>
                <a:spcPct val="115000"/>
              </a:lnSpc>
            </a:pPr>
            <a:r>
              <a:rPr lang="en-US" sz="1000" b="0" i="1" u="none" strike="noStrike">
                <a:solidFill>
                  <a:srgbClr val="5A6A7A"/>
                </a:solidFill>
                <a:effectLst/>
                <a:uFillTx/>
                <a:latin typeface="Calibri"/>
              </a:rPr>
              <a:t>for legacy/custom</a:t>
            </a:r>
            <a:endParaRPr lang="en-IN" sz="1000" b="0" u="none" strike="noStrike">
              <a:solidFill>
                <a:srgbClr val="000000"/>
              </a:solidFill>
              <a:effectLst/>
              <a:uFillTx/>
              <a:latin typeface="Arial"/>
            </a:endParaRPr>
          </a:p>
        </p:txBody>
      </p:sp>
      <p:sp>
        <p:nvSpPr>
          <p:cNvPr id="180" name="Rounded Rectangle 22"/>
          <p:cNvSpPr/>
          <p:nvPr/>
        </p:nvSpPr>
        <p:spPr>
          <a:xfrm>
            <a:off x="7311960" y="960120"/>
            <a:ext cx="2194200" cy="2194200"/>
          </a:xfrm>
          <a:prstGeom prst="roundRect">
            <a:avLst>
              <a:gd name="adj" fmla="val 12000"/>
            </a:avLst>
          </a:prstGeom>
          <a:solidFill>
            <a:srgbClr val="F4F7FA"/>
          </a:solidFill>
          <a:ln w="1270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1" name="Rectangle 23"/>
          <p:cNvSpPr/>
          <p:nvPr/>
        </p:nvSpPr>
        <p:spPr>
          <a:xfrm>
            <a:off x="7311960" y="960120"/>
            <a:ext cx="2194200" cy="50256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300" b="1" u="none" strike="noStrike">
                <a:solidFill>
                  <a:srgbClr val="F0A500"/>
                </a:solidFill>
                <a:effectLst/>
                <a:uFillTx/>
                <a:latin typeface="Calibri"/>
              </a:rPr>
              <a:t>PROTECT</a:t>
            </a:r>
            <a:endParaRPr lang="en-IN" sz="1300" b="0" u="none" strike="noStrike">
              <a:solidFill>
                <a:srgbClr val="FFFFFF"/>
              </a:solidFill>
              <a:effectLst/>
              <a:uFillTx/>
              <a:latin typeface="Arial"/>
            </a:endParaRPr>
          </a:p>
        </p:txBody>
      </p:sp>
      <p:sp>
        <p:nvSpPr>
          <p:cNvPr id="182" name="Rectangle 24"/>
          <p:cNvSpPr/>
          <p:nvPr/>
        </p:nvSpPr>
        <p:spPr>
          <a:xfrm>
            <a:off x="7311960" y="1463040"/>
            <a:ext cx="2194200" cy="3636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83" name="TextBox 25"/>
          <p:cNvSpPr/>
          <p:nvPr/>
        </p:nvSpPr>
        <p:spPr>
          <a:xfrm>
            <a:off x="7311960" y="1600200"/>
            <a:ext cx="2194200" cy="8226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PQC overlay, DLP,</a:t>
            </a:r>
            <a:endParaRPr lang="en-IN" sz="1200" b="0" u="none" strike="noStrike">
              <a:solidFill>
                <a:srgbClr val="000000"/>
              </a:solidFill>
              <a:effectLst/>
              <a:uFillTx/>
              <a:latin typeface="Arial"/>
            </a:endParaRPr>
          </a:p>
          <a:p>
            <a:pPr algn="ctr" defTabSz="457200">
              <a:lnSpc>
                <a:spcPct val="115000"/>
              </a:lnSpc>
            </a:pPr>
            <a:r>
              <a:rPr lang="en-US" sz="1200" b="1" u="none" strike="noStrike">
                <a:solidFill>
                  <a:srgbClr val="0D1B3E"/>
                </a:solidFill>
                <a:effectLst/>
                <a:uFillTx/>
                <a:latin typeface="Calibri"/>
              </a:rPr>
              <a:t>toll-fraud, DTMF</a:t>
            </a:r>
            <a:endParaRPr lang="en-IN" sz="1200" b="0" u="none" strike="noStrike">
              <a:solidFill>
                <a:srgbClr val="000000"/>
              </a:solidFill>
              <a:effectLst/>
              <a:uFillTx/>
              <a:latin typeface="Arial"/>
            </a:endParaRPr>
          </a:p>
        </p:txBody>
      </p:sp>
      <p:sp>
        <p:nvSpPr>
          <p:cNvPr id="184" name="TextBox 26"/>
          <p:cNvSpPr/>
          <p:nvPr/>
        </p:nvSpPr>
        <p:spPr>
          <a:xfrm>
            <a:off x="7311960" y="2468880"/>
            <a:ext cx="219420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000" b="0" i="1" u="none" strike="noStrike">
                <a:solidFill>
                  <a:srgbClr val="5A6A7A"/>
                </a:solidFill>
                <a:effectLst/>
                <a:uFillTx/>
                <a:latin typeface="Calibri"/>
              </a:rPr>
              <a:t>78% autonomous</a:t>
            </a:r>
            <a:endParaRPr lang="en-IN" sz="1000" b="0" u="none" strike="noStrike">
              <a:solidFill>
                <a:srgbClr val="000000"/>
              </a:solidFill>
              <a:effectLst/>
              <a:uFillTx/>
              <a:latin typeface="Arial"/>
            </a:endParaRPr>
          </a:p>
          <a:p>
            <a:pPr algn="ctr" defTabSz="457200">
              <a:lnSpc>
                <a:spcPct val="115000"/>
              </a:lnSpc>
            </a:pPr>
            <a:r>
              <a:rPr lang="en-US" sz="1000" b="0" i="1" u="none" strike="noStrike">
                <a:solidFill>
                  <a:srgbClr val="5A6A7A"/>
                </a:solidFill>
                <a:effectLst/>
                <a:uFillTx/>
                <a:latin typeface="Calibri"/>
              </a:rPr>
              <a:t>&lt;2ms voice</a:t>
            </a:r>
            <a:endParaRPr lang="en-IN" sz="1000" b="0" u="none" strike="noStrike">
              <a:solidFill>
                <a:srgbClr val="000000"/>
              </a:solidFill>
              <a:effectLst/>
              <a:uFillTx/>
              <a:latin typeface="Arial"/>
            </a:endParaRPr>
          </a:p>
        </p:txBody>
      </p:sp>
      <p:sp>
        <p:nvSpPr>
          <p:cNvPr id="185" name="Rounded Rectangle 27"/>
          <p:cNvSpPr/>
          <p:nvPr/>
        </p:nvSpPr>
        <p:spPr>
          <a:xfrm>
            <a:off x="9625320" y="960120"/>
            <a:ext cx="2194200" cy="2194200"/>
          </a:xfrm>
          <a:prstGeom prst="roundRect">
            <a:avLst>
              <a:gd name="adj" fmla="val 12000"/>
            </a:avLst>
          </a:prstGeom>
          <a:solidFill>
            <a:srgbClr val="F4F7FA"/>
          </a:solidFill>
          <a:ln w="1270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6" name="Rectangle 28"/>
          <p:cNvSpPr/>
          <p:nvPr/>
        </p:nvSpPr>
        <p:spPr>
          <a:xfrm>
            <a:off x="9625320" y="960120"/>
            <a:ext cx="2194200" cy="50256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300" b="1" u="none" strike="noStrike">
                <a:solidFill>
                  <a:srgbClr val="F0A500"/>
                </a:solidFill>
                <a:effectLst/>
                <a:uFillTx/>
                <a:latin typeface="Calibri"/>
              </a:rPr>
              <a:t>PROVE</a:t>
            </a:r>
            <a:endParaRPr lang="en-IN" sz="1300" b="0" u="none" strike="noStrike">
              <a:solidFill>
                <a:srgbClr val="FFFFFF"/>
              </a:solidFill>
              <a:effectLst/>
              <a:uFillTx/>
              <a:latin typeface="Arial"/>
            </a:endParaRPr>
          </a:p>
        </p:txBody>
      </p:sp>
      <p:sp>
        <p:nvSpPr>
          <p:cNvPr id="187" name="Rectangle 29"/>
          <p:cNvSpPr/>
          <p:nvPr/>
        </p:nvSpPr>
        <p:spPr>
          <a:xfrm>
            <a:off x="9625320" y="1463040"/>
            <a:ext cx="2194200" cy="3636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88" name="TextBox 30"/>
          <p:cNvSpPr/>
          <p:nvPr/>
        </p:nvSpPr>
        <p:spPr>
          <a:xfrm>
            <a:off x="9625320" y="1600200"/>
            <a:ext cx="2194200" cy="8226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Per-tenant evidence</a:t>
            </a:r>
            <a:endParaRPr lang="en-IN" sz="1200" b="0" u="none" strike="noStrike">
              <a:solidFill>
                <a:srgbClr val="000000"/>
              </a:solidFill>
              <a:effectLst/>
              <a:uFillTx/>
              <a:latin typeface="Arial"/>
            </a:endParaRPr>
          </a:p>
          <a:p>
            <a:pPr algn="ctr" defTabSz="457200">
              <a:lnSpc>
                <a:spcPct val="115000"/>
              </a:lnSpc>
            </a:pPr>
            <a:r>
              <a:rPr lang="en-US" sz="1200" b="1" u="none" strike="noStrike">
                <a:solidFill>
                  <a:srgbClr val="0D1B3E"/>
                </a:solidFill>
                <a:effectLst/>
                <a:uFillTx/>
                <a:latin typeface="Calibri"/>
              </a:rPr>
              <a:t>packs</a:t>
            </a:r>
            <a:endParaRPr lang="en-IN" sz="1200" b="0" u="none" strike="noStrike">
              <a:solidFill>
                <a:srgbClr val="000000"/>
              </a:solidFill>
              <a:effectLst/>
              <a:uFillTx/>
              <a:latin typeface="Arial"/>
            </a:endParaRPr>
          </a:p>
        </p:txBody>
      </p:sp>
      <p:sp>
        <p:nvSpPr>
          <p:cNvPr id="189" name="TextBox 31"/>
          <p:cNvSpPr/>
          <p:nvPr/>
        </p:nvSpPr>
        <p:spPr>
          <a:xfrm>
            <a:off x="9625320" y="2468880"/>
            <a:ext cx="219420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000" b="0" i="1" u="none" strike="noStrike">
                <a:solidFill>
                  <a:srgbClr val="5A6A7A"/>
                </a:solidFill>
                <a:effectLst/>
                <a:uFillTx/>
                <a:latin typeface="Calibri"/>
              </a:rPr>
              <a:t>9 frameworks</a:t>
            </a:r>
            <a:endParaRPr lang="en-IN" sz="1000" b="0" u="none" strike="noStrike">
              <a:solidFill>
                <a:srgbClr val="000000"/>
              </a:solidFill>
              <a:effectLst/>
              <a:uFillTx/>
              <a:latin typeface="Arial"/>
            </a:endParaRPr>
          </a:p>
          <a:p>
            <a:pPr algn="ctr" defTabSz="457200">
              <a:lnSpc>
                <a:spcPct val="115000"/>
              </a:lnSpc>
            </a:pPr>
            <a:r>
              <a:rPr lang="en-US" sz="1000" b="0" i="1" u="none" strike="noStrike">
                <a:solidFill>
                  <a:srgbClr val="5A6A7A"/>
                </a:solidFill>
                <a:effectLst/>
                <a:uFillTx/>
                <a:latin typeface="Calibri"/>
              </a:rPr>
              <a:t>&lt;10 min per pack</a:t>
            </a:r>
            <a:endParaRPr lang="en-IN" sz="1000" b="0" u="none" strike="noStrike">
              <a:solidFill>
                <a:srgbClr val="000000"/>
              </a:solidFill>
              <a:effectLst/>
              <a:uFillTx/>
              <a:latin typeface="Arial"/>
            </a:endParaRPr>
          </a:p>
        </p:txBody>
      </p:sp>
      <p:sp>
        <p:nvSpPr>
          <p:cNvPr id="190" name="Rounded Rectangle 32"/>
          <p:cNvSpPr/>
          <p:nvPr/>
        </p:nvSpPr>
        <p:spPr>
          <a:xfrm>
            <a:off x="640080" y="3520440"/>
            <a:ext cx="2377080" cy="776880"/>
          </a:xfrm>
          <a:prstGeom prst="roundRect">
            <a:avLst>
              <a:gd name="adj" fmla="val 50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&lt;2 ms</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PQC voice overhead</a:t>
            </a:r>
            <a:endParaRPr lang="en-IN" sz="1200" b="0" u="none" strike="noStrike">
              <a:solidFill>
                <a:srgbClr val="FFFFFF"/>
              </a:solidFill>
              <a:effectLst/>
              <a:uFillTx/>
              <a:latin typeface="Arial"/>
            </a:endParaRPr>
          </a:p>
        </p:txBody>
      </p:sp>
      <p:sp>
        <p:nvSpPr>
          <p:cNvPr id="191" name="Rounded Rectangle 33"/>
          <p:cNvSpPr/>
          <p:nvPr/>
        </p:nvSpPr>
        <p:spPr>
          <a:xfrm>
            <a:off x="3200400" y="3520440"/>
            <a:ext cx="2377080" cy="776880"/>
          </a:xfrm>
          <a:prstGeom prst="roundRect">
            <a:avLst>
              <a:gd name="adj"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&lt;5 ms</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DTMF masking</a:t>
            </a:r>
            <a:endParaRPr lang="en-IN" sz="1200" b="0" u="none" strike="noStrike">
              <a:solidFill>
                <a:srgbClr val="FFFFFF"/>
              </a:solidFill>
              <a:effectLst/>
              <a:uFillTx/>
              <a:latin typeface="Arial"/>
            </a:endParaRPr>
          </a:p>
        </p:txBody>
      </p:sp>
      <p:sp>
        <p:nvSpPr>
          <p:cNvPr id="192" name="Rounded Rectangle 34"/>
          <p:cNvSpPr/>
          <p:nvPr/>
        </p:nvSpPr>
        <p:spPr>
          <a:xfrm>
            <a:off x="5760720" y="3520440"/>
            <a:ext cx="2377080" cy="776880"/>
          </a:xfrm>
          <a:prstGeom prst="roundRect">
            <a:avLst>
              <a:gd name="adj" fmla="val 50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&lt;1 sec</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toll fraud block</a:t>
            </a:r>
            <a:endParaRPr lang="en-IN" sz="1200" b="0" u="none" strike="noStrike">
              <a:solidFill>
                <a:srgbClr val="FFFFFF"/>
              </a:solidFill>
              <a:effectLst/>
              <a:uFillTx/>
              <a:latin typeface="Arial"/>
            </a:endParaRPr>
          </a:p>
        </p:txBody>
      </p:sp>
      <p:sp>
        <p:nvSpPr>
          <p:cNvPr id="193" name="Rounded Rectangle 35"/>
          <p:cNvSpPr/>
          <p:nvPr/>
        </p:nvSpPr>
        <p:spPr>
          <a:xfrm>
            <a:off x="8321040" y="3520440"/>
            <a:ext cx="3245760" cy="776880"/>
          </a:xfrm>
          <a:prstGeom prst="roundRect">
            <a:avLst>
              <a:gd name="adj"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4–6 hours</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full deployment, zero downtime</a:t>
            </a:r>
            <a:endParaRPr lang="en-IN" sz="1200" b="0" u="none" strike="noStrike">
              <a:solidFill>
                <a:srgbClr val="FFFFFF"/>
              </a:solidFill>
              <a:effectLst/>
              <a:uFillTx/>
              <a:latin typeface="Arial"/>
            </a:endParaRPr>
          </a:p>
        </p:txBody>
      </p:sp>
      <p:sp>
        <p:nvSpPr>
          <p:cNvPr id="194" name="Rounded Rectangle 36"/>
          <p:cNvSpPr/>
          <p:nvPr/>
        </p:nvSpPr>
        <p:spPr>
          <a:xfrm>
            <a:off x="640080" y="4526280"/>
            <a:ext cx="10926720" cy="1782720"/>
          </a:xfrm>
          <a:prstGeom prst="roundRect">
            <a:avLst>
              <a:gd name="adj" fmla="val 12000"/>
            </a:avLst>
          </a:prstGeom>
          <a:solidFill>
            <a:srgbClr val="FDE9BE"/>
          </a:solidFill>
          <a:ln w="1270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300" b="0" u="none" strike="noStrike">
                <a:solidFill>
                  <a:srgbClr val="0D1B3E"/>
                </a:solidFill>
                <a:effectLst/>
                <a:uFillTx/>
                <a:latin typeface="Calibri"/>
              </a:rPr>
              <a:t>QBITEL is a complement, not a competitor to a contact-center platform.</a:t>
            </a:r>
            <a:endParaRPr lang="en-IN" sz="1300" b="0" u="none" strike="noStrike">
              <a:solidFill>
                <a:srgbClr val="000000"/>
              </a:solidFill>
              <a:effectLst/>
              <a:uFillTx/>
              <a:latin typeface="Arial"/>
            </a:endParaRPr>
          </a:p>
          <a:p>
            <a:pPr algn="ctr" defTabSz="457200">
              <a:lnSpc>
                <a:spcPct val="115000"/>
              </a:lnSpc>
            </a:pPr>
            <a:endParaRPr lang="en-IN" sz="1800" b="0" u="none" strike="noStrike">
              <a:solidFill>
                <a:srgbClr val="000000"/>
              </a:solidFill>
              <a:effectLst/>
              <a:uFillTx/>
              <a:latin typeface="Arial"/>
            </a:endParaRPr>
          </a:p>
          <a:p>
            <a:pPr algn="ctr" defTabSz="457200">
              <a:lnSpc>
                <a:spcPct val="115000"/>
              </a:lnSpc>
            </a:pPr>
            <a:r>
              <a:rPr lang="en-US" sz="1300" b="0" u="none" strike="noStrike">
                <a:solidFill>
                  <a:srgbClr val="0D1B3E"/>
                </a:solidFill>
                <a:effectLst/>
                <a:uFillTx/>
                <a:latin typeface="Calibri"/>
              </a:rPr>
              <a:t>We do not run the dialer, the IVR, the agent desktop, or the recording engine.</a:t>
            </a:r>
            <a:endParaRPr lang="en-IN" sz="1300" b="0" u="none" strike="noStrike">
              <a:solidFill>
                <a:srgbClr val="000000"/>
              </a:solidFill>
              <a:effectLst/>
              <a:uFillTx/>
              <a:latin typeface="Arial"/>
            </a:endParaRPr>
          </a:p>
          <a:p>
            <a:pPr algn="ctr" defTabSz="457200">
              <a:lnSpc>
                <a:spcPct val="115000"/>
              </a:lnSpc>
            </a:pPr>
            <a:r>
              <a:rPr lang="en-US" sz="1300" b="0" u="none" strike="noStrike">
                <a:solidFill>
                  <a:srgbClr val="0D1B3E"/>
                </a:solidFill>
                <a:effectLst/>
                <a:uFillTx/>
                <a:latin typeface="Calibri"/>
              </a:rPr>
              <a:t>We sit on the wire and at the API boundary, observe what those systems do, and add the controls and evidence that auditors and CISOs require.</a:t>
            </a:r>
            <a:endParaRPr lang="en-IN" sz="1300" b="0" u="none" strike="noStrike">
              <a:solidFill>
                <a:srgbClr val="000000"/>
              </a:solidFill>
              <a:effectLst/>
              <a:uFillTx/>
              <a:latin typeface="Arial"/>
            </a:endParaRPr>
          </a:p>
        </p:txBody>
      </p:sp>
      <p:sp>
        <p:nvSpPr>
          <p:cNvPr id="195" name="Rectangle 37"/>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Rectangle 38"/>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97" name="TextBox 39"/>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198" name="TextBox 40"/>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45000" rIns="90000" bIns="45000" anchor="ctr">
            <a:noAutofit/>
          </a:bodyPr>
          <a:p>
            <a:endParaRPr lang="en-US" sz="1800" b="0" u="none" strike="noStrike">
              <a:solidFill>
                <a:schemeClr val="lt1"/>
              </a:solidFill>
              <a:effectLst/>
              <a:uFillTx/>
              <a:latin typeface="Calibri"/>
            </a:endParaRPr>
          </a:p>
        </p:txBody>
      </p:sp>
      <p:sp>
        <p:nvSpPr>
          <p:cNvPr id="200"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45000" rIns="90000" bIns="45000" anchor="ctr">
            <a:noAutofit/>
          </a:bodyPr>
          <a:p>
            <a:endParaRPr lang="en-US" sz="1800" b="0" u="none" strike="noStrike">
              <a:solidFill>
                <a:schemeClr val="lt1"/>
              </a:solidFill>
              <a:effectLst/>
              <a:uFillTx/>
              <a:latin typeface="Calibri"/>
            </a:endParaRPr>
          </a:p>
        </p:txBody>
      </p:sp>
      <p:sp>
        <p:nvSpPr>
          <p:cNvPr id="201"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45000" rIns="90000" bIns="45000" anchor="ctr">
            <a:noAutofit/>
          </a:bodyPr>
          <a:p>
            <a:endParaRPr lang="en-US" sz="1800" b="0" u="none" strike="noStrike">
              <a:solidFill>
                <a:schemeClr val="lt1"/>
              </a:solidFill>
              <a:effectLst/>
              <a:uFillTx/>
              <a:latin typeface="Calibri"/>
            </a:endParaRPr>
          </a:p>
        </p:txBody>
      </p:sp>
      <p:sp>
        <p:nvSpPr>
          <p:cNvPr id="202" name="TextBox 4"/>
          <p:cNvSpPr/>
          <p:nvPr/>
        </p:nvSpPr>
        <p:spPr>
          <a:xfrm>
            <a:off x="320040" y="45720"/>
            <a:ext cx="10058040" cy="365760"/>
          </a:xfrm>
          <a:prstGeom prst="rect">
            <a:avLst/>
          </a:prstGeom>
          <a:noFill/>
          <a:ln w="0">
            <a:noFill/>
          </a:ln>
        </p:spPr>
        <p:style>
          <a:lnRef idx="0"/>
          <a:fillRef idx="0"/>
          <a:effectRef idx="0"/>
          <a:fontRef idx="minor"/>
        </p:style>
        <p:txBody>
          <a:bodyPr lIns="127080" tIns="25560" rIns="50760" bIns="25560" anchor="ctr">
            <a:spAutoFit/>
          </a:bodyPr>
          <a:p>
            <a:pPr defTabSz="457200">
              <a:lnSpc>
                <a:spcPct val="115000"/>
              </a:lnSpc>
            </a:pPr>
            <a:r>
              <a:rPr lang="en-US" sz="1800" b="1" u="none" strike="noStrike">
                <a:solidFill>
                  <a:srgbClr val="FFFFFF"/>
                </a:solidFill>
                <a:effectLst/>
                <a:uFillTx/>
                <a:latin typeface="Calibri"/>
              </a:rPr>
              <a:t>WHY TCN × QBITEL</a:t>
            </a:r>
            <a:endParaRPr lang="en-IN" sz="1800" b="0" u="none" strike="noStrike">
              <a:solidFill>
                <a:srgbClr val="000000"/>
              </a:solidFill>
              <a:effectLst/>
              <a:uFillTx/>
              <a:latin typeface="Arial"/>
            </a:endParaRPr>
          </a:p>
        </p:txBody>
      </p:sp>
      <p:sp>
        <p:nvSpPr>
          <p:cNvPr id="203" name="TextBox 5"/>
          <p:cNvSpPr/>
          <p:nvPr/>
        </p:nvSpPr>
        <p:spPr>
          <a:xfrm>
            <a:off x="320040" y="384120"/>
            <a:ext cx="10058040" cy="228240"/>
          </a:xfrm>
          <a:prstGeom prst="rect">
            <a:avLst/>
          </a:prstGeom>
          <a:noFill/>
          <a:ln w="0">
            <a:noFill/>
          </a:ln>
        </p:spPr>
        <p:style>
          <a:lnRef idx="0"/>
          <a:fillRef idx="0"/>
          <a:effectRef idx="0"/>
          <a:fontRef idx="minor"/>
        </p:style>
        <p:txBody>
          <a:bodyPr lIns="127080" tIns="25560" rIns="50760" bIns="25560" anchor="t">
            <a:spAutoFit/>
          </a:bodyPr>
          <a:p>
            <a:pPr defTabSz="457200">
              <a:lnSpc>
                <a:spcPct val="115000"/>
              </a:lnSpc>
            </a:pPr>
            <a:r>
              <a:rPr lang="en-US" sz="1050" b="0" i="1" u="none" strike="noStrike">
                <a:solidFill>
                  <a:srgbClr val="CDE8EC"/>
                </a:solidFill>
                <a:effectLst/>
                <a:uFillTx/>
                <a:latin typeface="Calibri"/>
              </a:rPr>
              <a:t>Customer overlap + capability complementarity = obvious joint motion</a:t>
            </a:r>
            <a:endParaRPr lang="en-IN" sz="1050" b="0" u="none" strike="noStrike">
              <a:solidFill>
                <a:srgbClr val="000000"/>
              </a:solidFill>
              <a:effectLst/>
              <a:uFillTx/>
              <a:latin typeface="Arial"/>
            </a:endParaRPr>
          </a:p>
        </p:txBody>
      </p:sp>
      <p:sp>
        <p:nvSpPr>
          <p:cNvPr id="204" name="TextBox 6"/>
          <p:cNvSpPr/>
          <p:nvPr/>
        </p:nvSpPr>
        <p:spPr>
          <a:xfrm>
            <a:off x="9144000" y="164520"/>
            <a:ext cx="2834280" cy="273960"/>
          </a:xfrm>
          <a:prstGeom prst="rect">
            <a:avLst/>
          </a:prstGeom>
          <a:noFill/>
          <a:ln w="0">
            <a:noFill/>
          </a:ln>
        </p:spPr>
        <p:style>
          <a:lnRef idx="0"/>
          <a:fillRef idx="0"/>
          <a:effectRef idx="0"/>
          <a:fontRef idx="minor"/>
        </p:style>
        <p:txBody>
          <a:bodyPr lIns="12708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205" name="Rectangle 7"/>
          <p:cNvSpPr/>
          <p:nvPr/>
        </p:nvSpPr>
        <p:spPr>
          <a:xfrm>
            <a:off x="640080" y="960120"/>
            <a:ext cx="10926720" cy="36540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200" b="1" u="none" strike="noStrike">
                <a:solidFill>
                  <a:srgbClr val="FFFFFF"/>
                </a:solidFill>
                <a:effectLst/>
                <a:uFillTx/>
                <a:latin typeface="Calibri"/>
              </a:rPr>
              <a:t>1.  CUSTOMER OVERLAP</a:t>
            </a:r>
            <a:endParaRPr lang="en-IN" sz="1200" b="0" u="none" strike="noStrike">
              <a:solidFill>
                <a:srgbClr val="FFFFFF"/>
              </a:solidFill>
              <a:effectLst/>
              <a:uFillTx/>
              <a:latin typeface="Arial"/>
            </a:endParaRPr>
          </a:p>
        </p:txBody>
      </p:sp>
      <p:sp>
        <p:nvSpPr>
          <p:cNvPr id="206" name="TextBox 8"/>
          <p:cNvSpPr/>
          <p:nvPr/>
        </p:nvSpPr>
        <p:spPr>
          <a:xfrm>
            <a:off x="731520" y="1417320"/>
            <a:ext cx="10698120" cy="639720"/>
          </a:xfrm>
          <a:prstGeom prst="rect">
            <a:avLst/>
          </a:prstGeom>
          <a:noFill/>
          <a:ln w="0">
            <a:noFill/>
          </a:ln>
        </p:spPr>
        <p:style>
          <a:lnRef idx="0"/>
          <a:fillRef idx="0"/>
          <a:effectRef idx="0"/>
          <a:fontRef idx="minor"/>
        </p:style>
        <p:txBody>
          <a:bodyPr lIns="127080" tIns="25560" rIns="50760" bIns="25560" anchor="t">
            <a:spAutoFit/>
          </a:bodyPr>
          <a:p>
            <a:pPr defTabSz="457200">
              <a:lnSpc>
                <a:spcPct val="130000"/>
              </a:lnSpc>
            </a:pPr>
            <a:r>
              <a:rPr lang="en-US" sz="1100" b="0" u="none" strike="noStrike">
                <a:solidFill>
                  <a:srgbClr val="1A1A2E"/>
                </a:solidFill>
                <a:effectLst/>
                <a:uFillTx/>
                <a:latin typeface="Calibri"/>
              </a:rPr>
              <a:t>Every TCN customer that operates as a BPO — and every TCN customer with PCI, HIPAA, SOX, or GDPR exposure — already has a budget line for the problems QBITEL solves. Today that budget either goes unspent (and the BPO absorbs the loss) or it goes to point tools that do not integrate with TCN. Embedded in TCN Operator, those budgets flow through TCN.</a:t>
            </a:r>
            <a:endParaRPr lang="en-IN" sz="1100" b="0" u="none" strike="noStrike">
              <a:solidFill>
                <a:srgbClr val="000000"/>
              </a:solidFill>
              <a:effectLst/>
              <a:uFillTx/>
              <a:latin typeface="Arial"/>
            </a:endParaRPr>
          </a:p>
        </p:txBody>
      </p:sp>
      <p:sp>
        <p:nvSpPr>
          <p:cNvPr id="207" name="Rectangle 9"/>
          <p:cNvSpPr/>
          <p:nvPr/>
        </p:nvSpPr>
        <p:spPr>
          <a:xfrm>
            <a:off x="640080" y="2148840"/>
            <a:ext cx="10926720" cy="36540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200" b="1" u="none" strike="noStrike">
                <a:solidFill>
                  <a:srgbClr val="FFFFFF"/>
                </a:solidFill>
                <a:effectLst/>
                <a:uFillTx/>
                <a:latin typeface="Calibri"/>
              </a:rPr>
              <a:t>2.  CAPABILITY COMPLEMENTARITY  (no overlap)</a:t>
            </a:r>
            <a:endParaRPr lang="en-IN" sz="1200" b="0" u="none" strike="noStrike">
              <a:solidFill>
                <a:srgbClr val="FFFFFF"/>
              </a:solidFill>
              <a:effectLst/>
              <a:uFillTx/>
              <a:latin typeface="Arial"/>
            </a:endParaRPr>
          </a:p>
        </p:txBody>
      </p:sp>
      <p:sp>
        <p:nvSpPr>
          <p:cNvPr id="208" name="Rectangle 10"/>
          <p:cNvSpPr/>
          <p:nvPr/>
        </p:nvSpPr>
        <p:spPr>
          <a:xfrm>
            <a:off x="640080" y="2606040"/>
            <a:ext cx="3200040" cy="456840"/>
          </a:xfrm>
          <a:prstGeom prst="rect">
            <a:avLst/>
          </a:prstGeom>
          <a:solidFill>
            <a:srgbClr val="1A2D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100" b="1" u="none" strike="noStrike">
                <a:solidFill>
                  <a:srgbClr val="FFFFFF"/>
                </a:solidFill>
                <a:effectLst/>
                <a:uFillTx/>
                <a:latin typeface="Calibri"/>
              </a:rPr>
              <a:t>LAYER</a:t>
            </a:r>
            <a:endParaRPr lang="en-IN" sz="1100" b="0" u="none" strike="noStrike">
              <a:solidFill>
                <a:srgbClr val="FFFFFF"/>
              </a:solidFill>
              <a:effectLst/>
              <a:uFillTx/>
              <a:latin typeface="Arial"/>
            </a:endParaRPr>
          </a:p>
        </p:txBody>
      </p:sp>
      <p:sp>
        <p:nvSpPr>
          <p:cNvPr id="209" name="Rectangle 11"/>
          <p:cNvSpPr/>
          <p:nvPr/>
        </p:nvSpPr>
        <p:spPr>
          <a:xfrm>
            <a:off x="3886200" y="2606040"/>
            <a:ext cx="3840120" cy="456840"/>
          </a:xfrm>
          <a:prstGeom prst="rect">
            <a:avLst/>
          </a:prstGeom>
          <a:solidFill>
            <a:srgbClr val="1A2D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100" b="1" u="none" strike="noStrike">
                <a:solidFill>
                  <a:srgbClr val="FFFFFF"/>
                </a:solidFill>
                <a:effectLst/>
                <a:uFillTx/>
                <a:latin typeface="Calibri"/>
              </a:rPr>
              <a:t>TCN OWNS</a:t>
            </a:r>
            <a:endParaRPr lang="en-IN" sz="1100" b="0" u="none" strike="noStrike">
              <a:solidFill>
                <a:srgbClr val="FFFFFF"/>
              </a:solidFill>
              <a:effectLst/>
              <a:uFillTx/>
              <a:latin typeface="Arial"/>
            </a:endParaRPr>
          </a:p>
        </p:txBody>
      </p:sp>
      <p:sp>
        <p:nvSpPr>
          <p:cNvPr id="210" name="Rectangle 12"/>
          <p:cNvSpPr/>
          <p:nvPr/>
        </p:nvSpPr>
        <p:spPr>
          <a:xfrm>
            <a:off x="7772400" y="2606040"/>
            <a:ext cx="3794400" cy="456840"/>
          </a:xfrm>
          <a:prstGeom prst="rect">
            <a:avLst/>
          </a:prstGeom>
          <a:solidFill>
            <a:srgbClr val="006B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100" b="1" u="none" strike="noStrike">
                <a:solidFill>
                  <a:srgbClr val="FFFFFF"/>
                </a:solidFill>
                <a:effectLst/>
                <a:uFillTx/>
                <a:latin typeface="Calibri"/>
              </a:rPr>
              <a:t>QBITEL ADDS</a:t>
            </a:r>
            <a:endParaRPr lang="en-IN" sz="1100" b="0" u="none" strike="noStrike">
              <a:solidFill>
                <a:srgbClr val="FFFFFF"/>
              </a:solidFill>
              <a:effectLst/>
              <a:uFillTx/>
              <a:latin typeface="Arial"/>
            </a:endParaRPr>
          </a:p>
        </p:txBody>
      </p:sp>
      <p:sp>
        <p:nvSpPr>
          <p:cNvPr id="211" name="Rectangle 13"/>
          <p:cNvSpPr/>
          <p:nvPr/>
        </p:nvSpPr>
        <p:spPr>
          <a:xfrm>
            <a:off x="640080" y="3063240"/>
            <a:ext cx="320004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50" b="1" u="none" strike="noStrike">
                <a:solidFill>
                  <a:srgbClr val="0D1B3E"/>
                </a:solidFill>
                <a:effectLst/>
                <a:uFillTx/>
                <a:latin typeface="Calibri"/>
              </a:rPr>
              <a:t>Voice signaling (SIP)</a:t>
            </a:r>
            <a:endParaRPr lang="en-IN" sz="1050" b="0" u="none" strike="noStrike">
              <a:solidFill>
                <a:srgbClr val="000000"/>
              </a:solidFill>
              <a:effectLst/>
              <a:uFillTx/>
              <a:latin typeface="Arial"/>
            </a:endParaRPr>
          </a:p>
        </p:txBody>
      </p:sp>
      <p:sp>
        <p:nvSpPr>
          <p:cNvPr id="212" name="Rectangle 14"/>
          <p:cNvSpPr/>
          <p:nvPr/>
        </p:nvSpPr>
        <p:spPr>
          <a:xfrm>
            <a:off x="3886200" y="3063240"/>
            <a:ext cx="384012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0" u="none" strike="noStrike">
                <a:solidFill>
                  <a:srgbClr val="1A1A2E"/>
                </a:solidFill>
                <a:effectLst/>
                <a:uFillTx/>
                <a:latin typeface="Calibri"/>
              </a:rPr>
              <a:t>Trunking, routing, IVR logic</a:t>
            </a:r>
            <a:endParaRPr lang="en-IN" sz="1000" b="0" u="none" strike="noStrike">
              <a:solidFill>
                <a:srgbClr val="000000"/>
              </a:solidFill>
              <a:effectLst/>
              <a:uFillTx/>
              <a:latin typeface="Arial"/>
            </a:endParaRPr>
          </a:p>
        </p:txBody>
      </p:sp>
      <p:sp>
        <p:nvSpPr>
          <p:cNvPr id="213" name="Rectangle 15"/>
          <p:cNvSpPr/>
          <p:nvPr/>
        </p:nvSpPr>
        <p:spPr>
          <a:xfrm>
            <a:off x="7772400" y="3063240"/>
            <a:ext cx="379440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1" u="none" strike="noStrike">
                <a:solidFill>
                  <a:srgbClr val="006B7A"/>
                </a:solidFill>
                <a:effectLst/>
                <a:uFillTx/>
                <a:latin typeface="Calibri"/>
              </a:rPr>
              <a:t>PQC-TLS overlay, toll-fraud detection</a:t>
            </a:r>
            <a:endParaRPr lang="en-IN" sz="1000" b="0" u="none" strike="noStrike">
              <a:solidFill>
                <a:srgbClr val="000000"/>
              </a:solidFill>
              <a:effectLst/>
              <a:uFillTx/>
              <a:latin typeface="Arial"/>
            </a:endParaRPr>
          </a:p>
        </p:txBody>
      </p:sp>
      <p:sp>
        <p:nvSpPr>
          <p:cNvPr id="214" name="Rectangle 16"/>
          <p:cNvSpPr/>
          <p:nvPr/>
        </p:nvSpPr>
        <p:spPr>
          <a:xfrm>
            <a:off x="640080" y="3520440"/>
            <a:ext cx="3200040" cy="456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50" b="1" u="none" strike="noStrike">
                <a:solidFill>
                  <a:srgbClr val="0D1B3E"/>
                </a:solidFill>
                <a:effectLst/>
                <a:uFillTx/>
                <a:latin typeface="Calibri"/>
              </a:rPr>
              <a:t>Voice media (RTP)</a:t>
            </a:r>
            <a:endParaRPr lang="en-IN" sz="1050" b="0" u="none" strike="noStrike">
              <a:solidFill>
                <a:srgbClr val="000000"/>
              </a:solidFill>
              <a:effectLst/>
              <a:uFillTx/>
              <a:latin typeface="Arial"/>
            </a:endParaRPr>
          </a:p>
        </p:txBody>
      </p:sp>
      <p:sp>
        <p:nvSpPr>
          <p:cNvPr id="215" name="Rectangle 17"/>
          <p:cNvSpPr/>
          <p:nvPr/>
        </p:nvSpPr>
        <p:spPr>
          <a:xfrm>
            <a:off x="3886200" y="3520440"/>
            <a:ext cx="3840120" cy="456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0" u="none" strike="noStrike">
                <a:solidFill>
                  <a:srgbClr val="1A1A2E"/>
                </a:solidFill>
                <a:effectLst/>
                <a:uFillTx/>
                <a:latin typeface="Calibri"/>
              </a:rPr>
              <a:t>Codec, mixing, recording</a:t>
            </a:r>
            <a:endParaRPr lang="en-IN" sz="1000" b="0" u="none" strike="noStrike">
              <a:solidFill>
                <a:srgbClr val="000000"/>
              </a:solidFill>
              <a:effectLst/>
              <a:uFillTx/>
              <a:latin typeface="Arial"/>
            </a:endParaRPr>
          </a:p>
        </p:txBody>
      </p:sp>
      <p:sp>
        <p:nvSpPr>
          <p:cNvPr id="216" name="Rectangle 18"/>
          <p:cNvSpPr/>
          <p:nvPr/>
        </p:nvSpPr>
        <p:spPr>
          <a:xfrm>
            <a:off x="7772400" y="3520440"/>
            <a:ext cx="3794400" cy="456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1" u="none" strike="noStrike">
                <a:solidFill>
                  <a:srgbClr val="006B7A"/>
                </a:solidFill>
                <a:effectLst/>
                <a:uFillTx/>
                <a:latin typeface="Calibri"/>
              </a:rPr>
              <a:t>PQC-SRTP encryption, DTMF masking</a:t>
            </a:r>
            <a:endParaRPr lang="en-IN" sz="1000" b="0" u="none" strike="noStrike">
              <a:solidFill>
                <a:srgbClr val="000000"/>
              </a:solidFill>
              <a:effectLst/>
              <a:uFillTx/>
              <a:latin typeface="Arial"/>
            </a:endParaRPr>
          </a:p>
        </p:txBody>
      </p:sp>
      <p:sp>
        <p:nvSpPr>
          <p:cNvPr id="217" name="Rectangle 19"/>
          <p:cNvSpPr/>
          <p:nvPr/>
        </p:nvSpPr>
        <p:spPr>
          <a:xfrm>
            <a:off x="640080" y="3977640"/>
            <a:ext cx="320004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50" b="1" u="none" strike="noStrike">
                <a:solidFill>
                  <a:srgbClr val="0D1B3E"/>
                </a:solidFill>
                <a:effectLst/>
                <a:uFillTx/>
                <a:latin typeface="Calibri"/>
              </a:rPr>
              <a:t>Agent workspace</a:t>
            </a:r>
            <a:endParaRPr lang="en-IN" sz="1050" b="0" u="none" strike="noStrike">
              <a:solidFill>
                <a:srgbClr val="000000"/>
              </a:solidFill>
              <a:effectLst/>
              <a:uFillTx/>
              <a:latin typeface="Arial"/>
            </a:endParaRPr>
          </a:p>
        </p:txBody>
      </p:sp>
      <p:sp>
        <p:nvSpPr>
          <p:cNvPr id="218" name="Rectangle 20"/>
          <p:cNvSpPr/>
          <p:nvPr/>
        </p:nvSpPr>
        <p:spPr>
          <a:xfrm>
            <a:off x="3886200" y="3977640"/>
            <a:ext cx="384012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0" u="none" strike="noStrike">
                <a:solidFill>
                  <a:srgbClr val="1A1A2E"/>
                </a:solidFill>
                <a:effectLst/>
                <a:uFillTx/>
                <a:latin typeface="Calibri"/>
              </a:rPr>
              <a:t>Scripting, dashboards</a:t>
            </a:r>
            <a:endParaRPr lang="en-IN" sz="1000" b="0" u="none" strike="noStrike">
              <a:solidFill>
                <a:srgbClr val="000000"/>
              </a:solidFill>
              <a:effectLst/>
              <a:uFillTx/>
              <a:latin typeface="Arial"/>
            </a:endParaRPr>
          </a:p>
        </p:txBody>
      </p:sp>
      <p:sp>
        <p:nvSpPr>
          <p:cNvPr id="219" name="Rectangle 21"/>
          <p:cNvSpPr/>
          <p:nvPr/>
        </p:nvSpPr>
        <p:spPr>
          <a:xfrm>
            <a:off x="7772400" y="3977640"/>
            <a:ext cx="379440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1" u="none" strike="noStrike">
                <a:solidFill>
                  <a:srgbClr val="006B7A"/>
                </a:solidFill>
                <a:effectLst/>
                <a:uFillTx/>
                <a:latin typeface="Calibri"/>
              </a:rPr>
              <a:t>DLP across 6 vectors (clipboard, screen, USB, etc.)</a:t>
            </a:r>
            <a:endParaRPr lang="en-IN" sz="1000" b="0" u="none" strike="noStrike">
              <a:solidFill>
                <a:srgbClr val="000000"/>
              </a:solidFill>
              <a:effectLst/>
              <a:uFillTx/>
              <a:latin typeface="Arial"/>
            </a:endParaRPr>
          </a:p>
        </p:txBody>
      </p:sp>
      <p:sp>
        <p:nvSpPr>
          <p:cNvPr id="220" name="Rectangle 22"/>
          <p:cNvSpPr/>
          <p:nvPr/>
        </p:nvSpPr>
        <p:spPr>
          <a:xfrm>
            <a:off x="640080" y="4434840"/>
            <a:ext cx="3200040" cy="456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50" b="1" u="none" strike="noStrike">
                <a:solidFill>
                  <a:srgbClr val="0D1B3E"/>
                </a:solidFill>
                <a:effectLst/>
                <a:uFillTx/>
                <a:latin typeface="Calibri"/>
              </a:rPr>
              <a:t>CRM/ITSM integration</a:t>
            </a:r>
            <a:endParaRPr lang="en-IN" sz="1050" b="0" u="none" strike="noStrike">
              <a:solidFill>
                <a:srgbClr val="000000"/>
              </a:solidFill>
              <a:effectLst/>
              <a:uFillTx/>
              <a:latin typeface="Arial"/>
            </a:endParaRPr>
          </a:p>
        </p:txBody>
      </p:sp>
      <p:sp>
        <p:nvSpPr>
          <p:cNvPr id="221" name="Rectangle 23"/>
          <p:cNvSpPr/>
          <p:nvPr/>
        </p:nvSpPr>
        <p:spPr>
          <a:xfrm>
            <a:off x="3886200" y="4434840"/>
            <a:ext cx="3840120" cy="456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0" u="none" strike="noStrike">
                <a:solidFill>
                  <a:srgbClr val="1A1A2E"/>
                </a:solidFill>
                <a:effectLst/>
                <a:uFillTx/>
                <a:latin typeface="Calibri"/>
              </a:rPr>
              <a:t>Salesforce/Zendesk/ServiceNow/Zoho native</a:t>
            </a:r>
            <a:endParaRPr lang="en-IN" sz="1000" b="0" u="none" strike="noStrike">
              <a:solidFill>
                <a:srgbClr val="000000"/>
              </a:solidFill>
              <a:effectLst/>
              <a:uFillTx/>
              <a:latin typeface="Arial"/>
            </a:endParaRPr>
          </a:p>
        </p:txBody>
      </p:sp>
      <p:sp>
        <p:nvSpPr>
          <p:cNvPr id="222" name="Rectangle 24"/>
          <p:cNvSpPr/>
          <p:nvPr/>
        </p:nvSpPr>
        <p:spPr>
          <a:xfrm>
            <a:off x="7772400" y="4434840"/>
            <a:ext cx="3794400" cy="456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1" u="none" strike="noStrike">
                <a:solidFill>
                  <a:srgbClr val="006B7A"/>
                </a:solidFill>
                <a:effectLst/>
                <a:uFillTx/>
                <a:latin typeface="Calibri"/>
              </a:rPr>
              <a:t>PII/PHI/PAN masking at API boundary</a:t>
            </a:r>
            <a:endParaRPr lang="en-IN" sz="1000" b="0" u="none" strike="noStrike">
              <a:solidFill>
                <a:srgbClr val="000000"/>
              </a:solidFill>
              <a:effectLst/>
              <a:uFillTx/>
              <a:latin typeface="Arial"/>
            </a:endParaRPr>
          </a:p>
        </p:txBody>
      </p:sp>
      <p:sp>
        <p:nvSpPr>
          <p:cNvPr id="223" name="Rectangle 25"/>
          <p:cNvSpPr/>
          <p:nvPr/>
        </p:nvSpPr>
        <p:spPr>
          <a:xfrm>
            <a:off x="640080" y="4892040"/>
            <a:ext cx="320004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50" b="1" u="none" strike="noStrike">
                <a:solidFill>
                  <a:srgbClr val="0D1B3E"/>
                </a:solidFill>
                <a:effectLst/>
                <a:uFillTx/>
                <a:latin typeface="Calibri"/>
              </a:rPr>
              <a:t>Recording storage</a:t>
            </a:r>
            <a:endParaRPr lang="en-IN" sz="1050" b="0" u="none" strike="noStrike">
              <a:solidFill>
                <a:srgbClr val="000000"/>
              </a:solidFill>
              <a:effectLst/>
              <a:uFillTx/>
              <a:latin typeface="Arial"/>
            </a:endParaRPr>
          </a:p>
        </p:txBody>
      </p:sp>
      <p:sp>
        <p:nvSpPr>
          <p:cNvPr id="224" name="Rectangle 26"/>
          <p:cNvSpPr/>
          <p:nvPr/>
        </p:nvSpPr>
        <p:spPr>
          <a:xfrm>
            <a:off x="3886200" y="4892040"/>
            <a:ext cx="384012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0" u="none" strike="noStrike">
                <a:solidFill>
                  <a:srgbClr val="1A1A2E"/>
                </a:solidFill>
                <a:effectLst/>
                <a:uFillTx/>
                <a:latin typeface="Calibri"/>
              </a:rPr>
              <a:t>Recording engine + retention</a:t>
            </a:r>
            <a:endParaRPr lang="en-IN" sz="1000" b="0" u="none" strike="noStrike">
              <a:solidFill>
                <a:srgbClr val="000000"/>
              </a:solidFill>
              <a:effectLst/>
              <a:uFillTx/>
              <a:latin typeface="Arial"/>
            </a:endParaRPr>
          </a:p>
        </p:txBody>
      </p:sp>
      <p:sp>
        <p:nvSpPr>
          <p:cNvPr id="225" name="Rectangle 27"/>
          <p:cNvSpPr/>
          <p:nvPr/>
        </p:nvSpPr>
        <p:spPr>
          <a:xfrm>
            <a:off x="7772400" y="4892040"/>
            <a:ext cx="379440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1" u="none" strike="noStrike">
                <a:solidFill>
                  <a:srgbClr val="006B7A"/>
                </a:solidFill>
                <a:effectLst/>
                <a:uFillTx/>
                <a:latin typeface="Calibri"/>
              </a:rPr>
              <a:t>Quantum-safe encryption (ML-KEM-1024)</a:t>
            </a:r>
            <a:endParaRPr lang="en-IN" sz="1000" b="0" u="none" strike="noStrike">
              <a:solidFill>
                <a:srgbClr val="000000"/>
              </a:solidFill>
              <a:effectLst/>
              <a:uFillTx/>
              <a:latin typeface="Arial"/>
            </a:endParaRPr>
          </a:p>
        </p:txBody>
      </p:sp>
      <p:sp>
        <p:nvSpPr>
          <p:cNvPr id="226" name="Rectangle 28"/>
          <p:cNvSpPr/>
          <p:nvPr/>
        </p:nvSpPr>
        <p:spPr>
          <a:xfrm>
            <a:off x="640080" y="5349240"/>
            <a:ext cx="3200040" cy="456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50" b="1" u="none" strike="noStrike">
                <a:solidFill>
                  <a:srgbClr val="0D1B3E"/>
                </a:solidFill>
                <a:effectLst/>
                <a:uFillTx/>
                <a:latin typeface="Calibri"/>
              </a:rPr>
              <a:t>Reporting</a:t>
            </a:r>
            <a:endParaRPr lang="en-IN" sz="1050" b="0" u="none" strike="noStrike">
              <a:solidFill>
                <a:srgbClr val="000000"/>
              </a:solidFill>
              <a:effectLst/>
              <a:uFillTx/>
              <a:latin typeface="Arial"/>
            </a:endParaRPr>
          </a:p>
        </p:txBody>
      </p:sp>
      <p:sp>
        <p:nvSpPr>
          <p:cNvPr id="227" name="Rectangle 29"/>
          <p:cNvSpPr/>
          <p:nvPr/>
        </p:nvSpPr>
        <p:spPr>
          <a:xfrm>
            <a:off x="3886200" y="5349240"/>
            <a:ext cx="3840120" cy="456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0" u="none" strike="noStrike">
                <a:solidFill>
                  <a:srgbClr val="1A1A2E"/>
                </a:solidFill>
                <a:effectLst/>
                <a:uFillTx/>
                <a:latin typeface="Calibri"/>
              </a:rPr>
              <a:t>Operational + analytics</a:t>
            </a:r>
            <a:endParaRPr lang="en-IN" sz="1000" b="0" u="none" strike="noStrike">
              <a:solidFill>
                <a:srgbClr val="000000"/>
              </a:solidFill>
              <a:effectLst/>
              <a:uFillTx/>
              <a:latin typeface="Arial"/>
            </a:endParaRPr>
          </a:p>
        </p:txBody>
      </p:sp>
      <p:sp>
        <p:nvSpPr>
          <p:cNvPr id="228" name="Rectangle 30"/>
          <p:cNvSpPr/>
          <p:nvPr/>
        </p:nvSpPr>
        <p:spPr>
          <a:xfrm>
            <a:off x="7772400" y="5349240"/>
            <a:ext cx="3794400" cy="4568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1" u="none" strike="noStrike">
                <a:solidFill>
                  <a:srgbClr val="006B7A"/>
                </a:solidFill>
                <a:effectLst/>
                <a:uFillTx/>
                <a:latin typeface="Calibri"/>
              </a:rPr>
              <a:t>Compliance evidence packs (9 frameworks)</a:t>
            </a:r>
            <a:endParaRPr lang="en-IN" sz="1000" b="0" u="none" strike="noStrike">
              <a:solidFill>
                <a:srgbClr val="000000"/>
              </a:solidFill>
              <a:effectLst/>
              <a:uFillTx/>
              <a:latin typeface="Arial"/>
            </a:endParaRPr>
          </a:p>
        </p:txBody>
      </p:sp>
      <p:sp>
        <p:nvSpPr>
          <p:cNvPr id="229" name="Rectangle 31"/>
          <p:cNvSpPr/>
          <p:nvPr/>
        </p:nvSpPr>
        <p:spPr>
          <a:xfrm>
            <a:off x="640080" y="5806440"/>
            <a:ext cx="320004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50" b="1" u="none" strike="noStrike">
                <a:solidFill>
                  <a:srgbClr val="0D1B3E"/>
                </a:solidFill>
                <a:effectLst/>
                <a:uFillTx/>
                <a:latin typeface="Calibri"/>
              </a:rPr>
              <a:t>Multi-tenancy</a:t>
            </a:r>
            <a:endParaRPr lang="en-IN" sz="1050" b="0" u="none" strike="noStrike">
              <a:solidFill>
                <a:srgbClr val="000000"/>
              </a:solidFill>
              <a:effectLst/>
              <a:uFillTx/>
              <a:latin typeface="Arial"/>
            </a:endParaRPr>
          </a:p>
        </p:txBody>
      </p:sp>
      <p:sp>
        <p:nvSpPr>
          <p:cNvPr id="230" name="Rectangle 32"/>
          <p:cNvSpPr/>
          <p:nvPr/>
        </p:nvSpPr>
        <p:spPr>
          <a:xfrm>
            <a:off x="3886200" y="5806440"/>
            <a:ext cx="384012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0" u="none" strike="noStrike">
                <a:solidFill>
                  <a:srgbClr val="1A1A2E"/>
                </a:solidFill>
                <a:effectLst/>
                <a:uFillTx/>
                <a:latin typeface="Calibri"/>
              </a:rPr>
              <a:t>Account/campaign isolation</a:t>
            </a:r>
            <a:endParaRPr lang="en-IN" sz="1000" b="0" u="none" strike="noStrike">
              <a:solidFill>
                <a:srgbClr val="000000"/>
              </a:solidFill>
              <a:effectLst/>
              <a:uFillTx/>
              <a:latin typeface="Arial"/>
            </a:endParaRPr>
          </a:p>
        </p:txBody>
      </p:sp>
      <p:sp>
        <p:nvSpPr>
          <p:cNvPr id="231" name="Rectangle 33"/>
          <p:cNvSpPr/>
          <p:nvPr/>
        </p:nvSpPr>
        <p:spPr>
          <a:xfrm>
            <a:off x="7772400" y="5806440"/>
            <a:ext cx="3794400" cy="45684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000" b="1" u="none" strike="noStrike">
                <a:solidFill>
                  <a:srgbClr val="006B7A"/>
                </a:solidFill>
                <a:effectLst/>
                <a:uFillTx/>
                <a:latin typeface="Calibri"/>
              </a:rPr>
              <a:t>Cryptographic + policy + audit isolation per BPO client</a:t>
            </a:r>
            <a:endParaRPr lang="en-IN" sz="1000" b="0" u="none" strike="noStrike">
              <a:solidFill>
                <a:srgbClr val="000000"/>
              </a:solidFill>
              <a:effectLst/>
              <a:uFillTx/>
              <a:latin typeface="Arial"/>
            </a:endParaRPr>
          </a:p>
        </p:txBody>
      </p:sp>
      <p:sp>
        <p:nvSpPr>
          <p:cNvPr id="232" name="Rectangle 34"/>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3" name="Rectangle 35"/>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34" name="TextBox 36"/>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235" name="TextBox 37"/>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7"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8"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9"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INTEGRATION ARCHITECTURE</a:t>
            </a:r>
            <a:endParaRPr lang="en-IN" sz="1800" b="0" u="none" strike="noStrike">
              <a:solidFill>
                <a:srgbClr val="000000"/>
              </a:solidFill>
              <a:effectLst/>
              <a:uFillTx/>
              <a:latin typeface="Arial"/>
            </a:endParaRPr>
          </a:p>
        </p:txBody>
      </p:sp>
      <p:sp>
        <p:nvSpPr>
          <p:cNvPr id="240"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Five integration seams — all use existing TCN surfaces</a:t>
            </a:r>
            <a:endParaRPr lang="en-IN" sz="1050" b="0" u="none" strike="noStrike">
              <a:solidFill>
                <a:srgbClr val="000000"/>
              </a:solidFill>
              <a:effectLst/>
              <a:uFillTx/>
              <a:latin typeface="Arial"/>
            </a:endParaRPr>
          </a:p>
        </p:txBody>
      </p:sp>
      <p:sp>
        <p:nvSpPr>
          <p:cNvPr id="241"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242" name="Rounded Rectangle 7"/>
          <p:cNvSpPr/>
          <p:nvPr/>
        </p:nvSpPr>
        <p:spPr>
          <a:xfrm>
            <a:off x="548640" y="1005840"/>
            <a:ext cx="11091240" cy="2331360"/>
          </a:xfrm>
          <a:prstGeom prst="roundRect">
            <a:avLst>
              <a:gd name="adj" fmla="val 12000"/>
            </a:avLst>
          </a:prstGeom>
          <a:solidFill>
            <a:srgbClr val="EBF1F7"/>
          </a:solidFill>
          <a:ln w="19050">
            <a:solidFill>
              <a:srgbClr val="1A2D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3" name="Rounded Rectangle 8"/>
          <p:cNvSpPr/>
          <p:nvPr/>
        </p:nvSpPr>
        <p:spPr>
          <a:xfrm>
            <a:off x="713160" y="1078920"/>
            <a:ext cx="2011320" cy="273960"/>
          </a:xfrm>
          <a:prstGeom prst="roundRect">
            <a:avLst>
              <a:gd name="adj" fmla="val 50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FFFFFF"/>
                </a:solidFill>
                <a:effectLst/>
                <a:uFillTx/>
                <a:latin typeface="Calibri"/>
              </a:rPr>
              <a:t>TCN OPERATOR (CLOUD)</a:t>
            </a:r>
            <a:endParaRPr lang="en-IN" sz="1000" b="0" u="none" strike="noStrike">
              <a:solidFill>
                <a:srgbClr val="FFFFFF"/>
              </a:solidFill>
              <a:effectLst/>
              <a:uFillTx/>
              <a:latin typeface="Arial"/>
            </a:endParaRPr>
          </a:p>
        </p:txBody>
      </p:sp>
      <p:sp>
        <p:nvSpPr>
          <p:cNvPr id="244" name="Rounded Rectangle 9"/>
          <p:cNvSpPr/>
          <p:nvPr/>
        </p:nvSpPr>
        <p:spPr>
          <a:xfrm>
            <a:off x="822960" y="1463040"/>
            <a:ext cx="2468520" cy="776880"/>
          </a:xfrm>
          <a:prstGeom prst="roundRect">
            <a:avLst>
              <a:gd name="adj" fmla="val 12000"/>
            </a:avLst>
          </a:prstGeom>
          <a:solidFill>
            <a:srgbClr val="FFFFFF"/>
          </a:solidFill>
          <a:ln w="12700">
            <a:solidFill>
              <a:srgbClr val="1A2D5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5" name="TextBox 10"/>
          <p:cNvSpPr/>
          <p:nvPr/>
        </p:nvSpPr>
        <p:spPr>
          <a:xfrm>
            <a:off x="822960" y="1554480"/>
            <a:ext cx="2468520" cy="31968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100" b="1" u="none" strike="noStrike">
                <a:solidFill>
                  <a:srgbClr val="0D1B3E"/>
                </a:solidFill>
                <a:effectLst/>
                <a:uFillTx/>
                <a:latin typeface="Calibri"/>
              </a:rPr>
              <a:t>DIALERS</a:t>
            </a:r>
            <a:endParaRPr lang="en-IN" sz="1100" b="0" u="none" strike="noStrike">
              <a:solidFill>
                <a:srgbClr val="000000"/>
              </a:solidFill>
              <a:effectLst/>
              <a:uFillTx/>
              <a:latin typeface="Arial"/>
            </a:endParaRPr>
          </a:p>
        </p:txBody>
      </p:sp>
      <p:sp>
        <p:nvSpPr>
          <p:cNvPr id="246" name="TextBox 11"/>
          <p:cNvSpPr/>
          <p:nvPr/>
        </p:nvSpPr>
        <p:spPr>
          <a:xfrm>
            <a:off x="822960" y="1847160"/>
            <a:ext cx="246852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950" b="0" u="none" strike="noStrike">
                <a:solidFill>
                  <a:srgbClr val="5A6A7A"/>
                </a:solidFill>
                <a:effectLst/>
                <a:uFillTx/>
                <a:latin typeface="Calibri"/>
              </a:rPr>
              <a:t>Auto • Preview • Manual</a:t>
            </a:r>
            <a:endParaRPr lang="en-IN" sz="950" b="0" u="none" strike="noStrike">
              <a:solidFill>
                <a:srgbClr val="000000"/>
              </a:solidFill>
              <a:effectLst/>
              <a:uFillTx/>
              <a:latin typeface="Arial"/>
            </a:endParaRPr>
          </a:p>
        </p:txBody>
      </p:sp>
      <p:sp>
        <p:nvSpPr>
          <p:cNvPr id="247" name="Rounded Rectangle 12"/>
          <p:cNvSpPr/>
          <p:nvPr/>
        </p:nvSpPr>
        <p:spPr>
          <a:xfrm>
            <a:off x="3410640" y="1463040"/>
            <a:ext cx="2468520" cy="776880"/>
          </a:xfrm>
          <a:prstGeom prst="roundRect">
            <a:avLst>
              <a:gd name="adj" fmla="val 12000"/>
            </a:avLst>
          </a:prstGeom>
          <a:solidFill>
            <a:srgbClr val="FFFFFF"/>
          </a:solidFill>
          <a:ln w="12700">
            <a:solidFill>
              <a:srgbClr val="1A2D5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8" name="TextBox 13"/>
          <p:cNvSpPr/>
          <p:nvPr/>
        </p:nvSpPr>
        <p:spPr>
          <a:xfrm>
            <a:off x="3410640" y="1554480"/>
            <a:ext cx="2468520" cy="31968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100" b="1" u="none" strike="noStrike">
                <a:solidFill>
                  <a:srgbClr val="0D1B3E"/>
                </a:solidFill>
                <a:effectLst/>
                <a:uFillTx/>
                <a:latin typeface="Calibri"/>
              </a:rPr>
              <a:t>IVR / IVM</a:t>
            </a:r>
            <a:endParaRPr lang="en-IN" sz="1100" b="0" u="none" strike="noStrike">
              <a:solidFill>
                <a:srgbClr val="000000"/>
              </a:solidFill>
              <a:effectLst/>
              <a:uFillTx/>
              <a:latin typeface="Arial"/>
            </a:endParaRPr>
          </a:p>
        </p:txBody>
      </p:sp>
      <p:sp>
        <p:nvSpPr>
          <p:cNvPr id="249" name="TextBox 14"/>
          <p:cNvSpPr/>
          <p:nvPr/>
        </p:nvSpPr>
        <p:spPr>
          <a:xfrm>
            <a:off x="3410640" y="1847160"/>
            <a:ext cx="246852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950" b="0" u="none" strike="noStrike">
                <a:solidFill>
                  <a:srgbClr val="5A6A7A"/>
                </a:solidFill>
                <a:effectLst/>
                <a:uFillTx/>
                <a:latin typeface="Calibri"/>
              </a:rPr>
              <a:t>Voice menus • Messaging</a:t>
            </a:r>
            <a:endParaRPr lang="en-IN" sz="950" b="0" u="none" strike="noStrike">
              <a:solidFill>
                <a:srgbClr val="000000"/>
              </a:solidFill>
              <a:effectLst/>
              <a:uFillTx/>
              <a:latin typeface="Arial"/>
            </a:endParaRPr>
          </a:p>
        </p:txBody>
      </p:sp>
      <p:sp>
        <p:nvSpPr>
          <p:cNvPr id="250" name="Rounded Rectangle 15"/>
          <p:cNvSpPr/>
          <p:nvPr/>
        </p:nvSpPr>
        <p:spPr>
          <a:xfrm>
            <a:off x="5998320" y="1463040"/>
            <a:ext cx="2468520" cy="776880"/>
          </a:xfrm>
          <a:prstGeom prst="roundRect">
            <a:avLst>
              <a:gd name="adj" fmla="val 12000"/>
            </a:avLst>
          </a:prstGeom>
          <a:solidFill>
            <a:srgbClr val="FFFFFF"/>
          </a:solidFill>
          <a:ln w="12700">
            <a:solidFill>
              <a:srgbClr val="1A2D5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1" name="TextBox 16"/>
          <p:cNvSpPr/>
          <p:nvPr/>
        </p:nvSpPr>
        <p:spPr>
          <a:xfrm>
            <a:off x="5998320" y="1554480"/>
            <a:ext cx="2468520" cy="31968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100" b="1" u="none" strike="noStrike">
                <a:solidFill>
                  <a:srgbClr val="0D1B3E"/>
                </a:solidFill>
                <a:effectLst/>
                <a:uFillTx/>
                <a:latin typeface="Calibri"/>
              </a:rPr>
              <a:t>AGENT WORKSPACE</a:t>
            </a:r>
            <a:endParaRPr lang="en-IN" sz="1100" b="0" u="none" strike="noStrike">
              <a:solidFill>
                <a:srgbClr val="000000"/>
              </a:solidFill>
              <a:effectLst/>
              <a:uFillTx/>
              <a:latin typeface="Arial"/>
            </a:endParaRPr>
          </a:p>
        </p:txBody>
      </p:sp>
      <p:sp>
        <p:nvSpPr>
          <p:cNvPr id="252" name="TextBox 17"/>
          <p:cNvSpPr/>
          <p:nvPr/>
        </p:nvSpPr>
        <p:spPr>
          <a:xfrm>
            <a:off x="5998320" y="1847160"/>
            <a:ext cx="246852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950" b="0" u="none" strike="noStrike">
                <a:solidFill>
                  <a:srgbClr val="5A6A7A"/>
                </a:solidFill>
                <a:effectLst/>
                <a:uFillTx/>
                <a:latin typeface="Calibri"/>
              </a:rPr>
              <a:t>Scripting • Dashboards</a:t>
            </a:r>
            <a:endParaRPr lang="en-IN" sz="950" b="0" u="none" strike="noStrike">
              <a:solidFill>
                <a:srgbClr val="000000"/>
              </a:solidFill>
              <a:effectLst/>
              <a:uFillTx/>
              <a:latin typeface="Arial"/>
            </a:endParaRPr>
          </a:p>
        </p:txBody>
      </p:sp>
      <p:sp>
        <p:nvSpPr>
          <p:cNvPr id="253" name="Rounded Rectangle 18"/>
          <p:cNvSpPr/>
          <p:nvPr/>
        </p:nvSpPr>
        <p:spPr>
          <a:xfrm>
            <a:off x="8586360" y="1463040"/>
            <a:ext cx="2468520" cy="776880"/>
          </a:xfrm>
          <a:prstGeom prst="roundRect">
            <a:avLst>
              <a:gd name="adj" fmla="val 12000"/>
            </a:avLst>
          </a:prstGeom>
          <a:solidFill>
            <a:srgbClr val="FFFFFF"/>
          </a:solidFill>
          <a:ln w="12700">
            <a:solidFill>
              <a:srgbClr val="1A2D5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4" name="TextBox 19"/>
          <p:cNvSpPr/>
          <p:nvPr/>
        </p:nvSpPr>
        <p:spPr>
          <a:xfrm>
            <a:off x="8586360" y="1554480"/>
            <a:ext cx="2468520" cy="31968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100" b="1" u="none" strike="noStrike">
                <a:solidFill>
                  <a:srgbClr val="0D1B3E"/>
                </a:solidFill>
                <a:effectLst/>
                <a:uFillTx/>
                <a:latin typeface="Calibri"/>
              </a:rPr>
              <a:t>RECORDING</a:t>
            </a:r>
            <a:endParaRPr lang="en-IN" sz="1100" b="0" u="none" strike="noStrike">
              <a:solidFill>
                <a:srgbClr val="000000"/>
              </a:solidFill>
              <a:effectLst/>
              <a:uFillTx/>
              <a:latin typeface="Arial"/>
            </a:endParaRPr>
          </a:p>
        </p:txBody>
      </p:sp>
      <p:sp>
        <p:nvSpPr>
          <p:cNvPr id="255" name="TextBox 20"/>
          <p:cNvSpPr/>
          <p:nvPr/>
        </p:nvSpPr>
        <p:spPr>
          <a:xfrm>
            <a:off x="8586360" y="1847160"/>
            <a:ext cx="246852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950" b="0" u="none" strike="noStrike">
                <a:solidFill>
                  <a:srgbClr val="5A6A7A"/>
                </a:solidFill>
                <a:effectLst/>
                <a:uFillTx/>
                <a:latin typeface="Calibri"/>
              </a:rPr>
              <a:t>Capture • Analytics</a:t>
            </a:r>
            <a:endParaRPr lang="en-IN" sz="950" b="0" u="none" strike="noStrike">
              <a:solidFill>
                <a:srgbClr val="000000"/>
              </a:solidFill>
              <a:effectLst/>
              <a:uFillTx/>
              <a:latin typeface="Arial"/>
            </a:endParaRPr>
          </a:p>
        </p:txBody>
      </p:sp>
      <p:sp>
        <p:nvSpPr>
          <p:cNvPr id="256" name="Rounded Rectangle 21"/>
          <p:cNvSpPr/>
          <p:nvPr/>
        </p:nvSpPr>
        <p:spPr>
          <a:xfrm>
            <a:off x="822960" y="2350080"/>
            <a:ext cx="5028840" cy="548280"/>
          </a:xfrm>
          <a:prstGeom prst="roundRect">
            <a:avLst>
              <a:gd name="adj" fmla="val 12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100" b="1" u="none" strike="noStrike">
                <a:solidFill>
                  <a:srgbClr val="0D1B3E"/>
                </a:solidFill>
                <a:effectLst/>
                <a:uFillTx/>
                <a:latin typeface="Calibri"/>
              </a:rPr>
              <a:t>SYNAPSE WEBHOOK ENGINE   (2026 enhancement)</a:t>
            </a:r>
            <a:endParaRPr lang="en-IN" sz="1100" b="0" u="none" strike="noStrike">
              <a:solidFill>
                <a:srgbClr val="000000"/>
              </a:solidFill>
              <a:effectLst/>
              <a:uFillTx/>
              <a:latin typeface="Arial"/>
            </a:endParaRPr>
          </a:p>
        </p:txBody>
      </p:sp>
      <p:sp>
        <p:nvSpPr>
          <p:cNvPr id="257" name="Rounded Rectangle 22"/>
          <p:cNvSpPr/>
          <p:nvPr/>
        </p:nvSpPr>
        <p:spPr>
          <a:xfrm>
            <a:off x="5970960" y="2350080"/>
            <a:ext cx="5421960" cy="548280"/>
          </a:xfrm>
          <a:prstGeom prst="roundRect">
            <a:avLst>
              <a:gd name="adj" fmla="val 12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100" b="1" u="none" strike="noStrike">
                <a:solidFill>
                  <a:srgbClr val="FFFFFF"/>
                </a:solidFill>
                <a:effectLst/>
                <a:uFillTx/>
                <a:latin typeface="Calibri"/>
              </a:rPr>
              <a:t>REST API FRAMEWORK   +   Native CRM/ITSM Integrations</a:t>
            </a:r>
            <a:endParaRPr lang="en-IN" sz="1100" b="0" u="none" strike="noStrike">
              <a:solidFill>
                <a:srgbClr val="FFFFFF"/>
              </a:solidFill>
              <a:effectLst/>
              <a:uFillTx/>
              <a:latin typeface="Arial"/>
            </a:endParaRPr>
          </a:p>
        </p:txBody>
      </p:sp>
      <p:sp>
        <p:nvSpPr>
          <p:cNvPr id="258" name="Pentagon 23"/>
          <p:cNvSpPr/>
          <p:nvPr/>
        </p:nvSpPr>
        <p:spPr>
          <a:xfrm rot="5400000">
            <a:off x="457560" y="3474720"/>
            <a:ext cx="1828440" cy="776880"/>
          </a:xfrm>
          <a:prstGeom prst="homePlate">
            <a:avLst>
              <a:gd name="adj" fmla="val 50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9" name="TextBox 24"/>
          <p:cNvSpPr/>
          <p:nvPr/>
        </p:nvSpPr>
        <p:spPr>
          <a:xfrm>
            <a:off x="457200" y="3566160"/>
            <a:ext cx="1828440" cy="594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300" b="1" u="none" strike="noStrike">
                <a:solidFill>
                  <a:srgbClr val="FFFFFF"/>
                </a:solidFill>
                <a:effectLst/>
                <a:uFillTx/>
                <a:latin typeface="Calibri"/>
              </a:rPr>
              <a:t>  1  </a:t>
            </a:r>
            <a:endParaRPr lang="en-IN" sz="1300" b="0" u="none" strike="noStrike">
              <a:solidFill>
                <a:srgbClr val="000000"/>
              </a:solidFill>
              <a:effectLst/>
              <a:uFillTx/>
              <a:latin typeface="Arial"/>
            </a:endParaRPr>
          </a:p>
          <a:p>
            <a:pPr algn="ctr" defTabSz="457200">
              <a:lnSpc>
                <a:spcPct val="100000"/>
              </a:lnSpc>
            </a:pPr>
            <a:r>
              <a:rPr lang="en-US" sz="900" b="1" u="none" strike="noStrike">
                <a:solidFill>
                  <a:srgbClr val="FFFFFF"/>
                </a:solidFill>
                <a:effectLst/>
                <a:uFillTx/>
                <a:latin typeface="Calibri"/>
              </a:rPr>
              <a:t>SIP/RTP</a:t>
            </a:r>
            <a:endParaRPr lang="en-IN" sz="900" b="0" u="none" strike="noStrike">
              <a:solidFill>
                <a:srgbClr val="000000"/>
              </a:solidFill>
              <a:effectLst/>
              <a:uFillTx/>
              <a:latin typeface="Arial"/>
            </a:endParaRPr>
          </a:p>
          <a:p>
            <a:pPr algn="ctr" defTabSz="457200">
              <a:lnSpc>
                <a:spcPct val="100000"/>
              </a:lnSpc>
            </a:pPr>
            <a:r>
              <a:rPr lang="en-US" sz="900" b="1" u="none" strike="noStrike">
                <a:solidFill>
                  <a:srgbClr val="FFFFFF"/>
                </a:solidFill>
                <a:effectLst/>
                <a:uFillTx/>
                <a:latin typeface="Calibri"/>
              </a:rPr>
              <a:t>mirror</a:t>
            </a:r>
            <a:endParaRPr lang="en-IN" sz="900" b="0" u="none" strike="noStrike">
              <a:solidFill>
                <a:srgbClr val="000000"/>
              </a:solidFill>
              <a:effectLst/>
              <a:uFillTx/>
              <a:latin typeface="Arial"/>
            </a:endParaRPr>
          </a:p>
          <a:p>
            <a:pPr algn="ctr" defTabSz="457200">
              <a:lnSpc>
                <a:spcPct val="100000"/>
              </a:lnSpc>
            </a:pPr>
            <a:endParaRPr lang="en-IN" sz="900" b="0" u="none" strike="noStrike">
              <a:solidFill>
                <a:srgbClr val="000000"/>
              </a:solidFill>
              <a:effectLst/>
              <a:uFillTx/>
              <a:latin typeface="Arial"/>
            </a:endParaRPr>
          </a:p>
        </p:txBody>
      </p:sp>
      <p:sp>
        <p:nvSpPr>
          <p:cNvPr id="260" name="Pentagon 25"/>
          <p:cNvSpPr/>
          <p:nvPr/>
        </p:nvSpPr>
        <p:spPr>
          <a:xfrm rot="5400000">
            <a:off x="2819520" y="3474720"/>
            <a:ext cx="1828440" cy="776880"/>
          </a:xfrm>
          <a:prstGeom prst="homePlate">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1" name="TextBox 26"/>
          <p:cNvSpPr/>
          <p:nvPr/>
        </p:nvSpPr>
        <p:spPr>
          <a:xfrm>
            <a:off x="2819160" y="3566160"/>
            <a:ext cx="1828440" cy="594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300" b="1" u="none" strike="noStrike">
                <a:solidFill>
                  <a:srgbClr val="0D1B3E"/>
                </a:solidFill>
                <a:effectLst/>
                <a:uFillTx/>
                <a:latin typeface="Calibri"/>
              </a:rPr>
              <a:t>  2  </a:t>
            </a:r>
            <a:endParaRPr lang="en-IN" sz="1300" b="0" u="none" strike="noStrike">
              <a:solidFill>
                <a:srgbClr val="000000"/>
              </a:solidFill>
              <a:effectLst/>
              <a:uFillTx/>
              <a:latin typeface="Arial"/>
            </a:endParaRPr>
          </a:p>
          <a:p>
            <a:pPr algn="ctr" defTabSz="457200">
              <a:lnSpc>
                <a:spcPct val="100000"/>
              </a:lnSpc>
            </a:pPr>
            <a:r>
              <a:rPr lang="en-US" sz="900" b="1" u="none" strike="noStrike">
                <a:solidFill>
                  <a:srgbClr val="0D1B3E"/>
                </a:solidFill>
                <a:effectLst/>
                <a:uFillTx/>
                <a:latin typeface="Calibri"/>
              </a:rPr>
              <a:t>Synapse</a:t>
            </a:r>
            <a:endParaRPr lang="en-IN" sz="900" b="0" u="none" strike="noStrike">
              <a:solidFill>
                <a:srgbClr val="000000"/>
              </a:solidFill>
              <a:effectLst/>
              <a:uFillTx/>
              <a:latin typeface="Arial"/>
            </a:endParaRPr>
          </a:p>
          <a:p>
            <a:pPr algn="ctr" defTabSz="457200">
              <a:lnSpc>
                <a:spcPct val="100000"/>
              </a:lnSpc>
            </a:pPr>
            <a:r>
              <a:rPr lang="en-US" sz="900" b="1" u="none" strike="noStrike">
                <a:solidFill>
                  <a:srgbClr val="0D1B3E"/>
                </a:solidFill>
                <a:effectLst/>
                <a:uFillTx/>
                <a:latin typeface="Calibri"/>
              </a:rPr>
              <a:t>webhooks</a:t>
            </a:r>
            <a:endParaRPr lang="en-IN" sz="900" b="0" u="none" strike="noStrike">
              <a:solidFill>
                <a:srgbClr val="000000"/>
              </a:solidFill>
              <a:effectLst/>
              <a:uFillTx/>
              <a:latin typeface="Arial"/>
            </a:endParaRPr>
          </a:p>
          <a:p>
            <a:pPr algn="ctr" defTabSz="457200">
              <a:lnSpc>
                <a:spcPct val="100000"/>
              </a:lnSpc>
            </a:pPr>
            <a:endParaRPr lang="en-IN" sz="900" b="0" u="none" strike="noStrike">
              <a:solidFill>
                <a:srgbClr val="000000"/>
              </a:solidFill>
              <a:effectLst/>
              <a:uFillTx/>
              <a:latin typeface="Arial"/>
            </a:endParaRPr>
          </a:p>
        </p:txBody>
      </p:sp>
      <p:sp>
        <p:nvSpPr>
          <p:cNvPr id="262" name="Pentagon 27"/>
          <p:cNvSpPr/>
          <p:nvPr/>
        </p:nvSpPr>
        <p:spPr>
          <a:xfrm rot="5400000">
            <a:off x="5181480" y="3474720"/>
            <a:ext cx="1828440" cy="776880"/>
          </a:xfrm>
          <a:prstGeom prst="homePlate">
            <a:avLst>
              <a:gd name="adj"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3" name="TextBox 28"/>
          <p:cNvSpPr/>
          <p:nvPr/>
        </p:nvSpPr>
        <p:spPr>
          <a:xfrm>
            <a:off x="5181480" y="3566160"/>
            <a:ext cx="1828440" cy="594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300" b="1" u="none" strike="noStrike">
                <a:solidFill>
                  <a:srgbClr val="FFFFFF"/>
                </a:solidFill>
                <a:effectLst/>
                <a:uFillTx/>
                <a:latin typeface="Calibri"/>
              </a:rPr>
              <a:t>  3  </a:t>
            </a:r>
            <a:endParaRPr lang="en-IN" sz="1300" b="0" u="none" strike="noStrike">
              <a:solidFill>
                <a:srgbClr val="000000"/>
              </a:solidFill>
              <a:effectLst/>
              <a:uFillTx/>
              <a:latin typeface="Arial"/>
            </a:endParaRPr>
          </a:p>
          <a:p>
            <a:pPr algn="ctr" defTabSz="457200">
              <a:lnSpc>
                <a:spcPct val="100000"/>
              </a:lnSpc>
            </a:pPr>
            <a:r>
              <a:rPr lang="en-US" sz="900" b="1" u="none" strike="noStrike">
                <a:solidFill>
                  <a:srgbClr val="FFFFFF"/>
                </a:solidFill>
                <a:effectLst/>
                <a:uFillTx/>
                <a:latin typeface="Calibri"/>
              </a:rPr>
              <a:t>REST API</a:t>
            </a:r>
            <a:endParaRPr lang="en-IN" sz="900" b="0" u="none" strike="noStrike">
              <a:solidFill>
                <a:srgbClr val="000000"/>
              </a:solidFill>
              <a:effectLst/>
              <a:uFillTx/>
              <a:latin typeface="Arial"/>
            </a:endParaRPr>
          </a:p>
          <a:p>
            <a:pPr algn="ctr" defTabSz="457200">
              <a:lnSpc>
                <a:spcPct val="100000"/>
              </a:lnSpc>
            </a:pPr>
            <a:r>
              <a:rPr lang="en-US" sz="900" b="1" u="none" strike="noStrike">
                <a:solidFill>
                  <a:srgbClr val="FFFFFF"/>
                </a:solidFill>
                <a:effectLst/>
                <a:uFillTx/>
                <a:latin typeface="Calibri"/>
              </a:rPr>
              <a:t>(pull+push)</a:t>
            </a:r>
            <a:endParaRPr lang="en-IN" sz="900" b="0" u="none" strike="noStrike">
              <a:solidFill>
                <a:srgbClr val="000000"/>
              </a:solidFill>
              <a:effectLst/>
              <a:uFillTx/>
              <a:latin typeface="Arial"/>
            </a:endParaRPr>
          </a:p>
          <a:p>
            <a:pPr algn="ctr" defTabSz="457200">
              <a:lnSpc>
                <a:spcPct val="100000"/>
              </a:lnSpc>
            </a:pPr>
            <a:endParaRPr lang="en-IN" sz="900" b="0" u="none" strike="noStrike">
              <a:solidFill>
                <a:srgbClr val="000000"/>
              </a:solidFill>
              <a:effectLst/>
              <a:uFillTx/>
              <a:latin typeface="Arial"/>
            </a:endParaRPr>
          </a:p>
        </p:txBody>
      </p:sp>
      <p:sp>
        <p:nvSpPr>
          <p:cNvPr id="264" name="Pentagon 29"/>
          <p:cNvSpPr/>
          <p:nvPr/>
        </p:nvSpPr>
        <p:spPr>
          <a:xfrm rot="5400000">
            <a:off x="7543800" y="3474720"/>
            <a:ext cx="1828440" cy="776880"/>
          </a:xfrm>
          <a:prstGeom prst="homePlate">
            <a:avLst>
              <a:gd name="adj" fmla="val 50000"/>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5" name="TextBox 30"/>
          <p:cNvSpPr/>
          <p:nvPr/>
        </p:nvSpPr>
        <p:spPr>
          <a:xfrm>
            <a:off x="7543440" y="3566160"/>
            <a:ext cx="1828440" cy="594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300" b="1" u="none" strike="noStrike">
                <a:solidFill>
                  <a:srgbClr val="FFFFFF"/>
                </a:solidFill>
                <a:effectLst/>
                <a:uFillTx/>
                <a:latin typeface="Calibri"/>
              </a:rPr>
              <a:t>  4  </a:t>
            </a:r>
            <a:endParaRPr lang="en-IN" sz="1300" b="0" u="none" strike="noStrike">
              <a:solidFill>
                <a:srgbClr val="000000"/>
              </a:solidFill>
              <a:effectLst/>
              <a:uFillTx/>
              <a:latin typeface="Arial"/>
            </a:endParaRPr>
          </a:p>
          <a:p>
            <a:pPr algn="ctr" defTabSz="457200">
              <a:lnSpc>
                <a:spcPct val="100000"/>
              </a:lnSpc>
            </a:pPr>
            <a:r>
              <a:rPr lang="en-US" sz="900" b="1" u="none" strike="noStrike">
                <a:solidFill>
                  <a:srgbClr val="FFFFFF"/>
                </a:solidFill>
                <a:effectLst/>
                <a:uFillTx/>
                <a:latin typeface="Calibri"/>
              </a:rPr>
              <a:t>CRM/ITSM</a:t>
            </a:r>
            <a:endParaRPr lang="en-IN" sz="900" b="0" u="none" strike="noStrike">
              <a:solidFill>
                <a:srgbClr val="000000"/>
              </a:solidFill>
              <a:effectLst/>
              <a:uFillTx/>
              <a:latin typeface="Arial"/>
            </a:endParaRPr>
          </a:p>
          <a:p>
            <a:pPr algn="ctr" defTabSz="457200">
              <a:lnSpc>
                <a:spcPct val="100000"/>
              </a:lnSpc>
            </a:pPr>
            <a:r>
              <a:rPr lang="en-US" sz="900" b="1" u="none" strike="noStrike">
                <a:solidFill>
                  <a:srgbClr val="FFFFFF"/>
                </a:solidFill>
                <a:effectLst/>
                <a:uFillTx/>
                <a:latin typeface="Calibri"/>
              </a:rPr>
              <a:t>hooks</a:t>
            </a:r>
            <a:endParaRPr lang="en-IN" sz="900" b="0" u="none" strike="noStrike">
              <a:solidFill>
                <a:srgbClr val="000000"/>
              </a:solidFill>
              <a:effectLst/>
              <a:uFillTx/>
              <a:latin typeface="Arial"/>
            </a:endParaRPr>
          </a:p>
          <a:p>
            <a:pPr algn="ctr" defTabSz="457200">
              <a:lnSpc>
                <a:spcPct val="100000"/>
              </a:lnSpc>
            </a:pPr>
            <a:endParaRPr lang="en-IN" sz="900" b="0" u="none" strike="noStrike">
              <a:solidFill>
                <a:srgbClr val="000000"/>
              </a:solidFill>
              <a:effectLst/>
              <a:uFillTx/>
              <a:latin typeface="Arial"/>
            </a:endParaRPr>
          </a:p>
        </p:txBody>
      </p:sp>
      <p:sp>
        <p:nvSpPr>
          <p:cNvPr id="266" name="Pentagon 31"/>
          <p:cNvSpPr/>
          <p:nvPr/>
        </p:nvSpPr>
        <p:spPr>
          <a:xfrm rot="5400000">
            <a:off x="9905760" y="3474720"/>
            <a:ext cx="1828440" cy="776880"/>
          </a:xfrm>
          <a:prstGeom prst="homePlate">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7" name="TextBox 32"/>
          <p:cNvSpPr/>
          <p:nvPr/>
        </p:nvSpPr>
        <p:spPr>
          <a:xfrm>
            <a:off x="9905760" y="3566160"/>
            <a:ext cx="1828440" cy="594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300" b="1" u="none" strike="noStrike">
                <a:solidFill>
                  <a:srgbClr val="0D1B3E"/>
                </a:solidFill>
                <a:effectLst/>
                <a:uFillTx/>
                <a:latin typeface="Calibri"/>
              </a:rPr>
              <a:t>  5  </a:t>
            </a:r>
            <a:endParaRPr lang="en-IN" sz="1300" b="0" u="none" strike="noStrike">
              <a:solidFill>
                <a:srgbClr val="000000"/>
              </a:solidFill>
              <a:effectLst/>
              <a:uFillTx/>
              <a:latin typeface="Arial"/>
            </a:endParaRPr>
          </a:p>
          <a:p>
            <a:pPr algn="ctr" defTabSz="457200">
              <a:lnSpc>
                <a:spcPct val="100000"/>
              </a:lnSpc>
            </a:pPr>
            <a:r>
              <a:rPr lang="en-US" sz="900" b="1" u="none" strike="noStrike">
                <a:solidFill>
                  <a:srgbClr val="0D1B3E"/>
                </a:solidFill>
                <a:effectLst/>
                <a:uFillTx/>
                <a:latin typeface="Calibri"/>
              </a:rPr>
              <a:t>Admin SSO</a:t>
            </a:r>
            <a:endParaRPr lang="en-IN" sz="900" b="0" u="none" strike="noStrike">
              <a:solidFill>
                <a:srgbClr val="000000"/>
              </a:solidFill>
              <a:effectLst/>
              <a:uFillTx/>
              <a:latin typeface="Arial"/>
            </a:endParaRPr>
          </a:p>
          <a:p>
            <a:pPr algn="ctr" defTabSz="457200">
              <a:lnSpc>
                <a:spcPct val="100000"/>
              </a:lnSpc>
            </a:pPr>
            <a:r>
              <a:rPr lang="en-US" sz="900" b="1" u="none" strike="noStrike">
                <a:solidFill>
                  <a:srgbClr val="0D1B3E"/>
                </a:solidFill>
                <a:effectLst/>
                <a:uFillTx/>
                <a:latin typeface="Calibri"/>
              </a:rPr>
              <a:t>+ console</a:t>
            </a:r>
            <a:endParaRPr lang="en-IN" sz="900" b="0" u="none" strike="noStrike">
              <a:solidFill>
                <a:srgbClr val="000000"/>
              </a:solidFill>
              <a:effectLst/>
              <a:uFillTx/>
              <a:latin typeface="Arial"/>
            </a:endParaRPr>
          </a:p>
          <a:p>
            <a:pPr algn="ctr" defTabSz="457200">
              <a:lnSpc>
                <a:spcPct val="100000"/>
              </a:lnSpc>
            </a:pPr>
            <a:endParaRPr lang="en-IN" sz="900" b="0" u="none" strike="noStrike">
              <a:solidFill>
                <a:srgbClr val="000000"/>
              </a:solidFill>
              <a:effectLst/>
              <a:uFillTx/>
              <a:latin typeface="Arial"/>
            </a:endParaRPr>
          </a:p>
        </p:txBody>
      </p:sp>
      <p:sp>
        <p:nvSpPr>
          <p:cNvPr id="268" name="Rounded Rectangle 33"/>
          <p:cNvSpPr/>
          <p:nvPr/>
        </p:nvSpPr>
        <p:spPr>
          <a:xfrm>
            <a:off x="548640" y="4416480"/>
            <a:ext cx="11091240" cy="1828440"/>
          </a:xfrm>
          <a:prstGeom prst="roundRect">
            <a:avLst>
              <a:gd name="adj" fmla="val 12000"/>
            </a:avLst>
          </a:prstGeom>
          <a:solidFill>
            <a:srgbClr val="0D1B3E"/>
          </a:solidFill>
          <a:ln w="1905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9" name="Rounded Rectangle 34"/>
          <p:cNvSpPr/>
          <p:nvPr/>
        </p:nvSpPr>
        <p:spPr>
          <a:xfrm>
            <a:off x="713160" y="4489560"/>
            <a:ext cx="3108600" cy="27396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QBITEL BRIDGE  (co-resident / cloud / on-prem)</a:t>
            </a:r>
            <a:endParaRPr lang="en-IN" sz="1000" b="0" u="none" strike="noStrike">
              <a:solidFill>
                <a:srgbClr val="000000"/>
              </a:solidFill>
              <a:effectLst/>
              <a:uFillTx/>
              <a:latin typeface="Arial"/>
            </a:endParaRPr>
          </a:p>
        </p:txBody>
      </p:sp>
      <p:sp>
        <p:nvSpPr>
          <p:cNvPr id="270" name="Rounded Rectangle 35"/>
          <p:cNvSpPr/>
          <p:nvPr/>
        </p:nvSpPr>
        <p:spPr>
          <a:xfrm>
            <a:off x="676800" y="4873680"/>
            <a:ext cx="2057040" cy="1096920"/>
          </a:xfrm>
          <a:prstGeom prst="roundRect">
            <a:avLst>
              <a:gd name="adj" fmla="val 12000"/>
            </a:avLst>
          </a:prstGeom>
          <a:solidFill>
            <a:srgbClr val="1A2D5A"/>
          </a:solidFill>
          <a:ln w="1905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1" name="TextBox 36"/>
          <p:cNvSpPr/>
          <p:nvPr/>
        </p:nvSpPr>
        <p:spPr>
          <a:xfrm>
            <a:off x="676800" y="4983480"/>
            <a:ext cx="205704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08B9A"/>
                </a:solidFill>
                <a:effectLst/>
                <a:uFillTx/>
                <a:latin typeface="Calibri"/>
              </a:rPr>
              <a:t>AI Discovery</a:t>
            </a:r>
            <a:endParaRPr lang="en-IN" sz="1200" b="0" u="none" strike="noStrike">
              <a:solidFill>
                <a:srgbClr val="000000"/>
              </a:solidFill>
              <a:effectLst/>
              <a:uFillTx/>
              <a:latin typeface="Arial"/>
            </a:endParaRPr>
          </a:p>
        </p:txBody>
      </p:sp>
      <p:sp>
        <p:nvSpPr>
          <p:cNvPr id="272" name="TextBox 37"/>
          <p:cNvSpPr/>
          <p:nvPr/>
        </p:nvSpPr>
        <p:spPr>
          <a:xfrm>
            <a:off x="676800" y="5330880"/>
            <a:ext cx="2057040" cy="5940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950" b="0" u="none" strike="noStrike">
                <a:solidFill>
                  <a:srgbClr val="FFFFFF"/>
                </a:solidFill>
                <a:effectLst/>
                <a:uFillTx/>
                <a:latin typeface="Calibri"/>
              </a:rPr>
              <a:t>Protocol graph</a:t>
            </a:r>
            <a:endParaRPr lang="en-IN" sz="950" b="0" u="none" strike="noStrike">
              <a:solidFill>
                <a:srgbClr val="000000"/>
              </a:solidFill>
              <a:effectLst/>
              <a:uFillTx/>
              <a:latin typeface="Arial"/>
            </a:endParaRPr>
          </a:p>
          <a:p>
            <a:pPr algn="ctr" defTabSz="457200">
              <a:lnSpc>
                <a:spcPct val="115000"/>
              </a:lnSpc>
            </a:pPr>
            <a:r>
              <a:rPr lang="en-US" sz="950" b="0" u="none" strike="noStrike">
                <a:solidFill>
                  <a:srgbClr val="FFFFFF"/>
                </a:solidFill>
                <a:effectLst/>
                <a:uFillTx/>
                <a:latin typeface="Calibri"/>
              </a:rPr>
              <a:t>89%+ accuracy</a:t>
            </a:r>
            <a:endParaRPr lang="en-IN" sz="950" b="0" u="none" strike="noStrike">
              <a:solidFill>
                <a:srgbClr val="000000"/>
              </a:solidFill>
              <a:effectLst/>
              <a:uFillTx/>
              <a:latin typeface="Arial"/>
            </a:endParaRPr>
          </a:p>
        </p:txBody>
      </p:sp>
      <p:sp>
        <p:nvSpPr>
          <p:cNvPr id="273" name="Rounded Rectangle 38"/>
          <p:cNvSpPr/>
          <p:nvPr/>
        </p:nvSpPr>
        <p:spPr>
          <a:xfrm>
            <a:off x="2871360" y="4873680"/>
            <a:ext cx="2057040" cy="1096920"/>
          </a:xfrm>
          <a:prstGeom prst="roundRect">
            <a:avLst>
              <a:gd name="adj" fmla="val 12000"/>
            </a:avLst>
          </a:prstGeom>
          <a:solidFill>
            <a:srgbClr val="1A2D5A"/>
          </a:solidFill>
          <a:ln w="1905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4" name="TextBox 39"/>
          <p:cNvSpPr/>
          <p:nvPr/>
        </p:nvSpPr>
        <p:spPr>
          <a:xfrm>
            <a:off x="2871360" y="4983480"/>
            <a:ext cx="205704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08B9A"/>
                </a:solidFill>
                <a:effectLst/>
                <a:uFillTx/>
                <a:latin typeface="Calibri"/>
              </a:rPr>
              <a:t>PQC Data Plane</a:t>
            </a:r>
            <a:endParaRPr lang="en-IN" sz="1200" b="0" u="none" strike="noStrike">
              <a:solidFill>
                <a:srgbClr val="000000"/>
              </a:solidFill>
              <a:effectLst/>
              <a:uFillTx/>
              <a:latin typeface="Arial"/>
            </a:endParaRPr>
          </a:p>
        </p:txBody>
      </p:sp>
      <p:sp>
        <p:nvSpPr>
          <p:cNvPr id="275" name="TextBox 40"/>
          <p:cNvSpPr/>
          <p:nvPr/>
        </p:nvSpPr>
        <p:spPr>
          <a:xfrm>
            <a:off x="2871360" y="5330880"/>
            <a:ext cx="2057040" cy="5940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950" b="0" u="none" strike="noStrike">
                <a:solidFill>
                  <a:srgbClr val="FFFFFF"/>
                </a:solidFill>
                <a:effectLst/>
                <a:uFillTx/>
                <a:latin typeface="Calibri"/>
              </a:rPr>
              <a:t>Rust • Wire speed</a:t>
            </a:r>
            <a:endParaRPr lang="en-IN" sz="950" b="0" u="none" strike="noStrike">
              <a:solidFill>
                <a:srgbClr val="000000"/>
              </a:solidFill>
              <a:effectLst/>
              <a:uFillTx/>
              <a:latin typeface="Arial"/>
            </a:endParaRPr>
          </a:p>
          <a:p>
            <a:pPr algn="ctr" defTabSz="457200">
              <a:lnSpc>
                <a:spcPct val="115000"/>
              </a:lnSpc>
            </a:pPr>
            <a:r>
              <a:rPr lang="en-US" sz="950" b="0" u="none" strike="noStrike">
                <a:solidFill>
                  <a:srgbClr val="FFFFFF"/>
                </a:solidFill>
                <a:effectLst/>
                <a:uFillTx/>
                <a:latin typeface="Calibri"/>
              </a:rPr>
              <a:t>&lt;2ms overhead</a:t>
            </a:r>
            <a:endParaRPr lang="en-IN" sz="950" b="0" u="none" strike="noStrike">
              <a:solidFill>
                <a:srgbClr val="000000"/>
              </a:solidFill>
              <a:effectLst/>
              <a:uFillTx/>
              <a:latin typeface="Arial"/>
            </a:endParaRPr>
          </a:p>
        </p:txBody>
      </p:sp>
      <p:sp>
        <p:nvSpPr>
          <p:cNvPr id="276" name="Rounded Rectangle 41"/>
          <p:cNvSpPr/>
          <p:nvPr/>
        </p:nvSpPr>
        <p:spPr>
          <a:xfrm>
            <a:off x="5065920" y="4873680"/>
            <a:ext cx="2057040" cy="1096920"/>
          </a:xfrm>
          <a:prstGeom prst="roundRect">
            <a:avLst>
              <a:gd name="adj" fmla="val 12000"/>
            </a:avLst>
          </a:prstGeom>
          <a:solidFill>
            <a:srgbClr val="1A2D5A"/>
          </a:solidFill>
          <a:ln w="1905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7" name="TextBox 42"/>
          <p:cNvSpPr/>
          <p:nvPr/>
        </p:nvSpPr>
        <p:spPr>
          <a:xfrm>
            <a:off x="5065920" y="4983480"/>
            <a:ext cx="205704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F0A500"/>
                </a:solidFill>
                <a:effectLst/>
                <a:uFillTx/>
                <a:latin typeface="Calibri"/>
              </a:rPr>
              <a:t>Policy Engine</a:t>
            </a:r>
            <a:endParaRPr lang="en-IN" sz="1200" b="0" u="none" strike="noStrike">
              <a:solidFill>
                <a:srgbClr val="000000"/>
              </a:solidFill>
              <a:effectLst/>
              <a:uFillTx/>
              <a:latin typeface="Arial"/>
            </a:endParaRPr>
          </a:p>
        </p:txBody>
      </p:sp>
      <p:sp>
        <p:nvSpPr>
          <p:cNvPr id="278" name="TextBox 43"/>
          <p:cNvSpPr/>
          <p:nvPr/>
        </p:nvSpPr>
        <p:spPr>
          <a:xfrm>
            <a:off x="5065920" y="5330880"/>
            <a:ext cx="2057040" cy="5940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950" b="0" u="none" strike="noStrike">
                <a:solidFill>
                  <a:srgbClr val="FFFFFF"/>
                </a:solidFill>
                <a:effectLst/>
                <a:uFillTx/>
                <a:latin typeface="Calibri"/>
              </a:rPr>
              <a:t>OPA • Per-tenant</a:t>
            </a:r>
            <a:endParaRPr lang="en-IN" sz="950" b="0" u="none" strike="noStrike">
              <a:solidFill>
                <a:srgbClr val="000000"/>
              </a:solidFill>
              <a:effectLst/>
              <a:uFillTx/>
              <a:latin typeface="Arial"/>
            </a:endParaRPr>
          </a:p>
          <a:p>
            <a:pPr algn="ctr" defTabSz="457200">
              <a:lnSpc>
                <a:spcPct val="115000"/>
              </a:lnSpc>
            </a:pPr>
            <a:r>
              <a:rPr lang="en-US" sz="950" b="0" u="none" strike="noStrike">
                <a:solidFill>
                  <a:srgbClr val="FFFFFF"/>
                </a:solidFill>
                <a:effectLst/>
                <a:uFillTx/>
                <a:latin typeface="Calibri"/>
              </a:rPr>
              <a:t>scoped policies</a:t>
            </a:r>
            <a:endParaRPr lang="en-IN" sz="950" b="0" u="none" strike="noStrike">
              <a:solidFill>
                <a:srgbClr val="000000"/>
              </a:solidFill>
              <a:effectLst/>
              <a:uFillTx/>
              <a:latin typeface="Arial"/>
            </a:endParaRPr>
          </a:p>
        </p:txBody>
      </p:sp>
      <p:sp>
        <p:nvSpPr>
          <p:cNvPr id="279" name="Rounded Rectangle 44"/>
          <p:cNvSpPr/>
          <p:nvPr/>
        </p:nvSpPr>
        <p:spPr>
          <a:xfrm>
            <a:off x="7260480" y="4873680"/>
            <a:ext cx="2057040" cy="1096920"/>
          </a:xfrm>
          <a:prstGeom prst="roundRect">
            <a:avLst>
              <a:gd name="adj" fmla="val 12000"/>
            </a:avLst>
          </a:prstGeom>
          <a:solidFill>
            <a:srgbClr val="1A2D5A"/>
          </a:solidFill>
          <a:ln w="1905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0" name="TextBox 45"/>
          <p:cNvSpPr/>
          <p:nvPr/>
        </p:nvSpPr>
        <p:spPr>
          <a:xfrm>
            <a:off x="7260480" y="4983480"/>
            <a:ext cx="205704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08B9A"/>
                </a:solidFill>
                <a:effectLst/>
                <a:uFillTx/>
                <a:latin typeface="Calibri"/>
              </a:rPr>
              <a:t>Fraud / DLP</a:t>
            </a:r>
            <a:endParaRPr lang="en-IN" sz="1200" b="0" u="none" strike="noStrike">
              <a:solidFill>
                <a:srgbClr val="000000"/>
              </a:solidFill>
              <a:effectLst/>
              <a:uFillTx/>
              <a:latin typeface="Arial"/>
            </a:endParaRPr>
          </a:p>
        </p:txBody>
      </p:sp>
      <p:sp>
        <p:nvSpPr>
          <p:cNvPr id="281" name="TextBox 46"/>
          <p:cNvSpPr/>
          <p:nvPr/>
        </p:nvSpPr>
        <p:spPr>
          <a:xfrm>
            <a:off x="7260480" y="5330880"/>
            <a:ext cx="2057040" cy="5940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950" b="0" u="none" strike="noStrike">
                <a:solidFill>
                  <a:srgbClr val="FFFFFF"/>
                </a:solidFill>
                <a:effectLst/>
                <a:uFillTx/>
                <a:latin typeface="Calibri"/>
              </a:rPr>
              <a:t>Toll fraud &lt;1s</a:t>
            </a:r>
            <a:endParaRPr lang="en-IN" sz="950" b="0" u="none" strike="noStrike">
              <a:solidFill>
                <a:srgbClr val="000000"/>
              </a:solidFill>
              <a:effectLst/>
              <a:uFillTx/>
              <a:latin typeface="Arial"/>
            </a:endParaRPr>
          </a:p>
          <a:p>
            <a:pPr algn="ctr" defTabSz="457200">
              <a:lnSpc>
                <a:spcPct val="115000"/>
              </a:lnSpc>
            </a:pPr>
            <a:r>
              <a:rPr lang="en-US" sz="950" b="0" u="none" strike="noStrike">
                <a:solidFill>
                  <a:srgbClr val="FFFFFF"/>
                </a:solidFill>
                <a:effectLst/>
                <a:uFillTx/>
                <a:latin typeface="Calibri"/>
              </a:rPr>
              <a:t>6-vector DLP</a:t>
            </a:r>
            <a:endParaRPr lang="en-IN" sz="950" b="0" u="none" strike="noStrike">
              <a:solidFill>
                <a:srgbClr val="000000"/>
              </a:solidFill>
              <a:effectLst/>
              <a:uFillTx/>
              <a:latin typeface="Arial"/>
            </a:endParaRPr>
          </a:p>
        </p:txBody>
      </p:sp>
      <p:sp>
        <p:nvSpPr>
          <p:cNvPr id="282" name="Rounded Rectangle 47"/>
          <p:cNvSpPr/>
          <p:nvPr/>
        </p:nvSpPr>
        <p:spPr>
          <a:xfrm>
            <a:off x="9455040" y="4873680"/>
            <a:ext cx="2057040" cy="1096920"/>
          </a:xfrm>
          <a:prstGeom prst="roundRect">
            <a:avLst>
              <a:gd name="adj" fmla="val 12000"/>
            </a:avLst>
          </a:prstGeom>
          <a:solidFill>
            <a:srgbClr val="1A2D5A"/>
          </a:solidFill>
          <a:ln w="1905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TextBox 48"/>
          <p:cNvSpPr/>
          <p:nvPr/>
        </p:nvSpPr>
        <p:spPr>
          <a:xfrm>
            <a:off x="9455040" y="4983480"/>
            <a:ext cx="205704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F0A500"/>
                </a:solidFill>
                <a:effectLst/>
                <a:uFillTx/>
                <a:latin typeface="Calibri"/>
              </a:rPr>
              <a:t>Compliance</a:t>
            </a:r>
            <a:endParaRPr lang="en-IN" sz="1200" b="0" u="none" strike="noStrike">
              <a:solidFill>
                <a:srgbClr val="000000"/>
              </a:solidFill>
              <a:effectLst/>
              <a:uFillTx/>
              <a:latin typeface="Arial"/>
            </a:endParaRPr>
          </a:p>
        </p:txBody>
      </p:sp>
      <p:sp>
        <p:nvSpPr>
          <p:cNvPr id="284" name="TextBox 49"/>
          <p:cNvSpPr/>
          <p:nvPr/>
        </p:nvSpPr>
        <p:spPr>
          <a:xfrm>
            <a:off x="9455040" y="5330880"/>
            <a:ext cx="2057040" cy="5940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950" b="0" u="none" strike="noStrike">
                <a:solidFill>
                  <a:srgbClr val="FFFFFF"/>
                </a:solidFill>
                <a:effectLst/>
                <a:uFillTx/>
                <a:latin typeface="Calibri"/>
              </a:rPr>
              <a:t>Evidence packs</a:t>
            </a:r>
            <a:endParaRPr lang="en-IN" sz="950" b="0" u="none" strike="noStrike">
              <a:solidFill>
                <a:srgbClr val="000000"/>
              </a:solidFill>
              <a:effectLst/>
              <a:uFillTx/>
              <a:latin typeface="Arial"/>
            </a:endParaRPr>
          </a:p>
          <a:p>
            <a:pPr algn="ctr" defTabSz="457200">
              <a:lnSpc>
                <a:spcPct val="115000"/>
              </a:lnSpc>
            </a:pPr>
            <a:r>
              <a:rPr lang="en-US" sz="950" b="0" u="none" strike="noStrike">
                <a:solidFill>
                  <a:srgbClr val="FFFFFF"/>
                </a:solidFill>
                <a:effectLst/>
                <a:uFillTx/>
                <a:latin typeface="Calibri"/>
              </a:rPr>
              <a:t>9 frameworks</a:t>
            </a:r>
            <a:endParaRPr lang="en-IN" sz="950" b="0" u="none" strike="noStrike">
              <a:solidFill>
                <a:srgbClr val="000000"/>
              </a:solidFill>
              <a:effectLst/>
              <a:uFillTx/>
              <a:latin typeface="Arial"/>
            </a:endParaRPr>
          </a:p>
        </p:txBody>
      </p:sp>
      <p:sp>
        <p:nvSpPr>
          <p:cNvPr id="285" name="TextBox 50"/>
          <p:cNvSpPr/>
          <p:nvPr/>
        </p:nvSpPr>
        <p:spPr>
          <a:xfrm>
            <a:off x="548640" y="6446520"/>
            <a:ext cx="11155320" cy="27396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000" b="0" i="1" u="none" strike="noStrike">
                <a:solidFill>
                  <a:srgbClr val="5A6A7A"/>
                </a:solidFill>
                <a:effectLst/>
                <a:uFillTx/>
                <a:latin typeface="Calibri"/>
              </a:rPr>
              <a:t>Default voice-path topology is passive-mirror — QBITEL failure = no voice impact. Inline PQC is opt-in per tenant.</a:t>
            </a:r>
            <a:endParaRPr lang="en-IN" sz="1000" b="0" u="none" strike="noStrike">
              <a:solidFill>
                <a:srgbClr val="000000"/>
              </a:solidFill>
              <a:effectLst/>
              <a:uFillTx/>
              <a:latin typeface="Arial"/>
            </a:endParaRPr>
          </a:p>
        </p:txBody>
      </p:sp>
      <p:sp>
        <p:nvSpPr>
          <p:cNvPr id="286" name="Rectangle 51"/>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7" name="Rectangle 52"/>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288" name="TextBox 53"/>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289" name="TextBox 54"/>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1"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2"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3"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THE FIVE INTEGRATION SEAMS</a:t>
            </a:r>
            <a:endParaRPr lang="en-IN" sz="1800" b="0" u="none" strike="noStrike">
              <a:solidFill>
                <a:srgbClr val="000000"/>
              </a:solidFill>
              <a:effectLst/>
              <a:uFillTx/>
              <a:latin typeface="Arial"/>
            </a:endParaRPr>
          </a:p>
        </p:txBody>
      </p:sp>
      <p:sp>
        <p:nvSpPr>
          <p:cNvPr id="294"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All use existing TCN surfaces — no TCN roadmap changes required</a:t>
            </a:r>
            <a:endParaRPr lang="en-IN" sz="1050" b="0" u="none" strike="noStrike">
              <a:solidFill>
                <a:srgbClr val="000000"/>
              </a:solidFill>
              <a:effectLst/>
              <a:uFillTx/>
              <a:latin typeface="Arial"/>
            </a:endParaRPr>
          </a:p>
        </p:txBody>
      </p:sp>
      <p:sp>
        <p:nvSpPr>
          <p:cNvPr id="295"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296" name="Rectangle 7"/>
          <p:cNvSpPr/>
          <p:nvPr/>
        </p:nvSpPr>
        <p:spPr>
          <a:xfrm>
            <a:off x="548640" y="1005840"/>
            <a:ext cx="548280" cy="50256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100" b="1" u="none" strike="noStrike">
                <a:solidFill>
                  <a:srgbClr val="FFFFFF"/>
                </a:solidFill>
                <a:effectLst/>
                <a:uFillTx/>
                <a:latin typeface="Calibri"/>
              </a:rPr>
              <a:t>#</a:t>
            </a:r>
            <a:endParaRPr lang="en-IN" sz="1100" b="0" u="none" strike="noStrike">
              <a:solidFill>
                <a:srgbClr val="FFFFFF"/>
              </a:solidFill>
              <a:effectLst/>
              <a:uFillTx/>
              <a:latin typeface="Arial"/>
            </a:endParaRPr>
          </a:p>
        </p:txBody>
      </p:sp>
      <p:sp>
        <p:nvSpPr>
          <p:cNvPr id="297" name="Rectangle 8"/>
          <p:cNvSpPr/>
          <p:nvPr/>
        </p:nvSpPr>
        <p:spPr>
          <a:xfrm>
            <a:off x="1097280" y="1005840"/>
            <a:ext cx="2559960" cy="50256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100" b="1" u="none" strike="noStrike">
                <a:solidFill>
                  <a:srgbClr val="FFFFFF"/>
                </a:solidFill>
                <a:effectLst/>
                <a:uFillTx/>
                <a:latin typeface="Calibri"/>
              </a:rPr>
              <a:t>SEAM</a:t>
            </a:r>
            <a:endParaRPr lang="en-IN" sz="1100" b="0" u="none" strike="noStrike">
              <a:solidFill>
                <a:srgbClr val="FFFFFF"/>
              </a:solidFill>
              <a:effectLst/>
              <a:uFillTx/>
              <a:latin typeface="Arial"/>
            </a:endParaRPr>
          </a:p>
        </p:txBody>
      </p:sp>
      <p:sp>
        <p:nvSpPr>
          <p:cNvPr id="298" name="Rectangle 9"/>
          <p:cNvSpPr/>
          <p:nvPr/>
        </p:nvSpPr>
        <p:spPr>
          <a:xfrm>
            <a:off x="3657600" y="1005840"/>
            <a:ext cx="3840120" cy="50256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100" b="1" u="none" strike="noStrike">
                <a:solidFill>
                  <a:srgbClr val="FFFFFF"/>
                </a:solidFill>
                <a:effectLst/>
                <a:uFillTx/>
                <a:latin typeface="Calibri"/>
              </a:rPr>
              <a:t>TCN SURFACE</a:t>
            </a:r>
            <a:endParaRPr lang="en-IN" sz="1100" b="0" u="none" strike="noStrike">
              <a:solidFill>
                <a:srgbClr val="FFFFFF"/>
              </a:solidFill>
              <a:effectLst/>
              <a:uFillTx/>
              <a:latin typeface="Arial"/>
            </a:endParaRPr>
          </a:p>
        </p:txBody>
      </p:sp>
      <p:sp>
        <p:nvSpPr>
          <p:cNvPr id="299" name="Rectangle 10"/>
          <p:cNvSpPr/>
          <p:nvPr/>
        </p:nvSpPr>
        <p:spPr>
          <a:xfrm>
            <a:off x="7498080" y="1005840"/>
            <a:ext cx="4160160" cy="50256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t">
            <a:noAutofit/>
          </a:bodyPr>
          <a:p>
            <a:pPr defTabSz="457200">
              <a:lnSpc>
                <a:spcPct val="115000"/>
              </a:lnSpc>
            </a:pPr>
            <a:r>
              <a:rPr lang="en-US" sz="1100" b="1" u="none" strike="noStrike">
                <a:solidFill>
                  <a:srgbClr val="FFFFFF"/>
                </a:solidFill>
                <a:effectLst/>
                <a:uFillTx/>
                <a:latin typeface="Calibri"/>
              </a:rPr>
              <a:t>QBITEL ROLE</a:t>
            </a:r>
            <a:endParaRPr lang="en-IN" sz="1100" b="0" u="none" strike="noStrike">
              <a:solidFill>
                <a:srgbClr val="FFFFFF"/>
              </a:solidFill>
              <a:effectLst/>
              <a:uFillTx/>
              <a:latin typeface="Arial"/>
            </a:endParaRPr>
          </a:p>
        </p:txBody>
      </p:sp>
      <p:sp>
        <p:nvSpPr>
          <p:cNvPr id="300" name="Rectangle 11"/>
          <p:cNvSpPr/>
          <p:nvPr/>
        </p:nvSpPr>
        <p:spPr>
          <a:xfrm>
            <a:off x="548640" y="1508760"/>
            <a:ext cx="54828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2000" b="1" u="none" strike="noStrike">
                <a:solidFill>
                  <a:srgbClr val="F0A500"/>
                </a:solidFill>
                <a:effectLst/>
                <a:uFillTx/>
                <a:latin typeface="Calibri"/>
              </a:rPr>
              <a:t>1</a:t>
            </a:r>
            <a:endParaRPr lang="en-IN" sz="2000" b="0" u="none" strike="noStrike">
              <a:solidFill>
                <a:srgbClr val="000000"/>
              </a:solidFill>
              <a:effectLst/>
              <a:uFillTx/>
              <a:latin typeface="Arial"/>
            </a:endParaRPr>
          </a:p>
        </p:txBody>
      </p:sp>
      <p:sp>
        <p:nvSpPr>
          <p:cNvPr id="301" name="Rectangle 12"/>
          <p:cNvSpPr/>
          <p:nvPr/>
        </p:nvSpPr>
        <p:spPr>
          <a:xfrm>
            <a:off x="1097280" y="1508760"/>
            <a:ext cx="255996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0D1B3E"/>
                </a:solidFill>
                <a:effectLst/>
                <a:uFillTx/>
                <a:latin typeface="Calibri"/>
              </a:rPr>
              <a:t>SIP / RTP signal &amp; media</a:t>
            </a:r>
            <a:endParaRPr lang="en-IN" sz="1100" b="0" u="none" strike="noStrike">
              <a:solidFill>
                <a:srgbClr val="000000"/>
              </a:solidFill>
              <a:effectLst/>
              <a:uFillTx/>
              <a:latin typeface="Arial"/>
            </a:endParaRPr>
          </a:p>
        </p:txBody>
      </p:sp>
      <p:sp>
        <p:nvSpPr>
          <p:cNvPr id="302" name="Rectangle 13"/>
          <p:cNvSpPr/>
          <p:nvPr/>
        </p:nvSpPr>
        <p:spPr>
          <a:xfrm>
            <a:off x="3657600" y="1508760"/>
            <a:ext cx="384012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SBC mirror (or customer-edge SBC)</a:t>
            </a:r>
            <a:endParaRPr lang="en-IN" sz="1050" b="0" u="none" strike="noStrike">
              <a:solidFill>
                <a:srgbClr val="000000"/>
              </a:solidFill>
              <a:effectLst/>
              <a:uFillTx/>
              <a:latin typeface="Arial"/>
            </a:endParaRPr>
          </a:p>
        </p:txBody>
      </p:sp>
      <p:sp>
        <p:nvSpPr>
          <p:cNvPr id="303" name="Rectangle 14"/>
          <p:cNvSpPr/>
          <p:nvPr/>
        </p:nvSpPr>
        <p:spPr>
          <a:xfrm>
            <a:off x="7498080" y="1508760"/>
            <a:ext cx="416016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Passive tap; PQC overlay; DTMF masking; toll-fraud detection</a:t>
            </a:r>
            <a:endParaRPr lang="en-IN" sz="1050" b="0" u="none" strike="noStrike">
              <a:solidFill>
                <a:srgbClr val="000000"/>
              </a:solidFill>
              <a:effectLst/>
              <a:uFillTx/>
              <a:latin typeface="Arial"/>
            </a:endParaRPr>
          </a:p>
        </p:txBody>
      </p:sp>
      <p:sp>
        <p:nvSpPr>
          <p:cNvPr id="304" name="Rectangle 15"/>
          <p:cNvSpPr/>
          <p:nvPr/>
        </p:nvSpPr>
        <p:spPr>
          <a:xfrm>
            <a:off x="548640" y="2377440"/>
            <a:ext cx="548280" cy="8683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2000" b="1" u="none" strike="noStrike">
                <a:solidFill>
                  <a:srgbClr val="F0A500"/>
                </a:solidFill>
                <a:effectLst/>
                <a:uFillTx/>
                <a:latin typeface="Calibri"/>
              </a:rPr>
              <a:t>2</a:t>
            </a:r>
            <a:endParaRPr lang="en-IN" sz="2000" b="0" u="none" strike="noStrike">
              <a:solidFill>
                <a:srgbClr val="000000"/>
              </a:solidFill>
              <a:effectLst/>
              <a:uFillTx/>
              <a:latin typeface="Arial"/>
            </a:endParaRPr>
          </a:p>
        </p:txBody>
      </p:sp>
      <p:sp>
        <p:nvSpPr>
          <p:cNvPr id="305" name="Rectangle 16"/>
          <p:cNvSpPr/>
          <p:nvPr/>
        </p:nvSpPr>
        <p:spPr>
          <a:xfrm>
            <a:off x="1097280" y="2377440"/>
            <a:ext cx="2559960" cy="8683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0D1B3E"/>
                </a:solidFill>
                <a:effectLst/>
                <a:uFillTx/>
                <a:latin typeface="Calibri"/>
              </a:rPr>
              <a:t>Synapse webhooks</a:t>
            </a:r>
            <a:endParaRPr lang="en-IN" sz="1100" b="0" u="none" strike="noStrike">
              <a:solidFill>
                <a:srgbClr val="000000"/>
              </a:solidFill>
              <a:effectLst/>
              <a:uFillTx/>
              <a:latin typeface="Arial"/>
            </a:endParaRPr>
          </a:p>
        </p:txBody>
      </p:sp>
      <p:sp>
        <p:nvSpPr>
          <p:cNvPr id="306" name="Rectangle 17"/>
          <p:cNvSpPr/>
          <p:nvPr/>
        </p:nvSpPr>
        <p:spPr>
          <a:xfrm>
            <a:off x="3657600" y="2377440"/>
            <a:ext cx="3840120" cy="8683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Existing outbound webhook engine (2026)</a:t>
            </a:r>
            <a:endParaRPr lang="en-IN" sz="1050" b="0" u="none" strike="noStrike">
              <a:solidFill>
                <a:srgbClr val="000000"/>
              </a:solidFill>
              <a:effectLst/>
              <a:uFillTx/>
              <a:latin typeface="Arial"/>
            </a:endParaRPr>
          </a:p>
        </p:txBody>
      </p:sp>
      <p:sp>
        <p:nvSpPr>
          <p:cNvPr id="307" name="Rectangle 18"/>
          <p:cNvSpPr/>
          <p:nvPr/>
        </p:nvSpPr>
        <p:spPr>
          <a:xfrm>
            <a:off x="7498080" y="2377440"/>
            <a:ext cx="4160160" cy="8683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Subscribes to call.started / .ended / agent.login / payment events</a:t>
            </a:r>
            <a:endParaRPr lang="en-IN" sz="1050" b="0" u="none" strike="noStrike">
              <a:solidFill>
                <a:srgbClr val="000000"/>
              </a:solidFill>
              <a:effectLst/>
              <a:uFillTx/>
              <a:latin typeface="Arial"/>
            </a:endParaRPr>
          </a:p>
        </p:txBody>
      </p:sp>
      <p:sp>
        <p:nvSpPr>
          <p:cNvPr id="308" name="Rectangle 19"/>
          <p:cNvSpPr/>
          <p:nvPr/>
        </p:nvSpPr>
        <p:spPr>
          <a:xfrm>
            <a:off x="548640" y="3246120"/>
            <a:ext cx="54828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2000" b="1" u="none" strike="noStrike">
                <a:solidFill>
                  <a:srgbClr val="F0A500"/>
                </a:solidFill>
                <a:effectLst/>
                <a:uFillTx/>
                <a:latin typeface="Calibri"/>
              </a:rPr>
              <a:t>3</a:t>
            </a:r>
            <a:endParaRPr lang="en-IN" sz="2000" b="0" u="none" strike="noStrike">
              <a:solidFill>
                <a:srgbClr val="000000"/>
              </a:solidFill>
              <a:effectLst/>
              <a:uFillTx/>
              <a:latin typeface="Arial"/>
            </a:endParaRPr>
          </a:p>
        </p:txBody>
      </p:sp>
      <p:sp>
        <p:nvSpPr>
          <p:cNvPr id="309" name="Rectangle 20"/>
          <p:cNvSpPr/>
          <p:nvPr/>
        </p:nvSpPr>
        <p:spPr>
          <a:xfrm>
            <a:off x="1097280" y="3246120"/>
            <a:ext cx="255996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0D1B3E"/>
                </a:solidFill>
                <a:effectLst/>
                <a:uFillTx/>
                <a:latin typeface="Calibri"/>
              </a:rPr>
              <a:t>REST API</a:t>
            </a:r>
            <a:endParaRPr lang="en-IN" sz="1100" b="0" u="none" strike="noStrike">
              <a:solidFill>
                <a:srgbClr val="000000"/>
              </a:solidFill>
              <a:effectLst/>
              <a:uFillTx/>
              <a:latin typeface="Arial"/>
            </a:endParaRPr>
          </a:p>
        </p:txBody>
      </p:sp>
      <p:sp>
        <p:nvSpPr>
          <p:cNvPr id="310" name="Rectangle 21"/>
          <p:cNvSpPr/>
          <p:nvPr/>
        </p:nvSpPr>
        <p:spPr>
          <a:xfrm>
            <a:off x="3657600" y="3246120"/>
            <a:ext cx="384012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Existing TCN public API framework</a:t>
            </a:r>
            <a:endParaRPr lang="en-IN" sz="1050" b="0" u="none" strike="noStrike">
              <a:solidFill>
                <a:srgbClr val="000000"/>
              </a:solidFill>
              <a:effectLst/>
              <a:uFillTx/>
              <a:latin typeface="Arial"/>
            </a:endParaRPr>
          </a:p>
        </p:txBody>
      </p:sp>
      <p:sp>
        <p:nvSpPr>
          <p:cNvPr id="311" name="Rectangle 22"/>
          <p:cNvSpPr/>
          <p:nvPr/>
        </p:nvSpPr>
        <p:spPr>
          <a:xfrm>
            <a:off x="7498080" y="3246120"/>
            <a:ext cx="416016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Pulls recording metadata; pushes campaign pause on fraud blocks</a:t>
            </a:r>
            <a:endParaRPr lang="en-IN" sz="1050" b="0" u="none" strike="noStrike">
              <a:solidFill>
                <a:srgbClr val="000000"/>
              </a:solidFill>
              <a:effectLst/>
              <a:uFillTx/>
              <a:latin typeface="Arial"/>
            </a:endParaRPr>
          </a:p>
        </p:txBody>
      </p:sp>
      <p:sp>
        <p:nvSpPr>
          <p:cNvPr id="312" name="Rectangle 23"/>
          <p:cNvSpPr/>
          <p:nvPr/>
        </p:nvSpPr>
        <p:spPr>
          <a:xfrm>
            <a:off x="548640" y="4114800"/>
            <a:ext cx="548280" cy="8683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2000" b="1" u="none" strike="noStrike">
                <a:solidFill>
                  <a:srgbClr val="F0A500"/>
                </a:solidFill>
                <a:effectLst/>
                <a:uFillTx/>
                <a:latin typeface="Calibri"/>
              </a:rPr>
              <a:t>4</a:t>
            </a:r>
            <a:endParaRPr lang="en-IN" sz="2000" b="0" u="none" strike="noStrike">
              <a:solidFill>
                <a:srgbClr val="000000"/>
              </a:solidFill>
              <a:effectLst/>
              <a:uFillTx/>
              <a:latin typeface="Arial"/>
            </a:endParaRPr>
          </a:p>
        </p:txBody>
      </p:sp>
      <p:sp>
        <p:nvSpPr>
          <p:cNvPr id="313" name="Rectangle 24"/>
          <p:cNvSpPr/>
          <p:nvPr/>
        </p:nvSpPr>
        <p:spPr>
          <a:xfrm>
            <a:off x="1097280" y="4114800"/>
            <a:ext cx="2559960" cy="8683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0D1B3E"/>
                </a:solidFill>
                <a:effectLst/>
                <a:uFillTx/>
                <a:latin typeface="Calibri"/>
              </a:rPr>
              <a:t>CRM / ITSM hooks</a:t>
            </a:r>
            <a:endParaRPr lang="en-IN" sz="1100" b="0" u="none" strike="noStrike">
              <a:solidFill>
                <a:srgbClr val="000000"/>
              </a:solidFill>
              <a:effectLst/>
              <a:uFillTx/>
              <a:latin typeface="Arial"/>
            </a:endParaRPr>
          </a:p>
        </p:txBody>
      </p:sp>
      <p:sp>
        <p:nvSpPr>
          <p:cNvPr id="314" name="Rectangle 25"/>
          <p:cNvSpPr/>
          <p:nvPr/>
        </p:nvSpPr>
        <p:spPr>
          <a:xfrm>
            <a:off x="3657600" y="4114800"/>
            <a:ext cx="3840120" cy="8683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Native Salesforce / Zendesk / ServiceNow / Zoho / Finvi / Freshworks</a:t>
            </a:r>
            <a:endParaRPr lang="en-IN" sz="1050" b="0" u="none" strike="noStrike">
              <a:solidFill>
                <a:srgbClr val="000000"/>
              </a:solidFill>
              <a:effectLst/>
              <a:uFillTx/>
              <a:latin typeface="Arial"/>
            </a:endParaRPr>
          </a:p>
        </p:txBody>
      </p:sp>
      <p:sp>
        <p:nvSpPr>
          <p:cNvPr id="315" name="Rectangle 26"/>
          <p:cNvSpPr/>
          <p:nvPr/>
        </p:nvSpPr>
        <p:spPr>
          <a:xfrm>
            <a:off x="7498080" y="4114800"/>
            <a:ext cx="4160160" cy="8683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Field-level PII/PHI/PAN masking at API boundary; DLP correlation</a:t>
            </a:r>
            <a:endParaRPr lang="en-IN" sz="1050" b="0" u="none" strike="noStrike">
              <a:solidFill>
                <a:srgbClr val="000000"/>
              </a:solidFill>
              <a:effectLst/>
              <a:uFillTx/>
              <a:latin typeface="Arial"/>
            </a:endParaRPr>
          </a:p>
        </p:txBody>
      </p:sp>
      <p:sp>
        <p:nvSpPr>
          <p:cNvPr id="316" name="Rectangle 27"/>
          <p:cNvSpPr/>
          <p:nvPr/>
        </p:nvSpPr>
        <p:spPr>
          <a:xfrm>
            <a:off x="548640" y="4983480"/>
            <a:ext cx="54828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2000" b="1" u="none" strike="noStrike">
                <a:solidFill>
                  <a:srgbClr val="F0A500"/>
                </a:solidFill>
                <a:effectLst/>
                <a:uFillTx/>
                <a:latin typeface="Calibri"/>
              </a:rPr>
              <a:t>5</a:t>
            </a:r>
            <a:endParaRPr lang="en-IN" sz="2000" b="0" u="none" strike="noStrike">
              <a:solidFill>
                <a:srgbClr val="000000"/>
              </a:solidFill>
              <a:effectLst/>
              <a:uFillTx/>
              <a:latin typeface="Arial"/>
            </a:endParaRPr>
          </a:p>
        </p:txBody>
      </p:sp>
      <p:sp>
        <p:nvSpPr>
          <p:cNvPr id="317" name="Rectangle 28"/>
          <p:cNvSpPr/>
          <p:nvPr/>
        </p:nvSpPr>
        <p:spPr>
          <a:xfrm>
            <a:off x="1097280" y="4983480"/>
            <a:ext cx="255996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100" b="1" u="none" strike="noStrike">
                <a:solidFill>
                  <a:srgbClr val="0D1B3E"/>
                </a:solidFill>
                <a:effectLst/>
                <a:uFillTx/>
                <a:latin typeface="Calibri"/>
              </a:rPr>
              <a:t>Admin console + SSO</a:t>
            </a:r>
            <a:endParaRPr lang="en-IN" sz="1100" b="0" u="none" strike="noStrike">
              <a:solidFill>
                <a:srgbClr val="000000"/>
              </a:solidFill>
              <a:effectLst/>
              <a:uFillTx/>
              <a:latin typeface="Arial"/>
            </a:endParaRPr>
          </a:p>
        </p:txBody>
      </p:sp>
      <p:sp>
        <p:nvSpPr>
          <p:cNvPr id="318" name="Rectangle 29"/>
          <p:cNvSpPr/>
          <p:nvPr/>
        </p:nvSpPr>
        <p:spPr>
          <a:xfrm>
            <a:off x="3657600" y="4983480"/>
            <a:ext cx="384012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TCN admin UI surface</a:t>
            </a:r>
            <a:endParaRPr lang="en-IN" sz="1050" b="0" u="none" strike="noStrike">
              <a:solidFill>
                <a:srgbClr val="000000"/>
              </a:solidFill>
              <a:effectLst/>
              <a:uFillTx/>
              <a:latin typeface="Arial"/>
            </a:endParaRPr>
          </a:p>
        </p:txBody>
      </p:sp>
      <p:sp>
        <p:nvSpPr>
          <p:cNvPr id="319" name="Rectangle 30"/>
          <p:cNvSpPr/>
          <p:nvPr/>
        </p:nvSpPr>
        <p:spPr>
          <a:xfrm>
            <a:off x="7498080" y="4983480"/>
            <a:ext cx="4160160" cy="86832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050" b="0" u="none" strike="noStrike">
                <a:solidFill>
                  <a:srgbClr val="1A1A2E"/>
                </a:solidFill>
                <a:effectLst/>
                <a:uFillTx/>
                <a:latin typeface="Calibri"/>
              </a:rPr>
              <a:t>Embedded "Security &amp; Compliance" tab via iframe + SAML/OIDC SSO</a:t>
            </a:r>
            <a:endParaRPr lang="en-IN" sz="1050" b="0" u="none" strike="noStrike">
              <a:solidFill>
                <a:srgbClr val="000000"/>
              </a:solidFill>
              <a:effectLst/>
              <a:uFillTx/>
              <a:latin typeface="Arial"/>
            </a:endParaRPr>
          </a:p>
        </p:txBody>
      </p:sp>
      <p:sp>
        <p:nvSpPr>
          <p:cNvPr id="320" name="TextBox 31"/>
          <p:cNvSpPr/>
          <p:nvPr/>
        </p:nvSpPr>
        <p:spPr>
          <a:xfrm>
            <a:off x="548640" y="6035040"/>
            <a:ext cx="11155320" cy="36540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000" b="0" i="1" u="none" strike="noStrike">
                <a:solidFill>
                  <a:srgbClr val="006B7A"/>
                </a:solidFill>
                <a:effectLst/>
                <a:uFillTx/>
                <a:latin typeface="Calibri"/>
              </a:rPr>
              <a:t>Seam #1 is passive by default. Seams #2–#5 are read-only from TCN's perspective until the customer explicitly opts into write-back actions (e.g., campaign pause on fraud).</a:t>
            </a:r>
            <a:endParaRPr lang="en-IN" sz="1000" b="0" u="none" strike="noStrike">
              <a:solidFill>
                <a:srgbClr val="000000"/>
              </a:solidFill>
              <a:effectLst/>
              <a:uFillTx/>
              <a:latin typeface="Arial"/>
            </a:endParaRPr>
          </a:p>
        </p:txBody>
      </p:sp>
      <p:sp>
        <p:nvSpPr>
          <p:cNvPr id="321" name="Rectangle 32"/>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2" name="Rectangle 33"/>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323" name="TextBox 34"/>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324" name="TextBox 35"/>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6"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7"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8"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FLOW 1 — INBOUND CALL WITH PQC OVERLAY &amp; PER-TENANT POLICY</a:t>
            </a:r>
            <a:endParaRPr lang="en-IN" sz="1800" b="0" u="none" strike="noStrike">
              <a:solidFill>
                <a:srgbClr val="000000"/>
              </a:solidFill>
              <a:effectLst/>
              <a:uFillTx/>
              <a:latin typeface="Arial"/>
            </a:endParaRPr>
          </a:p>
        </p:txBody>
      </p:sp>
      <p:sp>
        <p:nvSpPr>
          <p:cNvPr id="329"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Passive in default mode. PQC inline is opt-in per trunk.</a:t>
            </a:r>
            <a:endParaRPr lang="en-IN" sz="1050" b="0" u="none" strike="noStrike">
              <a:solidFill>
                <a:srgbClr val="000000"/>
              </a:solidFill>
              <a:effectLst/>
              <a:uFillTx/>
              <a:latin typeface="Arial"/>
            </a:endParaRPr>
          </a:p>
        </p:txBody>
      </p:sp>
      <p:sp>
        <p:nvSpPr>
          <p:cNvPr id="330"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331" name="Rounded Rectangle 7"/>
          <p:cNvSpPr/>
          <p:nvPr/>
        </p:nvSpPr>
        <p:spPr>
          <a:xfrm>
            <a:off x="457200" y="1280160"/>
            <a:ext cx="1828440" cy="1005480"/>
          </a:xfrm>
          <a:prstGeom prst="roundRect">
            <a:avLst>
              <a:gd name="adj" fmla="val 12000"/>
            </a:avLst>
          </a:prstGeom>
          <a:solidFill>
            <a:srgbClr val="1A2D5A"/>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PSTN /</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Carrier</a:t>
            </a:r>
            <a:endParaRPr lang="en-IN" sz="1200" b="0" u="none" strike="noStrike">
              <a:solidFill>
                <a:srgbClr val="FFFFFF"/>
              </a:solidFill>
              <a:effectLst/>
              <a:uFillTx/>
              <a:latin typeface="Arial"/>
            </a:endParaRPr>
          </a:p>
        </p:txBody>
      </p:sp>
      <p:sp>
        <p:nvSpPr>
          <p:cNvPr id="332" name="Rounded Rectangle 8"/>
          <p:cNvSpPr/>
          <p:nvPr/>
        </p:nvSpPr>
        <p:spPr>
          <a:xfrm>
            <a:off x="2606040" y="1280160"/>
            <a:ext cx="1828440" cy="1005480"/>
          </a:xfrm>
          <a:prstGeom prst="roundRect">
            <a:avLst>
              <a:gd name="adj" fmla="val 12000"/>
            </a:avLst>
          </a:prstGeom>
          <a:solidFill>
            <a:srgbClr val="0D1B3E"/>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TCN</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SBC</a:t>
            </a:r>
            <a:endParaRPr lang="en-IN" sz="1200" b="0" u="none" strike="noStrike">
              <a:solidFill>
                <a:srgbClr val="FFFFFF"/>
              </a:solidFill>
              <a:effectLst/>
              <a:uFillTx/>
              <a:latin typeface="Arial"/>
            </a:endParaRPr>
          </a:p>
        </p:txBody>
      </p:sp>
      <p:sp>
        <p:nvSpPr>
          <p:cNvPr id="333" name="Rounded Rectangle 9"/>
          <p:cNvSpPr/>
          <p:nvPr/>
        </p:nvSpPr>
        <p:spPr>
          <a:xfrm>
            <a:off x="4754880" y="1280160"/>
            <a:ext cx="1828440" cy="1005480"/>
          </a:xfrm>
          <a:prstGeom prst="roundRect">
            <a:avLst>
              <a:gd name="adj" fmla="val 12000"/>
            </a:avLst>
          </a:prstGeom>
          <a:solidFill>
            <a:srgbClr val="0D1B3E"/>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TCN</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IVR/IVM</a:t>
            </a:r>
            <a:endParaRPr lang="en-IN" sz="1200" b="0" u="none" strike="noStrike">
              <a:solidFill>
                <a:srgbClr val="FFFFFF"/>
              </a:solidFill>
              <a:effectLst/>
              <a:uFillTx/>
              <a:latin typeface="Arial"/>
            </a:endParaRPr>
          </a:p>
        </p:txBody>
      </p:sp>
      <p:sp>
        <p:nvSpPr>
          <p:cNvPr id="334" name="Rounded Rectangle 10"/>
          <p:cNvSpPr/>
          <p:nvPr/>
        </p:nvSpPr>
        <p:spPr>
          <a:xfrm>
            <a:off x="6903720" y="1280160"/>
            <a:ext cx="1828440" cy="1005480"/>
          </a:xfrm>
          <a:prstGeom prst="roundRect">
            <a:avLst>
              <a:gd name="adj" fmla="val 12000"/>
            </a:avLst>
          </a:prstGeom>
          <a:solidFill>
            <a:srgbClr val="0D1B3E"/>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TCN</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Agent Workspace</a:t>
            </a:r>
            <a:endParaRPr lang="en-IN" sz="1200" b="0" u="none" strike="noStrike">
              <a:solidFill>
                <a:srgbClr val="FFFFFF"/>
              </a:solidFill>
              <a:effectLst/>
              <a:uFillTx/>
              <a:latin typeface="Arial"/>
            </a:endParaRPr>
          </a:p>
        </p:txBody>
      </p:sp>
      <p:sp>
        <p:nvSpPr>
          <p:cNvPr id="335" name="Rounded Rectangle 11"/>
          <p:cNvSpPr/>
          <p:nvPr/>
        </p:nvSpPr>
        <p:spPr>
          <a:xfrm>
            <a:off x="9052560" y="1280160"/>
            <a:ext cx="1828440" cy="1005480"/>
          </a:xfrm>
          <a:prstGeom prst="roundRect">
            <a:avLst>
              <a:gd name="adj" fmla="val 12000"/>
            </a:avLst>
          </a:prstGeom>
          <a:solidFill>
            <a:srgbClr val="1A2D5A"/>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Customer</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CRM</a:t>
            </a:r>
            <a:endParaRPr lang="en-IN" sz="1200" b="0" u="none" strike="noStrike">
              <a:solidFill>
                <a:srgbClr val="FFFFFF"/>
              </a:solidFill>
              <a:effectLst/>
              <a:uFillTx/>
              <a:latin typeface="Arial"/>
            </a:endParaRPr>
          </a:p>
        </p:txBody>
      </p:sp>
      <p:sp>
        <p:nvSpPr>
          <p:cNvPr id="336" name="Right Arrow 12"/>
          <p:cNvSpPr/>
          <p:nvPr/>
        </p:nvSpPr>
        <p:spPr>
          <a:xfrm>
            <a:off x="2313360" y="1673280"/>
            <a:ext cx="264960" cy="219240"/>
          </a:xfrm>
          <a:prstGeom prst="rightArrow">
            <a:avLst>
              <a:gd name="adj1" fmla="val 50000"/>
              <a:gd name="adj2"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800" b="1" u="none" strike="noStrike">
                <a:solidFill>
                  <a:srgbClr val="FFFFFF"/>
                </a:solidFill>
                <a:effectLst/>
                <a:uFillTx/>
                <a:latin typeface="Calibri"/>
              </a:rPr>
              <a:t>SIP/RTP</a:t>
            </a:r>
            <a:endParaRPr lang="en-IN" sz="800" b="0" u="none" strike="noStrike">
              <a:solidFill>
                <a:srgbClr val="FFFFFF"/>
              </a:solidFill>
              <a:effectLst/>
              <a:uFillTx/>
              <a:latin typeface="Arial"/>
            </a:endParaRPr>
          </a:p>
        </p:txBody>
      </p:sp>
      <p:sp>
        <p:nvSpPr>
          <p:cNvPr id="337" name="Right Arrow 13"/>
          <p:cNvSpPr/>
          <p:nvPr/>
        </p:nvSpPr>
        <p:spPr>
          <a:xfrm>
            <a:off x="4462200" y="1673280"/>
            <a:ext cx="264960" cy="219240"/>
          </a:xfrm>
          <a:prstGeom prst="rightArrow">
            <a:avLst>
              <a:gd name="adj1" fmla="val 50000"/>
              <a:gd name="adj2"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800" b="1" u="none" strike="noStrike">
                <a:solidFill>
                  <a:srgbClr val="FFFFFF"/>
                </a:solidFill>
                <a:effectLst/>
                <a:uFillTx/>
                <a:latin typeface="Calibri"/>
              </a:rPr>
              <a:t>SIP/RTP</a:t>
            </a:r>
            <a:endParaRPr lang="en-IN" sz="800" b="0" u="none" strike="noStrike">
              <a:solidFill>
                <a:srgbClr val="FFFFFF"/>
              </a:solidFill>
              <a:effectLst/>
              <a:uFillTx/>
              <a:latin typeface="Arial"/>
            </a:endParaRPr>
          </a:p>
        </p:txBody>
      </p:sp>
      <p:sp>
        <p:nvSpPr>
          <p:cNvPr id="338" name="Right Arrow 14"/>
          <p:cNvSpPr/>
          <p:nvPr/>
        </p:nvSpPr>
        <p:spPr>
          <a:xfrm>
            <a:off x="6611040" y="1673280"/>
            <a:ext cx="264960" cy="219240"/>
          </a:xfrm>
          <a:prstGeom prst="rightArrow">
            <a:avLst>
              <a:gd name="adj1" fmla="val 50000"/>
              <a:gd name="adj2"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800" b="1" u="none" strike="noStrike">
                <a:solidFill>
                  <a:srgbClr val="FFFFFF"/>
                </a:solidFill>
                <a:effectLst/>
                <a:uFillTx/>
                <a:latin typeface="Calibri"/>
              </a:rPr>
              <a:t>SIP/RTP</a:t>
            </a:r>
            <a:endParaRPr lang="en-IN" sz="800" b="0" u="none" strike="noStrike">
              <a:solidFill>
                <a:srgbClr val="FFFFFF"/>
              </a:solidFill>
              <a:effectLst/>
              <a:uFillTx/>
              <a:latin typeface="Arial"/>
            </a:endParaRPr>
          </a:p>
        </p:txBody>
      </p:sp>
      <p:sp>
        <p:nvSpPr>
          <p:cNvPr id="339" name="Right Arrow 15"/>
          <p:cNvSpPr/>
          <p:nvPr/>
        </p:nvSpPr>
        <p:spPr>
          <a:xfrm>
            <a:off x="8759880" y="1673280"/>
            <a:ext cx="264960" cy="219240"/>
          </a:xfrm>
          <a:prstGeom prst="rightArrow">
            <a:avLst>
              <a:gd name="adj1" fmla="val 50000"/>
              <a:gd name="adj2"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800" b="1" u="none" strike="noStrike">
                <a:solidFill>
                  <a:srgbClr val="FFFFFF"/>
                </a:solidFill>
                <a:effectLst/>
                <a:uFillTx/>
                <a:latin typeface="Calibri"/>
              </a:rPr>
              <a:t>CRM API</a:t>
            </a:r>
            <a:endParaRPr lang="en-IN" sz="800" b="0" u="none" strike="noStrike">
              <a:solidFill>
                <a:srgbClr val="FFFFFF"/>
              </a:solidFill>
              <a:effectLst/>
              <a:uFillTx/>
              <a:latin typeface="Arial"/>
            </a:endParaRPr>
          </a:p>
        </p:txBody>
      </p:sp>
      <p:sp>
        <p:nvSpPr>
          <p:cNvPr id="340" name="Rounded Rectangle 16"/>
          <p:cNvSpPr/>
          <p:nvPr/>
        </p:nvSpPr>
        <p:spPr>
          <a:xfrm>
            <a:off x="457200" y="3291840"/>
            <a:ext cx="11274120" cy="1828440"/>
          </a:xfrm>
          <a:prstGeom prst="roundRect">
            <a:avLst>
              <a:gd name="adj" fmla="val 12000"/>
            </a:avLst>
          </a:prstGeom>
          <a:solidFill>
            <a:srgbClr val="0D1B3E"/>
          </a:solidFill>
          <a:ln w="1905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1" name="Rounded Rectangle 17"/>
          <p:cNvSpPr/>
          <p:nvPr/>
        </p:nvSpPr>
        <p:spPr>
          <a:xfrm>
            <a:off x="640080" y="3383280"/>
            <a:ext cx="2559960" cy="27396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QBITEL BRIDGE  (tenantA scope)</a:t>
            </a:r>
            <a:endParaRPr lang="en-IN" sz="1000" b="0" u="none" strike="noStrike">
              <a:solidFill>
                <a:srgbClr val="000000"/>
              </a:solidFill>
              <a:effectLst/>
              <a:uFillTx/>
              <a:latin typeface="Arial"/>
            </a:endParaRPr>
          </a:p>
        </p:txBody>
      </p:sp>
      <p:sp>
        <p:nvSpPr>
          <p:cNvPr id="342" name="Rounded Rectangle 18"/>
          <p:cNvSpPr/>
          <p:nvPr/>
        </p:nvSpPr>
        <p:spPr>
          <a:xfrm>
            <a:off x="790920" y="3794760"/>
            <a:ext cx="2377080" cy="914040"/>
          </a:xfrm>
          <a:prstGeom prst="roundRect">
            <a:avLst>
              <a:gd name="adj" fmla="val 12000"/>
            </a:avLst>
          </a:prstGeom>
          <a:solidFill>
            <a:srgbClr val="1A2D5A"/>
          </a:solidFill>
          <a:ln w="1905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100" b="1" u="none" strike="noStrike">
                <a:solidFill>
                  <a:srgbClr val="FFFFFF"/>
                </a:solidFill>
                <a:effectLst/>
                <a:uFillTx/>
                <a:latin typeface="Calibri"/>
              </a:rPr>
              <a:t>Discover</a:t>
            </a:r>
            <a:endParaRPr lang="en-IN" sz="1100" b="0" u="none" strike="noStrike">
              <a:solidFill>
                <a:srgbClr val="FFFFFF"/>
              </a:solidFill>
              <a:effectLst/>
              <a:uFillTx/>
              <a:latin typeface="Arial"/>
            </a:endParaRPr>
          </a:p>
          <a:p>
            <a:pPr algn="ctr" defTabSz="457200">
              <a:lnSpc>
                <a:spcPct val="115000"/>
              </a:lnSpc>
            </a:pPr>
            <a:r>
              <a:rPr lang="en-US" sz="1100" b="1" u="none" strike="noStrike">
                <a:solidFill>
                  <a:srgbClr val="FFFFFF"/>
                </a:solidFill>
                <a:effectLst/>
                <a:uFillTx/>
                <a:latin typeface="Calibri"/>
              </a:rPr>
              <a:t>protocol</a:t>
            </a:r>
            <a:endParaRPr lang="en-IN" sz="1100" b="0" u="none" strike="noStrike">
              <a:solidFill>
                <a:srgbClr val="FFFFFF"/>
              </a:solidFill>
              <a:effectLst/>
              <a:uFillTx/>
              <a:latin typeface="Arial"/>
            </a:endParaRPr>
          </a:p>
        </p:txBody>
      </p:sp>
      <p:sp>
        <p:nvSpPr>
          <p:cNvPr id="343" name="Rounded Rectangle 19"/>
          <p:cNvSpPr/>
          <p:nvPr/>
        </p:nvSpPr>
        <p:spPr>
          <a:xfrm>
            <a:off x="3534120" y="3794760"/>
            <a:ext cx="2377080" cy="914040"/>
          </a:xfrm>
          <a:prstGeom prst="roundRect">
            <a:avLst>
              <a:gd name="adj" fmla="val 12000"/>
            </a:avLst>
          </a:prstGeom>
          <a:solidFill>
            <a:srgbClr val="1A2D5A"/>
          </a:solidFill>
          <a:ln w="1905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100" b="1" u="none" strike="noStrike">
                <a:solidFill>
                  <a:srgbClr val="FFFFFF"/>
                </a:solidFill>
                <a:effectLst/>
                <a:uFillTx/>
                <a:latin typeface="Calibri"/>
              </a:rPr>
              <a:t>Apply per-tenant</a:t>
            </a:r>
            <a:endParaRPr lang="en-IN" sz="1100" b="0" u="none" strike="noStrike">
              <a:solidFill>
                <a:srgbClr val="FFFFFF"/>
              </a:solidFill>
              <a:effectLst/>
              <a:uFillTx/>
              <a:latin typeface="Arial"/>
            </a:endParaRPr>
          </a:p>
          <a:p>
            <a:pPr algn="ctr" defTabSz="457200">
              <a:lnSpc>
                <a:spcPct val="115000"/>
              </a:lnSpc>
            </a:pPr>
            <a:r>
              <a:rPr lang="en-US" sz="1100" b="1" u="none" strike="noStrike">
                <a:solidFill>
                  <a:srgbClr val="FFFFFF"/>
                </a:solidFill>
                <a:effectLst/>
                <a:uFillTx/>
                <a:latin typeface="Calibri"/>
              </a:rPr>
              <a:t>policy</a:t>
            </a:r>
            <a:endParaRPr lang="en-IN" sz="1100" b="0" u="none" strike="noStrike">
              <a:solidFill>
                <a:srgbClr val="FFFFFF"/>
              </a:solidFill>
              <a:effectLst/>
              <a:uFillTx/>
              <a:latin typeface="Arial"/>
            </a:endParaRPr>
          </a:p>
        </p:txBody>
      </p:sp>
      <p:sp>
        <p:nvSpPr>
          <p:cNvPr id="344" name="Rounded Rectangle 20"/>
          <p:cNvSpPr/>
          <p:nvPr/>
        </p:nvSpPr>
        <p:spPr>
          <a:xfrm>
            <a:off x="6277320" y="3794760"/>
            <a:ext cx="2377080" cy="914040"/>
          </a:xfrm>
          <a:prstGeom prst="roundRect">
            <a:avLst>
              <a:gd name="adj" fmla="val 12000"/>
            </a:avLst>
          </a:prstGeom>
          <a:solidFill>
            <a:srgbClr val="1A2D5A"/>
          </a:solidFill>
          <a:ln w="1905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100" b="1" u="none" strike="noStrike">
                <a:solidFill>
                  <a:srgbClr val="FFFFFF"/>
                </a:solidFill>
                <a:effectLst/>
                <a:uFillTx/>
                <a:latin typeface="Calibri"/>
              </a:rPr>
              <a:t>PQC overlay</a:t>
            </a:r>
            <a:endParaRPr lang="en-IN" sz="1100" b="0" u="none" strike="noStrike">
              <a:solidFill>
                <a:srgbClr val="FFFFFF"/>
              </a:solidFill>
              <a:effectLst/>
              <a:uFillTx/>
              <a:latin typeface="Arial"/>
            </a:endParaRPr>
          </a:p>
          <a:p>
            <a:pPr algn="ctr" defTabSz="457200">
              <a:lnSpc>
                <a:spcPct val="115000"/>
              </a:lnSpc>
            </a:pPr>
            <a:r>
              <a:rPr lang="en-US" sz="1100" b="1" u="none" strike="noStrike">
                <a:solidFill>
                  <a:srgbClr val="FFFFFF"/>
                </a:solidFill>
                <a:effectLst/>
                <a:uFillTx/>
                <a:latin typeface="Calibri"/>
              </a:rPr>
              <a:t>+ DTMF mask</a:t>
            </a:r>
            <a:endParaRPr lang="en-IN" sz="1100" b="0" u="none" strike="noStrike">
              <a:solidFill>
                <a:srgbClr val="FFFFFF"/>
              </a:solidFill>
              <a:effectLst/>
              <a:uFillTx/>
              <a:latin typeface="Arial"/>
            </a:endParaRPr>
          </a:p>
        </p:txBody>
      </p:sp>
      <p:sp>
        <p:nvSpPr>
          <p:cNvPr id="345" name="Rounded Rectangle 21"/>
          <p:cNvSpPr/>
          <p:nvPr/>
        </p:nvSpPr>
        <p:spPr>
          <a:xfrm>
            <a:off x="9020520" y="3794760"/>
            <a:ext cx="2377080" cy="914040"/>
          </a:xfrm>
          <a:prstGeom prst="roundRect">
            <a:avLst>
              <a:gd name="adj" fmla="val 12000"/>
            </a:avLst>
          </a:prstGeom>
          <a:solidFill>
            <a:srgbClr val="1A2D5A"/>
          </a:solidFill>
          <a:ln w="1905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100" b="1" u="none" strike="noStrike">
                <a:solidFill>
                  <a:srgbClr val="FFFFFF"/>
                </a:solidFill>
                <a:effectLst/>
                <a:uFillTx/>
                <a:latin typeface="Calibri"/>
              </a:rPr>
              <a:t>Sign + log</a:t>
            </a:r>
            <a:endParaRPr lang="en-IN" sz="1100" b="0" u="none" strike="noStrike">
              <a:solidFill>
                <a:srgbClr val="FFFFFF"/>
              </a:solidFill>
              <a:effectLst/>
              <a:uFillTx/>
              <a:latin typeface="Arial"/>
            </a:endParaRPr>
          </a:p>
          <a:p>
            <a:pPr algn="ctr" defTabSz="457200">
              <a:lnSpc>
                <a:spcPct val="115000"/>
              </a:lnSpc>
            </a:pPr>
            <a:r>
              <a:rPr lang="en-US" sz="1100" b="1" u="none" strike="noStrike">
                <a:solidFill>
                  <a:srgbClr val="FFFFFF"/>
                </a:solidFill>
                <a:effectLst/>
                <a:uFillTx/>
                <a:latin typeface="Calibri"/>
              </a:rPr>
              <a:t>evidence</a:t>
            </a:r>
            <a:endParaRPr lang="en-IN" sz="1100" b="0" u="none" strike="noStrike">
              <a:solidFill>
                <a:srgbClr val="FFFFFF"/>
              </a:solidFill>
              <a:effectLst/>
              <a:uFillTx/>
              <a:latin typeface="Arial"/>
            </a:endParaRPr>
          </a:p>
        </p:txBody>
      </p:sp>
      <p:cxnSp>
        <p:nvCxnSpPr>
          <p:cNvPr id="346" name="Connector 22"/>
          <p:cNvCxnSpPr/>
          <p:nvPr/>
        </p:nvCxnSpPr>
        <p:spPr>
          <a:xfrm>
            <a:off x="3520440" y="2286000"/>
            <a:ext cx="360" cy="1006200"/>
          </a:xfrm>
          <a:prstGeom prst="straightConnector1">
            <a:avLst/>
          </a:prstGeom>
          <a:ln w="22225">
            <a:solidFill>
              <a:srgbClr val="1A2D5A"/>
            </a:solidFill>
            <a:round/>
            <a:tailEnd len="med" type="triangle" w="med"/>
          </a:ln>
        </p:spPr>
      </p:cxnSp>
      <p:sp>
        <p:nvSpPr>
          <p:cNvPr id="347" name="TextBox 23"/>
          <p:cNvSpPr/>
          <p:nvPr/>
        </p:nvSpPr>
        <p:spPr>
          <a:xfrm>
            <a:off x="3566160" y="2331720"/>
            <a:ext cx="1462680" cy="27396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900" b="1" i="1" u="none" strike="noStrike">
                <a:solidFill>
                  <a:srgbClr val="1A2D5A"/>
                </a:solidFill>
                <a:effectLst/>
                <a:uFillTx/>
                <a:latin typeface="Calibri"/>
              </a:rPr>
              <a:t>(1) SPAN mirror</a:t>
            </a:r>
            <a:endParaRPr lang="en-IN" sz="900" b="0" u="none" strike="noStrike">
              <a:solidFill>
                <a:srgbClr val="000000"/>
              </a:solidFill>
              <a:effectLst/>
              <a:uFillTx/>
              <a:latin typeface="Arial"/>
            </a:endParaRPr>
          </a:p>
        </p:txBody>
      </p:sp>
      <p:cxnSp>
        <p:nvCxnSpPr>
          <p:cNvPr id="348" name="Connector 24"/>
          <p:cNvCxnSpPr/>
          <p:nvPr/>
        </p:nvCxnSpPr>
        <p:spPr>
          <a:xfrm>
            <a:off x="5669280" y="2286000"/>
            <a:ext cx="360" cy="1006200"/>
          </a:xfrm>
          <a:prstGeom prst="straightConnector1">
            <a:avLst/>
          </a:prstGeom>
          <a:ln w="22225">
            <a:solidFill>
              <a:srgbClr val="F0A500"/>
            </a:solidFill>
            <a:round/>
            <a:tailEnd len="med" type="triangle" w="med"/>
          </a:ln>
        </p:spPr>
      </p:cxnSp>
      <p:sp>
        <p:nvSpPr>
          <p:cNvPr id="349" name="TextBox 25"/>
          <p:cNvSpPr/>
          <p:nvPr/>
        </p:nvSpPr>
        <p:spPr>
          <a:xfrm>
            <a:off x="5715000" y="2331720"/>
            <a:ext cx="1645560" cy="27396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900" b="1" i="1" u="none" strike="noStrike">
                <a:solidFill>
                  <a:srgbClr val="F0A500"/>
                </a:solidFill>
                <a:effectLst/>
                <a:uFillTx/>
                <a:latin typeface="Calibri"/>
              </a:rPr>
              <a:t>(2) Synapse webhook</a:t>
            </a:r>
            <a:endParaRPr lang="en-IN" sz="900" b="0" u="none" strike="noStrike">
              <a:solidFill>
                <a:srgbClr val="000000"/>
              </a:solidFill>
              <a:effectLst/>
              <a:uFillTx/>
              <a:latin typeface="Arial"/>
            </a:endParaRPr>
          </a:p>
        </p:txBody>
      </p:sp>
      <p:cxnSp>
        <p:nvCxnSpPr>
          <p:cNvPr id="350" name="Connector 26"/>
          <p:cNvCxnSpPr/>
          <p:nvPr/>
        </p:nvCxnSpPr>
        <p:spPr>
          <a:xfrm>
            <a:off x="7818120" y="2286000"/>
            <a:ext cx="360" cy="1006200"/>
          </a:xfrm>
          <a:prstGeom prst="straightConnector1">
            <a:avLst/>
          </a:prstGeom>
          <a:ln w="22225">
            <a:solidFill>
              <a:srgbClr val="008B9A"/>
            </a:solidFill>
            <a:round/>
            <a:tailEnd len="med" type="triangle" w="med"/>
          </a:ln>
        </p:spPr>
      </p:cxnSp>
      <p:sp>
        <p:nvSpPr>
          <p:cNvPr id="351" name="TextBox 27"/>
          <p:cNvSpPr/>
          <p:nvPr/>
        </p:nvSpPr>
        <p:spPr>
          <a:xfrm>
            <a:off x="7863840" y="2331720"/>
            <a:ext cx="1462680" cy="27396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900" b="1" i="1" u="none" strike="noStrike">
                <a:solidFill>
                  <a:srgbClr val="008B9A"/>
                </a:solidFill>
                <a:effectLst/>
                <a:uFillTx/>
                <a:latin typeface="Calibri"/>
              </a:rPr>
              <a:t>(3) Agent state</a:t>
            </a:r>
            <a:endParaRPr lang="en-IN" sz="900" b="0" u="none" strike="noStrike">
              <a:solidFill>
                <a:srgbClr val="000000"/>
              </a:solidFill>
              <a:effectLst/>
              <a:uFillTx/>
              <a:latin typeface="Arial"/>
            </a:endParaRPr>
          </a:p>
        </p:txBody>
      </p:sp>
      <p:cxnSp>
        <p:nvCxnSpPr>
          <p:cNvPr id="352" name="Connector 28"/>
          <p:cNvCxnSpPr/>
          <p:nvPr/>
        </p:nvCxnSpPr>
        <p:spPr>
          <a:xfrm>
            <a:off x="9966960" y="2286000"/>
            <a:ext cx="360" cy="1006200"/>
          </a:xfrm>
          <a:prstGeom prst="straightConnector1">
            <a:avLst/>
          </a:prstGeom>
          <a:ln w="22225">
            <a:solidFill>
              <a:srgbClr val="1A2D5A"/>
            </a:solidFill>
            <a:round/>
            <a:tailEnd len="med" type="triangle" w="med"/>
          </a:ln>
        </p:spPr>
      </p:cxnSp>
      <p:sp>
        <p:nvSpPr>
          <p:cNvPr id="353" name="TextBox 29"/>
          <p:cNvSpPr/>
          <p:nvPr/>
        </p:nvSpPr>
        <p:spPr>
          <a:xfrm>
            <a:off x="8595360" y="2331720"/>
            <a:ext cx="1462680" cy="273960"/>
          </a:xfrm>
          <a:prstGeom prst="rect">
            <a:avLst/>
          </a:prstGeom>
          <a:noFill/>
          <a:ln w="0">
            <a:noFill/>
          </a:ln>
        </p:spPr>
        <p:style>
          <a:lnRef idx="0"/>
          <a:fillRef idx="0"/>
          <a:effectRef idx="0"/>
          <a:fontRef idx="minor"/>
        </p:style>
        <p:txBody>
          <a:bodyPr lIns="50760" tIns="25560" rIns="50760" bIns="25560" anchor="t">
            <a:spAutoFit/>
          </a:bodyPr>
          <a:p>
            <a:pPr algn="r" defTabSz="457200">
              <a:lnSpc>
                <a:spcPct val="115000"/>
              </a:lnSpc>
            </a:pPr>
            <a:r>
              <a:rPr lang="en-US" sz="900" b="1" i="1" u="none" strike="noStrike">
                <a:solidFill>
                  <a:srgbClr val="1A2D5A"/>
                </a:solidFill>
                <a:effectLst/>
                <a:uFillTx/>
                <a:latin typeface="Calibri"/>
              </a:rPr>
              <a:t>(4) CRM hook (PII mask)</a:t>
            </a:r>
            <a:endParaRPr lang="en-IN" sz="900" b="0" u="none" strike="noStrike">
              <a:solidFill>
                <a:srgbClr val="000000"/>
              </a:solidFill>
              <a:effectLst/>
              <a:uFillTx/>
              <a:latin typeface="Arial"/>
            </a:endParaRPr>
          </a:p>
        </p:txBody>
      </p:sp>
      <p:sp>
        <p:nvSpPr>
          <p:cNvPr id="354" name="Oval 30"/>
          <p:cNvSpPr/>
          <p:nvPr/>
        </p:nvSpPr>
        <p:spPr>
          <a:xfrm>
            <a:off x="457200" y="5303520"/>
            <a:ext cx="273960" cy="27396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1</a:t>
            </a:r>
            <a:endParaRPr lang="en-IN" sz="1400" b="0" u="none" strike="noStrike">
              <a:solidFill>
                <a:srgbClr val="000000"/>
              </a:solidFill>
              <a:effectLst/>
              <a:uFillTx/>
              <a:latin typeface="Arial"/>
            </a:endParaRPr>
          </a:p>
        </p:txBody>
      </p:sp>
      <p:sp>
        <p:nvSpPr>
          <p:cNvPr id="355" name="TextBox 31"/>
          <p:cNvSpPr/>
          <p:nvPr/>
        </p:nvSpPr>
        <p:spPr>
          <a:xfrm>
            <a:off x="777240" y="5257800"/>
            <a:ext cx="21942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850" b="0" u="none" strike="noStrike">
                <a:solidFill>
                  <a:srgbClr val="1A1A2E"/>
                </a:solidFill>
                <a:effectLst/>
                <a:uFillTx/>
                <a:latin typeface="Calibri"/>
              </a:rPr>
              <a:t>Carrier delivers SIP INVITE to TCN SBC; TCN mirrors the signaling to QBITEL.</a:t>
            </a:r>
            <a:endParaRPr lang="en-IN" sz="850" b="0" u="none" strike="noStrike">
              <a:solidFill>
                <a:srgbClr val="000000"/>
              </a:solidFill>
              <a:effectLst/>
              <a:uFillTx/>
              <a:latin typeface="Arial"/>
            </a:endParaRPr>
          </a:p>
        </p:txBody>
      </p:sp>
      <p:sp>
        <p:nvSpPr>
          <p:cNvPr id="356" name="Oval 32"/>
          <p:cNvSpPr/>
          <p:nvPr/>
        </p:nvSpPr>
        <p:spPr>
          <a:xfrm>
            <a:off x="2788920" y="5303520"/>
            <a:ext cx="273960" cy="27396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2</a:t>
            </a:r>
            <a:endParaRPr lang="en-IN" sz="1400" b="0" u="none" strike="noStrike">
              <a:solidFill>
                <a:srgbClr val="000000"/>
              </a:solidFill>
              <a:effectLst/>
              <a:uFillTx/>
              <a:latin typeface="Arial"/>
            </a:endParaRPr>
          </a:p>
        </p:txBody>
      </p:sp>
      <p:sp>
        <p:nvSpPr>
          <p:cNvPr id="357" name="TextBox 33"/>
          <p:cNvSpPr/>
          <p:nvPr/>
        </p:nvSpPr>
        <p:spPr>
          <a:xfrm>
            <a:off x="3108960" y="5257800"/>
            <a:ext cx="21942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850" b="0" u="none" strike="noStrike">
                <a:solidFill>
                  <a:srgbClr val="1A1A2E"/>
                </a:solidFill>
                <a:effectLst/>
                <a:uFillTx/>
                <a:latin typeface="Calibri"/>
              </a:rPr>
              <a:t>TCN Synapse fires call.started; QBITEL identifies tenant from campaign / DID and loads policy.</a:t>
            </a:r>
            <a:endParaRPr lang="en-IN" sz="850" b="0" u="none" strike="noStrike">
              <a:solidFill>
                <a:srgbClr val="000000"/>
              </a:solidFill>
              <a:effectLst/>
              <a:uFillTx/>
              <a:latin typeface="Arial"/>
            </a:endParaRPr>
          </a:p>
        </p:txBody>
      </p:sp>
      <p:sp>
        <p:nvSpPr>
          <p:cNvPr id="358" name="Oval 34"/>
          <p:cNvSpPr/>
          <p:nvPr/>
        </p:nvSpPr>
        <p:spPr>
          <a:xfrm>
            <a:off x="5120640" y="5303520"/>
            <a:ext cx="273960" cy="27396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3</a:t>
            </a:r>
            <a:endParaRPr lang="en-IN" sz="1400" b="0" u="none" strike="noStrike">
              <a:solidFill>
                <a:srgbClr val="000000"/>
              </a:solidFill>
              <a:effectLst/>
              <a:uFillTx/>
              <a:latin typeface="Arial"/>
            </a:endParaRPr>
          </a:p>
        </p:txBody>
      </p:sp>
      <p:sp>
        <p:nvSpPr>
          <p:cNvPr id="359" name="TextBox 35"/>
          <p:cNvSpPr/>
          <p:nvPr/>
        </p:nvSpPr>
        <p:spPr>
          <a:xfrm>
            <a:off x="5440680" y="5257800"/>
            <a:ext cx="21942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850" b="0" u="none" strike="noStrike">
                <a:solidFill>
                  <a:srgbClr val="1A1A2E"/>
                </a:solidFill>
                <a:effectLst/>
                <a:uFillTx/>
                <a:latin typeface="Calibri"/>
              </a:rPr>
              <a:t>If tenant is opted into PQC trunks, QBITEL wraps the media in PQC-SRTP.</a:t>
            </a:r>
            <a:endParaRPr lang="en-IN" sz="850" b="0" u="none" strike="noStrike">
              <a:solidFill>
                <a:srgbClr val="000000"/>
              </a:solidFill>
              <a:effectLst/>
              <a:uFillTx/>
              <a:latin typeface="Arial"/>
            </a:endParaRPr>
          </a:p>
        </p:txBody>
      </p:sp>
      <p:sp>
        <p:nvSpPr>
          <p:cNvPr id="360" name="Oval 36"/>
          <p:cNvSpPr/>
          <p:nvPr/>
        </p:nvSpPr>
        <p:spPr>
          <a:xfrm>
            <a:off x="7452360" y="5303520"/>
            <a:ext cx="273960" cy="27396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4</a:t>
            </a:r>
            <a:endParaRPr lang="en-IN" sz="1400" b="0" u="none" strike="noStrike">
              <a:solidFill>
                <a:srgbClr val="000000"/>
              </a:solidFill>
              <a:effectLst/>
              <a:uFillTx/>
              <a:latin typeface="Arial"/>
            </a:endParaRPr>
          </a:p>
        </p:txBody>
      </p:sp>
      <p:sp>
        <p:nvSpPr>
          <p:cNvPr id="361" name="TextBox 37"/>
          <p:cNvSpPr/>
          <p:nvPr/>
        </p:nvSpPr>
        <p:spPr>
          <a:xfrm>
            <a:off x="7772400" y="5257800"/>
            <a:ext cx="21942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850" b="0" u="none" strike="noStrike">
                <a:solidFill>
                  <a:srgbClr val="1A1A2E"/>
                </a:solidFill>
                <a:effectLst/>
                <a:uFillTx/>
                <a:latin typeface="Calibri"/>
              </a:rPr>
              <a:t>Agent writes to CRM; QBITEL's mask hook tokenizes PAN / SSN / PHI fields before persistence.</a:t>
            </a:r>
            <a:endParaRPr lang="en-IN" sz="850" b="0" u="none" strike="noStrike">
              <a:solidFill>
                <a:srgbClr val="000000"/>
              </a:solidFill>
              <a:effectLst/>
              <a:uFillTx/>
              <a:latin typeface="Arial"/>
            </a:endParaRPr>
          </a:p>
        </p:txBody>
      </p:sp>
      <p:sp>
        <p:nvSpPr>
          <p:cNvPr id="362" name="Oval 38"/>
          <p:cNvSpPr/>
          <p:nvPr/>
        </p:nvSpPr>
        <p:spPr>
          <a:xfrm>
            <a:off x="9784080" y="5303520"/>
            <a:ext cx="273960" cy="27396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5</a:t>
            </a:r>
            <a:endParaRPr lang="en-IN" sz="1400" b="0" u="none" strike="noStrike">
              <a:solidFill>
                <a:srgbClr val="000000"/>
              </a:solidFill>
              <a:effectLst/>
              <a:uFillTx/>
              <a:latin typeface="Arial"/>
            </a:endParaRPr>
          </a:p>
        </p:txBody>
      </p:sp>
      <p:sp>
        <p:nvSpPr>
          <p:cNvPr id="363" name="TextBox 39"/>
          <p:cNvSpPr/>
          <p:nvPr/>
        </p:nvSpPr>
        <p:spPr>
          <a:xfrm>
            <a:off x="10104120" y="5257800"/>
            <a:ext cx="21942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850" b="0" u="none" strike="noStrike">
                <a:solidFill>
                  <a:srgbClr val="1A1A2E"/>
                </a:solidFill>
                <a:effectLst/>
                <a:uFillTx/>
                <a:latin typeface="Calibri"/>
              </a:rPr>
              <a:t>Every decision is signed and logged into the per-tenant evidence stream.</a:t>
            </a:r>
            <a:endParaRPr lang="en-IN" sz="850" b="0" u="none" strike="noStrike">
              <a:solidFill>
                <a:srgbClr val="000000"/>
              </a:solidFill>
              <a:effectLst/>
              <a:uFillTx/>
              <a:latin typeface="Arial"/>
            </a:endParaRPr>
          </a:p>
        </p:txBody>
      </p:sp>
      <p:sp>
        <p:nvSpPr>
          <p:cNvPr id="364" name="Rectangle 40"/>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5" name="Rectangle 41"/>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366" name="TextBox 42"/>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367" name="TextBox 43"/>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9"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0"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1"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FLOW 2 — OUTBOUND CALL WITH TOLL-FRAUD DETECTION</a:t>
            </a:r>
            <a:endParaRPr lang="en-IN" sz="1800" b="0" u="none" strike="noStrike">
              <a:solidFill>
                <a:srgbClr val="000000"/>
              </a:solidFill>
              <a:effectLst/>
              <a:uFillTx/>
              <a:latin typeface="Arial"/>
            </a:endParaRPr>
          </a:p>
        </p:txBody>
      </p:sp>
      <p:sp>
        <p:nvSpPr>
          <p:cNvPr id="372"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Pattern detection in &lt;1 second • Auto-block via TCN REST API (opt-in)</a:t>
            </a:r>
            <a:endParaRPr lang="en-IN" sz="1050" b="0" u="none" strike="noStrike">
              <a:solidFill>
                <a:srgbClr val="000000"/>
              </a:solidFill>
              <a:effectLst/>
              <a:uFillTx/>
              <a:latin typeface="Arial"/>
            </a:endParaRPr>
          </a:p>
        </p:txBody>
      </p:sp>
      <p:sp>
        <p:nvSpPr>
          <p:cNvPr id="373"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374" name="Rounded Rectangle 7"/>
          <p:cNvSpPr/>
          <p:nvPr/>
        </p:nvSpPr>
        <p:spPr>
          <a:xfrm>
            <a:off x="457200" y="1188720"/>
            <a:ext cx="2194200" cy="914040"/>
          </a:xfrm>
          <a:prstGeom prst="roundRect">
            <a:avLst>
              <a:gd name="adj" fmla="val 12000"/>
            </a:avLst>
          </a:prstGeom>
          <a:solidFill>
            <a:srgbClr val="0D1B3E"/>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TCN</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Autodialer</a:t>
            </a:r>
            <a:endParaRPr lang="en-IN" sz="1200" b="0" u="none" strike="noStrike">
              <a:solidFill>
                <a:srgbClr val="FFFFFF"/>
              </a:solidFill>
              <a:effectLst/>
              <a:uFillTx/>
              <a:latin typeface="Arial"/>
            </a:endParaRPr>
          </a:p>
        </p:txBody>
      </p:sp>
      <p:sp>
        <p:nvSpPr>
          <p:cNvPr id="375" name="Right Arrow 8"/>
          <p:cNvSpPr/>
          <p:nvPr/>
        </p:nvSpPr>
        <p:spPr>
          <a:xfrm>
            <a:off x="2697480" y="1463040"/>
            <a:ext cx="273960" cy="365400"/>
          </a:xfrm>
          <a:prstGeom prst="rightArrow">
            <a:avLst>
              <a:gd name="adj1" fmla="val 50000"/>
              <a:gd name="adj2"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900" b="1" u="none" strike="noStrike">
                <a:solidFill>
                  <a:srgbClr val="FFFFFF"/>
                </a:solidFill>
                <a:effectLst/>
                <a:uFillTx/>
                <a:latin typeface="Calibri"/>
              </a:rPr>
              <a:t>SIP INVITE</a:t>
            </a:r>
            <a:endParaRPr lang="en-IN" sz="900" b="0" u="none" strike="noStrike">
              <a:solidFill>
                <a:srgbClr val="FFFFFF"/>
              </a:solidFill>
              <a:effectLst/>
              <a:uFillTx/>
              <a:latin typeface="Arial"/>
            </a:endParaRPr>
          </a:p>
        </p:txBody>
      </p:sp>
      <p:sp>
        <p:nvSpPr>
          <p:cNvPr id="376" name="Rounded Rectangle 9"/>
          <p:cNvSpPr/>
          <p:nvPr/>
        </p:nvSpPr>
        <p:spPr>
          <a:xfrm>
            <a:off x="3017520" y="1188720"/>
            <a:ext cx="2194200" cy="914040"/>
          </a:xfrm>
          <a:prstGeom prst="roundRect">
            <a:avLst>
              <a:gd name="adj" fmla="val 12000"/>
            </a:avLst>
          </a:prstGeom>
          <a:solidFill>
            <a:srgbClr val="0D1B3E"/>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TCN</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SBC (outbound)</a:t>
            </a:r>
            <a:endParaRPr lang="en-IN" sz="1200" b="0" u="none" strike="noStrike">
              <a:solidFill>
                <a:srgbClr val="FFFFFF"/>
              </a:solidFill>
              <a:effectLst/>
              <a:uFillTx/>
              <a:latin typeface="Arial"/>
            </a:endParaRPr>
          </a:p>
        </p:txBody>
      </p:sp>
      <p:sp>
        <p:nvSpPr>
          <p:cNvPr id="377" name="Right Arrow 10"/>
          <p:cNvSpPr/>
          <p:nvPr/>
        </p:nvSpPr>
        <p:spPr>
          <a:xfrm>
            <a:off x="5257800" y="1463040"/>
            <a:ext cx="273960" cy="365400"/>
          </a:xfrm>
          <a:prstGeom prst="rightArrow">
            <a:avLst>
              <a:gd name="adj1" fmla="val 50000"/>
              <a:gd name="adj2"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900" b="1" u="none" strike="noStrike">
                <a:solidFill>
                  <a:srgbClr val="FFFFFF"/>
                </a:solidFill>
                <a:effectLst/>
                <a:uFillTx/>
                <a:latin typeface="Calibri"/>
              </a:rPr>
              <a:t>SIP INVITE</a:t>
            </a:r>
            <a:endParaRPr lang="en-IN" sz="900" b="0" u="none" strike="noStrike">
              <a:solidFill>
                <a:srgbClr val="FFFFFF"/>
              </a:solidFill>
              <a:effectLst/>
              <a:uFillTx/>
              <a:latin typeface="Arial"/>
            </a:endParaRPr>
          </a:p>
        </p:txBody>
      </p:sp>
      <p:sp>
        <p:nvSpPr>
          <p:cNvPr id="378" name="Rounded Rectangle 11"/>
          <p:cNvSpPr/>
          <p:nvPr/>
        </p:nvSpPr>
        <p:spPr>
          <a:xfrm>
            <a:off x="5577840" y="1188720"/>
            <a:ext cx="2194200" cy="914040"/>
          </a:xfrm>
          <a:prstGeom prst="roundRect">
            <a:avLst>
              <a:gd name="adj" fmla="val 12000"/>
            </a:avLst>
          </a:prstGeom>
          <a:solidFill>
            <a:srgbClr val="1A2D5A"/>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PSTN</a:t>
            </a:r>
            <a:endParaRPr lang="en-IN" sz="1200" b="0" u="none" strike="noStrike">
              <a:solidFill>
                <a:srgbClr val="FFFFFF"/>
              </a:solidFill>
              <a:effectLst/>
              <a:uFillTx/>
              <a:latin typeface="Arial"/>
            </a:endParaRPr>
          </a:p>
          <a:p>
            <a:pPr algn="ctr" defTabSz="457200">
              <a:lnSpc>
                <a:spcPct val="115000"/>
              </a:lnSpc>
            </a:pPr>
            <a:r>
              <a:rPr lang="en-US" sz="1200" b="1" u="none" strike="noStrike">
                <a:solidFill>
                  <a:srgbClr val="FFFFFF"/>
                </a:solidFill>
                <a:effectLst/>
                <a:uFillTx/>
                <a:latin typeface="Calibri"/>
              </a:rPr>
              <a:t>Carrier</a:t>
            </a:r>
            <a:endParaRPr lang="en-IN" sz="1200" b="0" u="none" strike="noStrike">
              <a:solidFill>
                <a:srgbClr val="FFFFFF"/>
              </a:solidFill>
              <a:effectLst/>
              <a:uFillTx/>
              <a:latin typeface="Arial"/>
            </a:endParaRPr>
          </a:p>
        </p:txBody>
      </p:sp>
      <p:sp>
        <p:nvSpPr>
          <p:cNvPr id="379" name="Rounded Rectangle 12"/>
          <p:cNvSpPr/>
          <p:nvPr/>
        </p:nvSpPr>
        <p:spPr>
          <a:xfrm>
            <a:off x="7680960" y="2468880"/>
            <a:ext cx="4114440" cy="2285640"/>
          </a:xfrm>
          <a:prstGeom prst="roundRect">
            <a:avLst>
              <a:gd name="adj" fmla="val 12000"/>
            </a:avLst>
          </a:prstGeom>
          <a:solidFill>
            <a:srgbClr val="0D1B3E"/>
          </a:solidFill>
          <a:ln w="25400">
            <a:solidFill>
              <a:srgbClr val="F0A500"/>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0" name="Rounded Rectangle 13"/>
          <p:cNvSpPr/>
          <p:nvPr/>
        </p:nvSpPr>
        <p:spPr>
          <a:xfrm>
            <a:off x="7818120" y="2560320"/>
            <a:ext cx="2925720" cy="27396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QBITEL TOLL-FRAUD ENGINE</a:t>
            </a:r>
            <a:endParaRPr lang="en-IN" sz="1000" b="0" u="none" strike="noStrike">
              <a:solidFill>
                <a:srgbClr val="000000"/>
              </a:solidFill>
              <a:effectLst/>
              <a:uFillTx/>
              <a:latin typeface="Arial"/>
            </a:endParaRPr>
          </a:p>
        </p:txBody>
      </p:sp>
      <p:sp>
        <p:nvSpPr>
          <p:cNvPr id="381" name="TextBox 14"/>
          <p:cNvSpPr/>
          <p:nvPr/>
        </p:nvSpPr>
        <p:spPr>
          <a:xfrm>
            <a:off x="7863840" y="2971800"/>
            <a:ext cx="3748680" cy="1645560"/>
          </a:xfrm>
          <a:prstGeom prst="rect">
            <a:avLst/>
          </a:prstGeom>
          <a:noFill/>
          <a:ln w="0">
            <a:noFill/>
          </a:ln>
        </p:spPr>
        <p:style>
          <a:lnRef idx="0"/>
          <a:fillRef idx="0"/>
          <a:effectRef idx="0"/>
          <a:fontRef idx="minor"/>
        </p:style>
        <p:txBody>
          <a:bodyPr lIns="90000" tIns="45000" rIns="90000" bIns="45000" anchor="t">
            <a:spAutoFit/>
          </a:bodyPr>
          <a:p>
            <a:pPr defTabSz="457200">
              <a:lnSpc>
                <a:spcPct val="115000"/>
              </a:lnSpc>
            </a:pPr>
            <a:r>
              <a:rPr lang="en-US" sz="1000" b="0" u="none" strike="noStrike">
                <a:solidFill>
                  <a:srgbClr val="FFFFFF"/>
                </a:solidFill>
                <a:effectLst/>
                <a:uFillTx/>
                <a:latin typeface="Calibri"/>
              </a:rPr>
              <a:t>•  IRSF (premium-rate destinations)</a:t>
            </a:r>
            <a:endParaRPr lang="en-IN" sz="1000" b="0" u="none" strike="noStrike">
              <a:solidFill>
                <a:srgbClr val="000000"/>
              </a:solidFill>
              <a:effectLst/>
              <a:uFillTx/>
              <a:latin typeface="Arial"/>
            </a:endParaRPr>
          </a:p>
          <a:p>
            <a:pPr defTabSz="457200">
              <a:lnSpc>
                <a:spcPct val="115000"/>
              </a:lnSpc>
            </a:pPr>
            <a:r>
              <a:rPr lang="en-US" sz="1000" b="0" u="none" strike="noStrike">
                <a:solidFill>
                  <a:srgbClr val="FFFFFF"/>
                </a:solidFill>
                <a:effectLst/>
                <a:uFillTx/>
                <a:latin typeface="Calibri"/>
              </a:rPr>
              <a:t>•  PBX hacking (unauth trunk access)</a:t>
            </a:r>
            <a:endParaRPr lang="en-IN" sz="1000" b="0" u="none" strike="noStrike">
              <a:solidFill>
                <a:srgbClr val="000000"/>
              </a:solidFill>
              <a:effectLst/>
              <a:uFillTx/>
              <a:latin typeface="Arial"/>
            </a:endParaRPr>
          </a:p>
          <a:p>
            <a:pPr defTabSz="457200">
              <a:lnSpc>
                <a:spcPct val="115000"/>
              </a:lnSpc>
            </a:pPr>
            <a:r>
              <a:rPr lang="en-US" sz="1000" b="0" u="none" strike="noStrike">
                <a:solidFill>
                  <a:srgbClr val="FFFFFF"/>
                </a:solidFill>
                <a:effectLst/>
                <a:uFillTx/>
                <a:latin typeface="Calibri"/>
              </a:rPr>
              <a:t>•  Wangiri callback manipulation</a:t>
            </a:r>
            <a:endParaRPr lang="en-IN" sz="1000" b="0" u="none" strike="noStrike">
              <a:solidFill>
                <a:srgbClr val="000000"/>
              </a:solidFill>
              <a:effectLst/>
              <a:uFillTx/>
              <a:latin typeface="Arial"/>
            </a:endParaRPr>
          </a:p>
          <a:p>
            <a:pPr defTabSz="457200">
              <a:lnSpc>
                <a:spcPct val="115000"/>
              </a:lnSpc>
            </a:pPr>
            <a:r>
              <a:rPr lang="en-US" sz="1000" b="0" u="none" strike="noStrike">
                <a:solidFill>
                  <a:srgbClr val="FFFFFF"/>
                </a:solidFill>
                <a:effectLst/>
                <a:uFillTx/>
                <a:latin typeface="Calibri"/>
              </a:rPr>
              <a:t>•  Call transfer fraud</a:t>
            </a:r>
            <a:endParaRPr lang="en-IN" sz="1000" b="0" u="none" strike="noStrike">
              <a:solidFill>
                <a:srgbClr val="000000"/>
              </a:solidFill>
              <a:effectLst/>
              <a:uFillTx/>
              <a:latin typeface="Arial"/>
            </a:endParaRPr>
          </a:p>
          <a:p>
            <a:pPr defTabSz="457200">
              <a:lnSpc>
                <a:spcPct val="115000"/>
              </a:lnSpc>
            </a:pPr>
            <a:r>
              <a:rPr lang="en-US" sz="1000" b="0" u="none" strike="noStrike">
                <a:solidFill>
                  <a:srgbClr val="FFFFFF"/>
                </a:solidFill>
                <a:effectLst/>
                <a:uFillTx/>
                <a:latin typeface="Calibri"/>
              </a:rPr>
              <a:t>•  Call pumping / revenue share abuse</a:t>
            </a:r>
            <a:endParaRPr lang="en-IN" sz="1000" b="0" u="none" strike="noStrike">
              <a:solidFill>
                <a:srgbClr val="000000"/>
              </a:solidFill>
              <a:effectLst/>
              <a:uFillTx/>
              <a:latin typeface="Arial"/>
            </a:endParaRPr>
          </a:p>
          <a:p>
            <a:pPr defTabSz="457200">
              <a:lnSpc>
                <a:spcPct val="115000"/>
              </a:lnSpc>
            </a:pPr>
            <a:r>
              <a:rPr lang="en-US" sz="1000" b="0" u="none" strike="noStrike">
                <a:solidFill>
                  <a:srgbClr val="FFFFFF"/>
                </a:solidFill>
                <a:effectLst/>
                <a:uFillTx/>
                <a:latin typeface="Calibri"/>
              </a:rPr>
              <a:t>•  Bypass fraud (SIM box, CLI manip)</a:t>
            </a:r>
            <a:endParaRPr lang="en-IN" sz="1000" b="0" u="none" strike="noStrike">
              <a:solidFill>
                <a:srgbClr val="000000"/>
              </a:solidFill>
              <a:effectLst/>
              <a:uFillTx/>
              <a:latin typeface="Arial"/>
            </a:endParaRPr>
          </a:p>
          <a:p>
            <a:pPr defTabSz="457200">
              <a:lnSpc>
                <a:spcPct val="115000"/>
              </a:lnSpc>
            </a:pPr>
            <a:r>
              <a:rPr lang="en-US" sz="1000" b="0" u="none" strike="noStrike">
                <a:solidFill>
                  <a:srgbClr val="FFFFFF"/>
                </a:solidFill>
                <a:effectLst/>
                <a:uFillTx/>
                <a:latin typeface="Calibri"/>
              </a:rPr>
              <a:t>•  Off-hours volume anomalies</a:t>
            </a:r>
            <a:endParaRPr lang="en-IN" sz="1000" b="0" u="none" strike="noStrike">
              <a:solidFill>
                <a:srgbClr val="000000"/>
              </a:solidFill>
              <a:effectLst/>
              <a:uFillTx/>
              <a:latin typeface="Arial"/>
            </a:endParaRPr>
          </a:p>
          <a:p>
            <a:pPr defTabSz="457200">
              <a:lnSpc>
                <a:spcPct val="115000"/>
              </a:lnSpc>
            </a:pPr>
            <a:r>
              <a:rPr lang="en-US" sz="1000" b="0" u="none" strike="noStrike">
                <a:solidFill>
                  <a:srgbClr val="FFFFFF"/>
                </a:solidFill>
                <a:effectLst/>
                <a:uFillTx/>
                <a:latin typeface="Calibri"/>
              </a:rPr>
              <a:t>•  Geographic anomaly clusters</a:t>
            </a:r>
            <a:endParaRPr lang="en-IN" sz="1000" b="0" u="none" strike="noStrike">
              <a:solidFill>
                <a:srgbClr val="000000"/>
              </a:solidFill>
              <a:effectLst/>
              <a:uFillTx/>
              <a:latin typeface="Arial"/>
            </a:endParaRPr>
          </a:p>
          <a:p>
            <a:pPr defTabSz="457200">
              <a:lnSpc>
                <a:spcPct val="115000"/>
              </a:lnSpc>
            </a:pPr>
            <a:r>
              <a:rPr lang="en-US" sz="1000" b="0" u="none" strike="noStrike">
                <a:solidFill>
                  <a:srgbClr val="FFFFFF"/>
                </a:solidFill>
                <a:effectLst/>
                <a:uFillTx/>
                <a:latin typeface="Calibri"/>
              </a:rPr>
              <a:t>•  Trunk credential brute force</a:t>
            </a:r>
            <a:endParaRPr lang="en-IN" sz="1000" b="0" u="none" strike="noStrike">
              <a:solidFill>
                <a:srgbClr val="000000"/>
              </a:solidFill>
              <a:effectLst/>
              <a:uFillTx/>
              <a:latin typeface="Arial"/>
            </a:endParaRPr>
          </a:p>
          <a:p>
            <a:pPr defTabSz="457200">
              <a:lnSpc>
                <a:spcPct val="115000"/>
              </a:lnSpc>
            </a:pPr>
            <a:r>
              <a:rPr lang="en-US" sz="1000" b="0" u="none" strike="noStrike">
                <a:solidFill>
                  <a:srgbClr val="FFFFFF"/>
                </a:solidFill>
                <a:effectLst/>
                <a:uFillTx/>
                <a:latin typeface="Calibri"/>
              </a:rPr>
              <a:t>•  Premium-rate cluster bursts</a:t>
            </a:r>
            <a:endParaRPr lang="en-IN" sz="1000" b="0" u="none" strike="noStrike">
              <a:solidFill>
                <a:srgbClr val="000000"/>
              </a:solidFill>
              <a:effectLst/>
              <a:uFillTx/>
              <a:latin typeface="Arial"/>
            </a:endParaRPr>
          </a:p>
        </p:txBody>
      </p:sp>
      <p:cxnSp>
        <p:nvCxnSpPr>
          <p:cNvPr id="382" name="Connector 15"/>
          <p:cNvCxnSpPr/>
          <p:nvPr/>
        </p:nvCxnSpPr>
        <p:spPr>
          <a:xfrm>
            <a:off x="1554480" y="2103120"/>
            <a:ext cx="6584040" cy="366120"/>
          </a:xfrm>
          <a:prstGeom prst="straightConnector1">
            <a:avLst/>
          </a:prstGeom>
          <a:ln>
            <a:solidFill>
              <a:srgbClr val="F0A500"/>
            </a:solidFill>
            <a:round/>
            <a:tailEnd len="med" type="triangle" w="med"/>
          </a:ln>
        </p:spPr>
      </p:cxnSp>
      <p:sp>
        <p:nvSpPr>
          <p:cNvPr id="383" name="TextBox 16"/>
          <p:cNvSpPr/>
          <p:nvPr/>
        </p:nvSpPr>
        <p:spPr>
          <a:xfrm>
            <a:off x="1645920" y="2148840"/>
            <a:ext cx="2377080" cy="27396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00" b="1" i="1" u="none" strike="noStrike">
                <a:solidFill>
                  <a:srgbClr val="F0A500"/>
                </a:solidFill>
                <a:effectLst/>
                <a:uFillTx/>
                <a:latin typeface="Calibri"/>
              </a:rPr>
              <a:t>(1) call.started webhook</a:t>
            </a:r>
            <a:endParaRPr lang="en-IN" sz="1000" b="0" u="none" strike="noStrike">
              <a:solidFill>
                <a:srgbClr val="000000"/>
              </a:solidFill>
              <a:effectLst/>
              <a:uFillTx/>
              <a:latin typeface="Arial"/>
            </a:endParaRPr>
          </a:p>
        </p:txBody>
      </p:sp>
      <p:cxnSp>
        <p:nvCxnSpPr>
          <p:cNvPr id="384" name="Connector 17"/>
          <p:cNvCxnSpPr/>
          <p:nvPr/>
        </p:nvCxnSpPr>
        <p:spPr>
          <a:xfrm>
            <a:off x="4114800" y="2103120"/>
            <a:ext cx="3566520" cy="1463400"/>
          </a:xfrm>
          <a:prstGeom prst="straightConnector1">
            <a:avLst/>
          </a:prstGeom>
          <a:ln w="19050">
            <a:solidFill>
              <a:srgbClr val="1A2D5A"/>
            </a:solidFill>
            <a:round/>
            <a:tailEnd len="med" type="triangle" w="med"/>
          </a:ln>
        </p:spPr>
      </p:cxnSp>
      <p:sp>
        <p:nvSpPr>
          <p:cNvPr id="385" name="Diamond 18"/>
          <p:cNvSpPr/>
          <p:nvPr/>
        </p:nvSpPr>
        <p:spPr>
          <a:xfrm>
            <a:off x="2560320" y="3017520"/>
            <a:ext cx="2011320" cy="1279800"/>
          </a:xfrm>
          <a:prstGeom prst="diamond">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0D1B3E"/>
                </a:solidFill>
                <a:effectLst/>
                <a:uFillTx/>
                <a:latin typeface="Calibri"/>
              </a:rPr>
              <a:t>Pattern</a:t>
            </a:r>
            <a:endParaRPr lang="en-IN" sz="1200" b="0" u="none" strike="noStrike">
              <a:solidFill>
                <a:srgbClr val="000000"/>
              </a:solidFill>
              <a:effectLst/>
              <a:uFillTx/>
              <a:latin typeface="Arial"/>
            </a:endParaRPr>
          </a:p>
          <a:p>
            <a:pPr algn="ctr" defTabSz="457200">
              <a:lnSpc>
                <a:spcPct val="115000"/>
              </a:lnSpc>
            </a:pPr>
            <a:r>
              <a:rPr lang="en-US" sz="1200" b="1" u="none" strike="noStrike">
                <a:solidFill>
                  <a:srgbClr val="0D1B3E"/>
                </a:solidFill>
                <a:effectLst/>
                <a:uFillTx/>
                <a:latin typeface="Calibri"/>
              </a:rPr>
              <a:t>detected</a:t>
            </a:r>
            <a:endParaRPr lang="en-IN" sz="1200" b="0" u="none" strike="noStrike">
              <a:solidFill>
                <a:srgbClr val="000000"/>
              </a:solidFill>
              <a:effectLst/>
              <a:uFillTx/>
              <a:latin typeface="Arial"/>
            </a:endParaRPr>
          </a:p>
          <a:p>
            <a:pPr algn="ctr" defTabSz="457200">
              <a:lnSpc>
                <a:spcPct val="115000"/>
              </a:lnSpc>
            </a:pPr>
            <a:r>
              <a:rPr lang="en-US" sz="1200" b="1" u="none" strike="noStrike">
                <a:solidFill>
                  <a:srgbClr val="0D1B3E"/>
                </a:solidFill>
                <a:effectLst/>
                <a:uFillTx/>
                <a:latin typeface="Calibri"/>
              </a:rPr>
              <a:t>in &lt;1 sec?</a:t>
            </a:r>
            <a:endParaRPr lang="en-IN" sz="1200" b="0" u="none" strike="noStrike">
              <a:solidFill>
                <a:srgbClr val="000000"/>
              </a:solidFill>
              <a:effectLst/>
              <a:uFillTx/>
              <a:latin typeface="Arial"/>
            </a:endParaRPr>
          </a:p>
        </p:txBody>
      </p:sp>
      <p:cxnSp>
        <p:nvCxnSpPr>
          <p:cNvPr id="386" name="Connector 19"/>
          <p:cNvCxnSpPr/>
          <p:nvPr/>
        </p:nvCxnSpPr>
        <p:spPr>
          <a:xfrm flipH="1">
            <a:off x="4572000" y="3611880"/>
            <a:ext cx="3109320" cy="46080"/>
          </a:xfrm>
          <a:prstGeom prst="straightConnector1">
            <a:avLst/>
          </a:prstGeom>
          <a:ln>
            <a:solidFill>
              <a:srgbClr val="F0A500"/>
            </a:solidFill>
            <a:round/>
            <a:tailEnd len="med" type="triangle" w="med"/>
          </a:ln>
        </p:spPr>
      </p:cxnSp>
      <p:sp>
        <p:nvSpPr>
          <p:cNvPr id="387" name="Rounded Rectangle 20"/>
          <p:cNvSpPr/>
          <p:nvPr/>
        </p:nvSpPr>
        <p:spPr>
          <a:xfrm>
            <a:off x="457200" y="4846320"/>
            <a:ext cx="5028840" cy="1371240"/>
          </a:xfrm>
          <a:prstGeom prst="roundRect">
            <a:avLst>
              <a:gd name="adj" fmla="val 12000"/>
            </a:avLst>
          </a:prstGeom>
          <a:solidFill>
            <a:srgbClr val="C0392B"/>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8" name="Rounded Rectangle 21"/>
          <p:cNvSpPr/>
          <p:nvPr/>
        </p:nvSpPr>
        <p:spPr>
          <a:xfrm>
            <a:off x="594360" y="4937760"/>
            <a:ext cx="1188360" cy="273960"/>
          </a:xfrm>
          <a:prstGeom prst="roundRect">
            <a:avLst>
              <a:gd name="adj" fmla="val 50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C0392B"/>
                </a:solidFill>
                <a:effectLst/>
                <a:uFillTx/>
                <a:latin typeface="Calibri"/>
              </a:rPr>
              <a:t>BLOCK</a:t>
            </a:r>
            <a:endParaRPr lang="en-IN" sz="1000" b="0" u="none" strike="noStrike">
              <a:solidFill>
                <a:srgbClr val="000000"/>
              </a:solidFill>
              <a:effectLst/>
              <a:uFillTx/>
              <a:latin typeface="Arial"/>
            </a:endParaRPr>
          </a:p>
        </p:txBody>
      </p:sp>
      <p:sp>
        <p:nvSpPr>
          <p:cNvPr id="389" name="TextBox 22"/>
          <p:cNvSpPr/>
          <p:nvPr/>
        </p:nvSpPr>
        <p:spPr>
          <a:xfrm>
            <a:off x="594360" y="5257800"/>
            <a:ext cx="475452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20000"/>
              </a:lnSpc>
            </a:pPr>
            <a:r>
              <a:rPr lang="en-US" sz="1050" b="1" u="none" strike="noStrike">
                <a:solidFill>
                  <a:srgbClr val="FFFFFF"/>
                </a:solidFill>
                <a:effectLst/>
                <a:uFillTx/>
                <a:latin typeface="Calibri"/>
              </a:rPr>
              <a:t>(a)  Pause campaign via TCN REST API</a:t>
            </a:r>
            <a:endParaRPr lang="en-IN" sz="1050" b="0" u="none" strike="noStrike">
              <a:solidFill>
                <a:srgbClr val="000000"/>
              </a:solidFill>
              <a:effectLst/>
              <a:uFillTx/>
              <a:latin typeface="Arial"/>
            </a:endParaRPr>
          </a:p>
          <a:p>
            <a:pPr defTabSz="457200">
              <a:lnSpc>
                <a:spcPct val="120000"/>
              </a:lnSpc>
            </a:pPr>
            <a:r>
              <a:rPr lang="en-US" sz="1050" b="1" u="none" strike="noStrike">
                <a:solidFill>
                  <a:srgbClr val="FFFFFF"/>
                </a:solidFill>
                <a:effectLst/>
                <a:uFillTx/>
                <a:latin typeface="Calibri"/>
              </a:rPr>
              <a:t>(b)  Push noc.alert webhook</a:t>
            </a:r>
            <a:endParaRPr lang="en-IN" sz="1050" b="0" u="none" strike="noStrike">
              <a:solidFill>
                <a:srgbClr val="000000"/>
              </a:solidFill>
              <a:effectLst/>
              <a:uFillTx/>
              <a:latin typeface="Arial"/>
            </a:endParaRPr>
          </a:p>
          <a:p>
            <a:pPr defTabSz="457200">
              <a:lnSpc>
                <a:spcPct val="120000"/>
              </a:lnSpc>
            </a:pPr>
            <a:r>
              <a:rPr lang="en-US" sz="1050" b="1" u="none" strike="noStrike">
                <a:solidFill>
                  <a:srgbClr val="FFFFFF"/>
                </a:solidFill>
                <a:effectLst/>
                <a:uFillTx/>
                <a:latin typeface="Calibri"/>
              </a:rPr>
              <a:t>(c)  Log forensic evidence in tenant audit stream</a:t>
            </a:r>
            <a:endParaRPr lang="en-IN" sz="1050" b="0" u="none" strike="noStrike">
              <a:solidFill>
                <a:srgbClr val="000000"/>
              </a:solidFill>
              <a:effectLst/>
              <a:uFillTx/>
              <a:latin typeface="Arial"/>
            </a:endParaRPr>
          </a:p>
        </p:txBody>
      </p:sp>
      <p:cxnSp>
        <p:nvCxnSpPr>
          <p:cNvPr id="390" name="Connector 23"/>
          <p:cNvCxnSpPr/>
          <p:nvPr/>
        </p:nvCxnSpPr>
        <p:spPr>
          <a:xfrm flipH="1">
            <a:off x="2743200" y="4297680"/>
            <a:ext cx="823320" cy="549000"/>
          </a:xfrm>
          <a:prstGeom prst="straightConnector1">
            <a:avLst/>
          </a:prstGeom>
          <a:ln w="31750">
            <a:solidFill>
              <a:srgbClr val="C0392B"/>
            </a:solidFill>
            <a:round/>
            <a:tailEnd len="med" type="triangle" w="med"/>
          </a:ln>
        </p:spPr>
      </p:cxnSp>
      <p:sp>
        <p:nvSpPr>
          <p:cNvPr id="391" name="TextBox 24"/>
          <p:cNvSpPr/>
          <p:nvPr/>
        </p:nvSpPr>
        <p:spPr>
          <a:xfrm>
            <a:off x="2743200" y="4343400"/>
            <a:ext cx="548280" cy="27396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00" b="1" u="none" strike="noStrike">
                <a:solidFill>
                  <a:srgbClr val="C0392B"/>
                </a:solidFill>
                <a:effectLst/>
                <a:uFillTx/>
                <a:latin typeface="Calibri"/>
              </a:rPr>
              <a:t>YES</a:t>
            </a:r>
            <a:endParaRPr lang="en-IN" sz="1000" b="0" u="none" strike="noStrike">
              <a:solidFill>
                <a:srgbClr val="000000"/>
              </a:solidFill>
              <a:effectLst/>
              <a:uFillTx/>
              <a:latin typeface="Arial"/>
            </a:endParaRPr>
          </a:p>
        </p:txBody>
      </p:sp>
      <p:sp>
        <p:nvSpPr>
          <p:cNvPr id="392" name="Rounded Rectangle 25"/>
          <p:cNvSpPr/>
          <p:nvPr/>
        </p:nvSpPr>
        <p:spPr>
          <a:xfrm>
            <a:off x="5760720" y="4846320"/>
            <a:ext cx="1828440" cy="639720"/>
          </a:xfrm>
          <a:prstGeom prst="roundRect">
            <a:avLst>
              <a:gd name="adj" fmla="val 12000"/>
            </a:avLst>
          </a:prstGeom>
          <a:solidFill>
            <a:srgbClr val="2E7D32"/>
          </a:solidFill>
          <a:ln>
            <a:noFill/>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Call proceeds</a:t>
            </a:r>
            <a:endParaRPr lang="en-IN" sz="1200" b="0" u="none" strike="noStrike">
              <a:solidFill>
                <a:srgbClr val="FFFFFF"/>
              </a:solidFill>
              <a:effectLst/>
              <a:uFillTx/>
              <a:latin typeface="Arial"/>
            </a:endParaRPr>
          </a:p>
        </p:txBody>
      </p:sp>
      <p:cxnSp>
        <p:nvCxnSpPr>
          <p:cNvPr id="393" name="Connector 26"/>
          <p:cNvCxnSpPr/>
          <p:nvPr/>
        </p:nvCxnSpPr>
        <p:spPr>
          <a:xfrm>
            <a:off x="4572000" y="4023360"/>
            <a:ext cx="2103480" cy="823320"/>
          </a:xfrm>
          <a:prstGeom prst="straightConnector1">
            <a:avLst/>
          </a:prstGeom>
          <a:ln w="31750">
            <a:solidFill>
              <a:srgbClr val="2E7D32"/>
            </a:solidFill>
            <a:round/>
            <a:tailEnd len="med" type="triangle" w="med"/>
          </a:ln>
        </p:spPr>
      </p:cxnSp>
      <p:sp>
        <p:nvSpPr>
          <p:cNvPr id="394" name="TextBox 27"/>
          <p:cNvSpPr/>
          <p:nvPr/>
        </p:nvSpPr>
        <p:spPr>
          <a:xfrm>
            <a:off x="5120640" y="4114800"/>
            <a:ext cx="548280" cy="27396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00" b="1" u="none" strike="noStrike">
                <a:solidFill>
                  <a:srgbClr val="2E7D32"/>
                </a:solidFill>
                <a:effectLst/>
                <a:uFillTx/>
                <a:latin typeface="Calibri"/>
              </a:rPr>
              <a:t>NO</a:t>
            </a:r>
            <a:endParaRPr lang="en-IN" sz="1000" b="0" u="none" strike="noStrike">
              <a:solidFill>
                <a:srgbClr val="000000"/>
              </a:solidFill>
              <a:effectLst/>
              <a:uFillTx/>
              <a:latin typeface="Arial"/>
            </a:endParaRPr>
          </a:p>
        </p:txBody>
      </p:sp>
      <p:sp>
        <p:nvSpPr>
          <p:cNvPr id="395" name="Rectangle 28"/>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6" name="Rectangle 29"/>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397" name="TextBox 30"/>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398" name="TextBox 31"/>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10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0"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1"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2"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FLOW 3 — PAYMENT CALL WITH DTMF MASKING &amp; PCI EVIDENCE</a:t>
            </a:r>
            <a:endParaRPr lang="en-IN" sz="1800" b="0" u="none" strike="noStrike">
              <a:solidFill>
                <a:srgbClr val="000000"/>
              </a:solidFill>
              <a:effectLst/>
              <a:uFillTx/>
              <a:latin typeface="Arial"/>
            </a:endParaRPr>
          </a:p>
        </p:txBody>
      </p:sp>
      <p:sp>
        <p:nvSpPr>
          <p:cNvPr id="403"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Up to 80% PCI scope reduction • Card digits never reach agent, screen, or recording</a:t>
            </a:r>
            <a:endParaRPr lang="en-IN" sz="1050" b="0" u="none" strike="noStrike">
              <a:solidFill>
                <a:srgbClr val="000000"/>
              </a:solidFill>
              <a:effectLst/>
              <a:uFillTx/>
              <a:latin typeface="Arial"/>
            </a:endParaRPr>
          </a:p>
        </p:txBody>
      </p:sp>
      <p:sp>
        <p:nvSpPr>
          <p:cNvPr id="404"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405" name="Oval 7"/>
          <p:cNvSpPr/>
          <p:nvPr/>
        </p:nvSpPr>
        <p:spPr>
          <a:xfrm>
            <a:off x="548640" y="1234440"/>
            <a:ext cx="365400" cy="365400"/>
          </a:xfrm>
          <a:prstGeom prst="ellipse">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FFFFFF"/>
                </a:solidFill>
                <a:effectLst/>
                <a:uFillTx/>
                <a:latin typeface="Calibri"/>
              </a:rPr>
              <a:t>1</a:t>
            </a:r>
            <a:endParaRPr lang="en-IN" sz="1400" b="0" u="none" strike="noStrike">
              <a:solidFill>
                <a:srgbClr val="FFFFFF"/>
              </a:solidFill>
              <a:effectLst/>
              <a:uFillTx/>
              <a:latin typeface="Arial"/>
            </a:endParaRPr>
          </a:p>
        </p:txBody>
      </p:sp>
      <p:sp>
        <p:nvSpPr>
          <p:cNvPr id="406" name="Rounded Rectangle 8"/>
          <p:cNvSpPr/>
          <p:nvPr/>
        </p:nvSpPr>
        <p:spPr>
          <a:xfrm>
            <a:off x="1051560" y="1051560"/>
            <a:ext cx="3200040" cy="731160"/>
          </a:xfrm>
          <a:prstGeom prst="roundRect">
            <a:avLst>
              <a:gd name="adj" fmla="val 12000"/>
            </a:avLst>
          </a:prstGeom>
          <a:solidFill>
            <a:srgbClr val="F4F7FA"/>
          </a:solidFill>
          <a:ln w="19050">
            <a:solidFill>
              <a:srgbClr val="0D1B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50" b="0" u="none" strike="noStrike">
                <a:solidFill>
                  <a:srgbClr val="1A1A2E"/>
                </a:solidFill>
                <a:effectLst/>
                <a:uFillTx/>
                <a:latin typeface="Calibri"/>
              </a:rPr>
              <a:t>Agent presses</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"Take Payment"</a:t>
            </a:r>
            <a:endParaRPr lang="en-IN" sz="1050" b="0" u="none" strike="noStrike">
              <a:solidFill>
                <a:srgbClr val="000000"/>
              </a:solidFill>
              <a:effectLst/>
              <a:uFillTx/>
              <a:latin typeface="Arial"/>
            </a:endParaRPr>
          </a:p>
        </p:txBody>
      </p:sp>
      <p:cxnSp>
        <p:nvCxnSpPr>
          <p:cNvPr id="407" name="Connector 9"/>
          <p:cNvCxnSpPr/>
          <p:nvPr/>
        </p:nvCxnSpPr>
        <p:spPr>
          <a:xfrm>
            <a:off x="2651760" y="1783080"/>
            <a:ext cx="360" cy="64080"/>
          </a:xfrm>
          <a:prstGeom prst="straightConnector1">
            <a:avLst/>
          </a:prstGeom>
          <a:ln>
            <a:solidFill>
              <a:srgbClr val="0D1B3E"/>
            </a:solidFill>
            <a:round/>
            <a:tailEnd len="med" type="triangle" w="med"/>
          </a:ln>
        </p:spPr>
      </p:cxnSp>
      <p:sp>
        <p:nvSpPr>
          <p:cNvPr id="408" name="Oval 10"/>
          <p:cNvSpPr/>
          <p:nvPr/>
        </p:nvSpPr>
        <p:spPr>
          <a:xfrm>
            <a:off x="548640" y="2030040"/>
            <a:ext cx="365400" cy="365400"/>
          </a:xfrm>
          <a:prstGeom prst="ellipse">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FFFFFF"/>
                </a:solidFill>
                <a:effectLst/>
                <a:uFillTx/>
                <a:latin typeface="Calibri"/>
              </a:rPr>
              <a:t>2</a:t>
            </a:r>
            <a:endParaRPr lang="en-IN" sz="1400" b="0" u="none" strike="noStrike">
              <a:solidFill>
                <a:srgbClr val="FFFFFF"/>
              </a:solidFill>
              <a:effectLst/>
              <a:uFillTx/>
              <a:latin typeface="Arial"/>
            </a:endParaRPr>
          </a:p>
        </p:txBody>
      </p:sp>
      <p:sp>
        <p:nvSpPr>
          <p:cNvPr id="409" name="Rounded Rectangle 11"/>
          <p:cNvSpPr/>
          <p:nvPr/>
        </p:nvSpPr>
        <p:spPr>
          <a:xfrm>
            <a:off x="1051560" y="1847160"/>
            <a:ext cx="3200040" cy="731160"/>
          </a:xfrm>
          <a:prstGeom prst="roundRect">
            <a:avLst>
              <a:gd name="adj" fmla="val 12000"/>
            </a:avLst>
          </a:prstGeom>
          <a:solidFill>
            <a:srgbClr val="F4F7FA"/>
          </a:solidFill>
          <a:ln w="19050">
            <a:solidFill>
              <a:srgbClr val="0D1B3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50" b="0" u="none" strike="noStrike">
                <a:solidFill>
                  <a:srgbClr val="1A1A2E"/>
                </a:solidFill>
                <a:effectLst/>
                <a:uFillTx/>
                <a:latin typeface="Calibri"/>
              </a:rPr>
              <a:t>TCN agent workspace</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fires payment.start</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via Synapse webhook</a:t>
            </a:r>
            <a:endParaRPr lang="en-IN" sz="1050" b="0" u="none" strike="noStrike">
              <a:solidFill>
                <a:srgbClr val="000000"/>
              </a:solidFill>
              <a:effectLst/>
              <a:uFillTx/>
              <a:latin typeface="Arial"/>
            </a:endParaRPr>
          </a:p>
        </p:txBody>
      </p:sp>
      <p:cxnSp>
        <p:nvCxnSpPr>
          <p:cNvPr id="410" name="Connector 12"/>
          <p:cNvCxnSpPr/>
          <p:nvPr/>
        </p:nvCxnSpPr>
        <p:spPr>
          <a:xfrm>
            <a:off x="2651760" y="2578320"/>
            <a:ext cx="360" cy="64440"/>
          </a:xfrm>
          <a:prstGeom prst="straightConnector1">
            <a:avLst/>
          </a:prstGeom>
          <a:ln>
            <a:solidFill>
              <a:srgbClr val="0D1B3E"/>
            </a:solidFill>
            <a:round/>
            <a:tailEnd len="med" type="triangle" w="med"/>
          </a:ln>
        </p:spPr>
      </p:cxnSp>
      <p:sp>
        <p:nvSpPr>
          <p:cNvPr id="411" name="Oval 13"/>
          <p:cNvSpPr/>
          <p:nvPr/>
        </p:nvSpPr>
        <p:spPr>
          <a:xfrm>
            <a:off x="548640" y="2825640"/>
            <a:ext cx="365400" cy="36540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3</a:t>
            </a:r>
            <a:endParaRPr lang="en-IN" sz="1400" b="0" u="none" strike="noStrike">
              <a:solidFill>
                <a:srgbClr val="000000"/>
              </a:solidFill>
              <a:effectLst/>
              <a:uFillTx/>
              <a:latin typeface="Arial"/>
            </a:endParaRPr>
          </a:p>
        </p:txBody>
      </p:sp>
      <p:sp>
        <p:nvSpPr>
          <p:cNvPr id="412" name="Rounded Rectangle 14"/>
          <p:cNvSpPr/>
          <p:nvPr/>
        </p:nvSpPr>
        <p:spPr>
          <a:xfrm>
            <a:off x="1051560" y="2642760"/>
            <a:ext cx="3200040" cy="731160"/>
          </a:xfrm>
          <a:prstGeom prst="roundRect">
            <a:avLst>
              <a:gd name="adj" fmla="val 12000"/>
            </a:avLst>
          </a:prstGeom>
          <a:solidFill>
            <a:srgbClr val="FDE9BE"/>
          </a:solidFill>
          <a:ln w="1905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50" b="0" u="none" strike="noStrike">
                <a:solidFill>
                  <a:srgbClr val="1A1A2E"/>
                </a:solidFill>
                <a:effectLst/>
                <a:uFillTx/>
                <a:latin typeface="Calibri"/>
              </a:rPr>
              <a:t>QBITEL applies</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tenant PCI-DSS profile</a:t>
            </a:r>
            <a:endParaRPr lang="en-IN" sz="1050" b="0" u="none" strike="noStrike">
              <a:solidFill>
                <a:srgbClr val="000000"/>
              </a:solidFill>
              <a:effectLst/>
              <a:uFillTx/>
              <a:latin typeface="Arial"/>
            </a:endParaRPr>
          </a:p>
        </p:txBody>
      </p:sp>
      <p:cxnSp>
        <p:nvCxnSpPr>
          <p:cNvPr id="413" name="Connector 15"/>
          <p:cNvCxnSpPr/>
          <p:nvPr/>
        </p:nvCxnSpPr>
        <p:spPr>
          <a:xfrm>
            <a:off x="2651760" y="3373920"/>
            <a:ext cx="360" cy="64440"/>
          </a:xfrm>
          <a:prstGeom prst="straightConnector1">
            <a:avLst/>
          </a:prstGeom>
          <a:ln>
            <a:solidFill>
              <a:srgbClr val="F0A500"/>
            </a:solidFill>
            <a:round/>
            <a:tailEnd len="med" type="triangle" w="med"/>
          </a:ln>
        </p:spPr>
      </p:cxnSp>
      <p:sp>
        <p:nvSpPr>
          <p:cNvPr id="414" name="Oval 16"/>
          <p:cNvSpPr/>
          <p:nvPr/>
        </p:nvSpPr>
        <p:spPr>
          <a:xfrm>
            <a:off x="548640" y="3620880"/>
            <a:ext cx="365400" cy="365400"/>
          </a:xfrm>
          <a:prstGeom prst="ellipse">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FFFFFF"/>
                </a:solidFill>
                <a:effectLst/>
                <a:uFillTx/>
                <a:latin typeface="Calibri"/>
              </a:rPr>
              <a:t>4</a:t>
            </a:r>
            <a:endParaRPr lang="en-IN" sz="1400" b="0" u="none" strike="noStrike">
              <a:solidFill>
                <a:srgbClr val="FFFFFF"/>
              </a:solidFill>
              <a:effectLst/>
              <a:uFillTx/>
              <a:latin typeface="Arial"/>
            </a:endParaRPr>
          </a:p>
        </p:txBody>
      </p:sp>
      <p:sp>
        <p:nvSpPr>
          <p:cNvPr id="415" name="Rounded Rectangle 17"/>
          <p:cNvSpPr/>
          <p:nvPr/>
        </p:nvSpPr>
        <p:spPr>
          <a:xfrm>
            <a:off x="1051560" y="3438000"/>
            <a:ext cx="3200040" cy="731160"/>
          </a:xfrm>
          <a:prstGeom prst="roundRect">
            <a:avLst>
              <a:gd name="adj" fmla="val 12000"/>
            </a:avLst>
          </a:prstGeom>
          <a:solidFill>
            <a:srgbClr val="CDE8EC"/>
          </a:solidFill>
          <a:ln w="1905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50" b="0" u="none" strike="noStrike">
                <a:solidFill>
                  <a:srgbClr val="1A1A2E"/>
                </a:solidFill>
                <a:effectLst/>
                <a:uFillTx/>
                <a:latin typeface="Calibri"/>
              </a:rPr>
              <a:t>QBITEL signals TCN:</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 PAUSE recording</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 CLAMP DTMF tones</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 MASK agent screen</a:t>
            </a:r>
            <a:endParaRPr lang="en-IN" sz="1050" b="0" u="none" strike="noStrike">
              <a:solidFill>
                <a:srgbClr val="000000"/>
              </a:solidFill>
              <a:effectLst/>
              <a:uFillTx/>
              <a:latin typeface="Arial"/>
            </a:endParaRPr>
          </a:p>
        </p:txBody>
      </p:sp>
      <p:cxnSp>
        <p:nvCxnSpPr>
          <p:cNvPr id="416" name="Connector 18"/>
          <p:cNvCxnSpPr/>
          <p:nvPr/>
        </p:nvCxnSpPr>
        <p:spPr>
          <a:xfrm>
            <a:off x="2651760" y="4169520"/>
            <a:ext cx="360" cy="64440"/>
          </a:xfrm>
          <a:prstGeom prst="straightConnector1">
            <a:avLst/>
          </a:prstGeom>
          <a:ln>
            <a:solidFill>
              <a:srgbClr val="008B9A"/>
            </a:solidFill>
            <a:round/>
            <a:tailEnd len="med" type="triangle" w="med"/>
          </a:ln>
        </p:spPr>
      </p:cxnSp>
      <p:sp>
        <p:nvSpPr>
          <p:cNvPr id="417" name="Oval 19"/>
          <p:cNvSpPr/>
          <p:nvPr/>
        </p:nvSpPr>
        <p:spPr>
          <a:xfrm>
            <a:off x="548640" y="4416480"/>
            <a:ext cx="365400" cy="365400"/>
          </a:xfrm>
          <a:prstGeom prst="ellipse">
            <a:avLst/>
          </a:prstGeom>
          <a:solidFill>
            <a:srgbClr val="1A2D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FFFFFF"/>
                </a:solidFill>
                <a:effectLst/>
                <a:uFillTx/>
                <a:latin typeface="Calibri"/>
              </a:rPr>
              <a:t>5</a:t>
            </a:r>
            <a:endParaRPr lang="en-IN" sz="1400" b="0" u="none" strike="noStrike">
              <a:solidFill>
                <a:srgbClr val="FFFFFF"/>
              </a:solidFill>
              <a:effectLst/>
              <a:uFillTx/>
              <a:latin typeface="Arial"/>
            </a:endParaRPr>
          </a:p>
        </p:txBody>
      </p:sp>
      <p:sp>
        <p:nvSpPr>
          <p:cNvPr id="418" name="Rounded Rectangle 20"/>
          <p:cNvSpPr/>
          <p:nvPr/>
        </p:nvSpPr>
        <p:spPr>
          <a:xfrm>
            <a:off x="1051560" y="4233600"/>
            <a:ext cx="3200040" cy="731160"/>
          </a:xfrm>
          <a:prstGeom prst="roundRect">
            <a:avLst>
              <a:gd name="adj" fmla="val 12000"/>
            </a:avLst>
          </a:prstGeom>
          <a:solidFill>
            <a:srgbClr val="F4F7FA"/>
          </a:solidFill>
          <a:ln w="19050">
            <a:solidFill>
              <a:srgbClr val="1A2D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50" b="0" u="none" strike="noStrike">
                <a:solidFill>
                  <a:srgbClr val="1A1A2E"/>
                </a:solidFill>
                <a:effectLst/>
                <a:uFillTx/>
                <a:latin typeface="Calibri"/>
              </a:rPr>
              <a:t>Customer enters card</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via DTMF</a:t>
            </a:r>
            <a:endParaRPr lang="en-IN" sz="1050" b="0" u="none" strike="noStrike">
              <a:solidFill>
                <a:srgbClr val="000000"/>
              </a:solidFill>
              <a:effectLst/>
              <a:uFillTx/>
              <a:latin typeface="Arial"/>
            </a:endParaRPr>
          </a:p>
        </p:txBody>
      </p:sp>
      <p:cxnSp>
        <p:nvCxnSpPr>
          <p:cNvPr id="419" name="Connector 21"/>
          <p:cNvCxnSpPr/>
          <p:nvPr/>
        </p:nvCxnSpPr>
        <p:spPr>
          <a:xfrm>
            <a:off x="2651760" y="4965120"/>
            <a:ext cx="360" cy="64440"/>
          </a:xfrm>
          <a:prstGeom prst="straightConnector1">
            <a:avLst/>
          </a:prstGeom>
          <a:ln>
            <a:solidFill>
              <a:srgbClr val="1A2D5A"/>
            </a:solidFill>
            <a:round/>
            <a:tailEnd len="med" type="triangle" w="med"/>
          </a:ln>
        </p:spPr>
      </p:cxnSp>
      <p:sp>
        <p:nvSpPr>
          <p:cNvPr id="420" name="Oval 22"/>
          <p:cNvSpPr/>
          <p:nvPr/>
        </p:nvSpPr>
        <p:spPr>
          <a:xfrm>
            <a:off x="548640" y="5212080"/>
            <a:ext cx="365400" cy="365400"/>
          </a:xfrm>
          <a:prstGeom prst="ellipse">
            <a:avLst/>
          </a:prstGeom>
          <a:solidFill>
            <a:srgbClr val="1A2D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FFFFFF"/>
                </a:solidFill>
                <a:effectLst/>
                <a:uFillTx/>
                <a:latin typeface="Calibri"/>
              </a:rPr>
              <a:t>6</a:t>
            </a:r>
            <a:endParaRPr lang="en-IN" sz="1400" b="0" u="none" strike="noStrike">
              <a:solidFill>
                <a:srgbClr val="FFFFFF"/>
              </a:solidFill>
              <a:effectLst/>
              <a:uFillTx/>
              <a:latin typeface="Arial"/>
            </a:endParaRPr>
          </a:p>
        </p:txBody>
      </p:sp>
      <p:sp>
        <p:nvSpPr>
          <p:cNvPr id="421" name="Rounded Rectangle 23"/>
          <p:cNvSpPr/>
          <p:nvPr/>
        </p:nvSpPr>
        <p:spPr>
          <a:xfrm>
            <a:off x="1051560" y="5029200"/>
            <a:ext cx="3200040" cy="731160"/>
          </a:xfrm>
          <a:prstGeom prst="roundRect">
            <a:avLst>
              <a:gd name="adj" fmla="val 12000"/>
            </a:avLst>
          </a:prstGeom>
          <a:solidFill>
            <a:srgbClr val="F4F7FA"/>
          </a:solidFill>
          <a:ln w="19050">
            <a:solidFill>
              <a:srgbClr val="1A2D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50" b="0" u="none" strike="noStrike">
                <a:solidFill>
                  <a:srgbClr val="1A1A2E"/>
                </a:solidFill>
                <a:effectLst/>
                <a:uFillTx/>
                <a:latin typeface="Calibri"/>
              </a:rPr>
              <a:t>Card → payment processor</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(direct path)</a:t>
            </a:r>
            <a:endParaRPr lang="en-IN" sz="1050" b="0" u="none" strike="noStrike">
              <a:solidFill>
                <a:srgbClr val="000000"/>
              </a:solidFill>
              <a:effectLst/>
              <a:uFillTx/>
              <a:latin typeface="Arial"/>
            </a:endParaRPr>
          </a:p>
        </p:txBody>
      </p:sp>
      <p:cxnSp>
        <p:nvCxnSpPr>
          <p:cNvPr id="422" name="Connector 24"/>
          <p:cNvCxnSpPr/>
          <p:nvPr/>
        </p:nvCxnSpPr>
        <p:spPr>
          <a:xfrm>
            <a:off x="2651760" y="5760720"/>
            <a:ext cx="360" cy="64080"/>
          </a:xfrm>
          <a:prstGeom prst="straightConnector1">
            <a:avLst/>
          </a:prstGeom>
          <a:ln>
            <a:solidFill>
              <a:srgbClr val="1A2D5A"/>
            </a:solidFill>
            <a:round/>
            <a:tailEnd len="med" type="triangle" w="med"/>
          </a:ln>
        </p:spPr>
      </p:cxnSp>
      <p:sp>
        <p:nvSpPr>
          <p:cNvPr id="423" name="Oval 25"/>
          <p:cNvSpPr/>
          <p:nvPr/>
        </p:nvSpPr>
        <p:spPr>
          <a:xfrm>
            <a:off x="548640" y="6007680"/>
            <a:ext cx="365400" cy="36540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7</a:t>
            </a:r>
            <a:endParaRPr lang="en-IN" sz="1400" b="0" u="none" strike="noStrike">
              <a:solidFill>
                <a:srgbClr val="000000"/>
              </a:solidFill>
              <a:effectLst/>
              <a:uFillTx/>
              <a:latin typeface="Arial"/>
            </a:endParaRPr>
          </a:p>
        </p:txBody>
      </p:sp>
      <p:sp>
        <p:nvSpPr>
          <p:cNvPr id="424" name="Rounded Rectangle 26"/>
          <p:cNvSpPr/>
          <p:nvPr/>
        </p:nvSpPr>
        <p:spPr>
          <a:xfrm>
            <a:off x="1051560" y="5824800"/>
            <a:ext cx="3200040" cy="731160"/>
          </a:xfrm>
          <a:prstGeom prst="roundRect">
            <a:avLst>
              <a:gd name="adj" fmla="val 12000"/>
            </a:avLst>
          </a:prstGeom>
          <a:solidFill>
            <a:srgbClr val="FDE9BE"/>
          </a:solidFill>
          <a:ln w="1905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50" b="0" u="none" strike="noStrike">
                <a:solidFill>
                  <a:srgbClr val="1A1A2E"/>
                </a:solidFill>
                <a:effectLst/>
                <a:uFillTx/>
                <a:latin typeface="Calibri"/>
              </a:rPr>
              <a:t>payment.end webhook;</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QBITEL resumes &amp;</a:t>
            </a:r>
            <a:endParaRPr lang="en-IN" sz="1050" b="0" u="none" strike="noStrike">
              <a:solidFill>
                <a:srgbClr val="000000"/>
              </a:solidFill>
              <a:effectLst/>
              <a:uFillTx/>
              <a:latin typeface="Arial"/>
            </a:endParaRPr>
          </a:p>
          <a:p>
            <a:pPr algn="ctr" defTabSz="457200">
              <a:lnSpc>
                <a:spcPct val="115000"/>
              </a:lnSpc>
            </a:pPr>
            <a:r>
              <a:rPr lang="en-US" sz="1050" b="0" u="none" strike="noStrike">
                <a:solidFill>
                  <a:srgbClr val="1A1A2E"/>
                </a:solidFill>
                <a:effectLst/>
                <a:uFillTx/>
                <a:latin typeface="Calibri"/>
              </a:rPr>
              <a:t>generates PCI evidence</a:t>
            </a:r>
            <a:endParaRPr lang="en-IN" sz="1050" b="0" u="none" strike="noStrike">
              <a:solidFill>
                <a:srgbClr val="000000"/>
              </a:solidFill>
              <a:effectLst/>
              <a:uFillTx/>
              <a:latin typeface="Arial"/>
            </a:endParaRPr>
          </a:p>
        </p:txBody>
      </p:sp>
      <p:sp>
        <p:nvSpPr>
          <p:cNvPr id="425" name="Rounded Rectangle 27"/>
          <p:cNvSpPr/>
          <p:nvPr/>
        </p:nvSpPr>
        <p:spPr>
          <a:xfrm>
            <a:off x="4572000" y="1051560"/>
            <a:ext cx="7177680" cy="2742840"/>
          </a:xfrm>
          <a:prstGeom prst="roundRect">
            <a:avLst>
              <a:gd name="adj" fmla="val 12000"/>
            </a:avLst>
          </a:prstGeom>
          <a:solidFill>
            <a:srgbClr val="0D1B3E"/>
          </a:solidFill>
          <a:ln w="25400">
            <a:solidFill>
              <a:srgbClr val="F0A500"/>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6" name="Rounded Rectangle 28"/>
          <p:cNvSpPr/>
          <p:nvPr/>
        </p:nvSpPr>
        <p:spPr>
          <a:xfrm>
            <a:off x="4709160" y="1143000"/>
            <a:ext cx="2742840" cy="27396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WHAT GETS PROTECTED</a:t>
            </a:r>
            <a:endParaRPr lang="en-IN" sz="1000" b="0" u="none" strike="noStrike">
              <a:solidFill>
                <a:srgbClr val="000000"/>
              </a:solidFill>
              <a:effectLst/>
              <a:uFillTx/>
              <a:latin typeface="Arial"/>
            </a:endParaRPr>
          </a:p>
        </p:txBody>
      </p:sp>
      <p:sp>
        <p:nvSpPr>
          <p:cNvPr id="427" name="Rounded Rectangle 29"/>
          <p:cNvSpPr/>
          <p:nvPr/>
        </p:nvSpPr>
        <p:spPr>
          <a:xfrm>
            <a:off x="4754880" y="1600200"/>
            <a:ext cx="2285640" cy="548280"/>
          </a:xfrm>
          <a:prstGeom prst="roundRect">
            <a:avLst>
              <a:gd name="adj" fmla="val 12000"/>
            </a:avLst>
          </a:prstGeom>
          <a:solidFill>
            <a:srgbClr val="1A2D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0A500"/>
                </a:solidFill>
                <a:effectLst/>
                <a:uFillTx/>
                <a:latin typeface="Calibri"/>
              </a:rPr>
              <a:t>Agent headset</a:t>
            </a:r>
            <a:endParaRPr lang="en-IN" sz="1200" b="0" u="none" strike="noStrike">
              <a:solidFill>
                <a:srgbClr val="FFFFFF"/>
              </a:solidFill>
              <a:effectLst/>
              <a:uFillTx/>
              <a:latin typeface="Arial"/>
            </a:endParaRPr>
          </a:p>
        </p:txBody>
      </p:sp>
      <p:sp>
        <p:nvSpPr>
          <p:cNvPr id="428" name="Rounded Rectangle 30"/>
          <p:cNvSpPr/>
          <p:nvPr/>
        </p:nvSpPr>
        <p:spPr>
          <a:xfrm>
            <a:off x="7132320" y="1600200"/>
            <a:ext cx="4434480" cy="548280"/>
          </a:xfrm>
          <a:prstGeom prst="roundRect">
            <a:avLst>
              <a:gd name="adj" fmla="val 12000"/>
            </a:avLst>
          </a:prstGeom>
          <a:solidFill>
            <a:srgbClr val="1A2D5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defTabSz="457200">
              <a:lnSpc>
                <a:spcPct val="115000"/>
              </a:lnSpc>
            </a:pPr>
            <a:r>
              <a:rPr lang="en-US" sz="1100" b="0" u="none" strike="noStrike">
                <a:solidFill>
                  <a:srgbClr val="FFFFFF"/>
                </a:solidFill>
                <a:effectLst/>
                <a:uFillTx/>
                <a:latin typeface="Calibri"/>
              </a:rPr>
              <a:t>Hears CLAMPed tone — no digits audible</a:t>
            </a:r>
            <a:endParaRPr lang="en-IN" sz="1100" b="0" u="none" strike="noStrike">
              <a:solidFill>
                <a:srgbClr val="FFFFFF"/>
              </a:solidFill>
              <a:effectLst/>
              <a:uFillTx/>
              <a:latin typeface="Arial"/>
            </a:endParaRPr>
          </a:p>
        </p:txBody>
      </p:sp>
      <p:sp>
        <p:nvSpPr>
          <p:cNvPr id="429" name="Rounded Rectangle 31"/>
          <p:cNvSpPr/>
          <p:nvPr/>
        </p:nvSpPr>
        <p:spPr>
          <a:xfrm>
            <a:off x="4754880" y="2286000"/>
            <a:ext cx="2285640" cy="548280"/>
          </a:xfrm>
          <a:prstGeom prst="roundRect">
            <a:avLst>
              <a:gd name="adj" fmla="val 12000"/>
            </a:avLst>
          </a:prstGeom>
          <a:solidFill>
            <a:srgbClr val="1A2D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0A500"/>
                </a:solidFill>
                <a:effectLst/>
                <a:uFillTx/>
                <a:latin typeface="Calibri"/>
              </a:rPr>
              <a:t>TCN recording</a:t>
            </a:r>
            <a:endParaRPr lang="en-IN" sz="1200" b="0" u="none" strike="noStrike">
              <a:solidFill>
                <a:srgbClr val="FFFFFF"/>
              </a:solidFill>
              <a:effectLst/>
              <a:uFillTx/>
              <a:latin typeface="Arial"/>
            </a:endParaRPr>
          </a:p>
        </p:txBody>
      </p:sp>
      <p:sp>
        <p:nvSpPr>
          <p:cNvPr id="430" name="Rounded Rectangle 32"/>
          <p:cNvSpPr/>
          <p:nvPr/>
        </p:nvSpPr>
        <p:spPr>
          <a:xfrm>
            <a:off x="7132320" y="2286000"/>
            <a:ext cx="4434480" cy="548280"/>
          </a:xfrm>
          <a:prstGeom prst="roundRect">
            <a:avLst>
              <a:gd name="adj" fmla="val 12000"/>
            </a:avLst>
          </a:prstGeom>
          <a:solidFill>
            <a:srgbClr val="1A2D5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defTabSz="457200">
              <a:lnSpc>
                <a:spcPct val="115000"/>
              </a:lnSpc>
            </a:pPr>
            <a:r>
              <a:rPr lang="en-US" sz="1100" b="0" u="none" strike="noStrike">
                <a:solidFill>
                  <a:srgbClr val="FFFFFF"/>
                </a:solidFill>
                <a:effectLst/>
                <a:uFillTx/>
                <a:latin typeface="Calibri"/>
              </a:rPr>
              <a:t>Paused for payment window</a:t>
            </a:r>
            <a:endParaRPr lang="en-IN" sz="1100" b="0" u="none" strike="noStrike">
              <a:solidFill>
                <a:srgbClr val="FFFFFF"/>
              </a:solidFill>
              <a:effectLst/>
              <a:uFillTx/>
              <a:latin typeface="Arial"/>
            </a:endParaRPr>
          </a:p>
        </p:txBody>
      </p:sp>
      <p:sp>
        <p:nvSpPr>
          <p:cNvPr id="431" name="Rounded Rectangle 33"/>
          <p:cNvSpPr/>
          <p:nvPr/>
        </p:nvSpPr>
        <p:spPr>
          <a:xfrm>
            <a:off x="4754880" y="2971800"/>
            <a:ext cx="2285640" cy="548280"/>
          </a:xfrm>
          <a:prstGeom prst="roundRect">
            <a:avLst>
              <a:gd name="adj" fmla="val 12000"/>
            </a:avLst>
          </a:prstGeom>
          <a:solidFill>
            <a:srgbClr val="1A2D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0A500"/>
                </a:solidFill>
                <a:effectLst/>
                <a:uFillTx/>
                <a:latin typeface="Calibri"/>
              </a:rPr>
              <a:t>Agent screen</a:t>
            </a:r>
            <a:endParaRPr lang="en-IN" sz="1200" b="0" u="none" strike="noStrike">
              <a:solidFill>
                <a:srgbClr val="FFFFFF"/>
              </a:solidFill>
              <a:effectLst/>
              <a:uFillTx/>
              <a:latin typeface="Arial"/>
            </a:endParaRPr>
          </a:p>
        </p:txBody>
      </p:sp>
      <p:sp>
        <p:nvSpPr>
          <p:cNvPr id="432" name="Rounded Rectangle 34"/>
          <p:cNvSpPr/>
          <p:nvPr/>
        </p:nvSpPr>
        <p:spPr>
          <a:xfrm>
            <a:off x="7132320" y="2971800"/>
            <a:ext cx="4434480" cy="548280"/>
          </a:xfrm>
          <a:prstGeom prst="roundRect">
            <a:avLst>
              <a:gd name="adj" fmla="val 12000"/>
            </a:avLst>
          </a:prstGeom>
          <a:solidFill>
            <a:srgbClr val="1A2D5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defTabSz="457200">
              <a:lnSpc>
                <a:spcPct val="115000"/>
              </a:lnSpc>
            </a:pPr>
            <a:r>
              <a:rPr lang="en-US" sz="1100" b="0" u="none" strike="noStrike">
                <a:solidFill>
                  <a:srgbClr val="FFFFFF"/>
                </a:solidFill>
                <a:effectLst/>
                <a:uFillTx/>
                <a:latin typeface="Calibri"/>
              </a:rPr>
              <a:t>Shows last-4 only on cardholder fields</a:t>
            </a:r>
            <a:endParaRPr lang="en-IN" sz="1100" b="0" u="none" strike="noStrike">
              <a:solidFill>
                <a:srgbClr val="FFFFFF"/>
              </a:solidFill>
              <a:effectLst/>
              <a:uFillTx/>
              <a:latin typeface="Arial"/>
            </a:endParaRPr>
          </a:p>
        </p:txBody>
      </p:sp>
      <p:sp>
        <p:nvSpPr>
          <p:cNvPr id="433" name="Rounded Rectangle 35"/>
          <p:cNvSpPr/>
          <p:nvPr/>
        </p:nvSpPr>
        <p:spPr>
          <a:xfrm>
            <a:off x="4572000" y="3977640"/>
            <a:ext cx="7177680" cy="639720"/>
          </a:xfrm>
          <a:prstGeom prst="roundRect">
            <a:avLst>
              <a:gd name="adj" fmla="val 12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300" b="1" u="none" strike="noStrike">
                <a:solidFill>
                  <a:srgbClr val="0D1B3E"/>
                </a:solidFill>
                <a:effectLst/>
                <a:uFillTx/>
                <a:latin typeface="Calibri"/>
              </a:rPr>
              <a:t>PCI scope reduction up to 80%   •   Evidence pack on demand in &lt;10 minutes</a:t>
            </a:r>
            <a:endParaRPr lang="en-IN" sz="1300" b="0" u="none" strike="noStrike">
              <a:solidFill>
                <a:srgbClr val="000000"/>
              </a:solidFill>
              <a:effectLst/>
              <a:uFillTx/>
              <a:latin typeface="Arial"/>
            </a:endParaRPr>
          </a:p>
        </p:txBody>
      </p:sp>
      <p:sp>
        <p:nvSpPr>
          <p:cNvPr id="434" name="Rounded Rectangle 36"/>
          <p:cNvSpPr/>
          <p:nvPr/>
        </p:nvSpPr>
        <p:spPr>
          <a:xfrm>
            <a:off x="4572000" y="4800600"/>
            <a:ext cx="7177680" cy="1371240"/>
          </a:xfrm>
          <a:prstGeom prst="roundRect">
            <a:avLst>
              <a:gd name="adj" fmla="val 12000"/>
            </a:avLst>
          </a:prstGeom>
          <a:solidFill>
            <a:srgbClr val="F4F7F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5" name="TextBox 37"/>
          <p:cNvSpPr/>
          <p:nvPr/>
        </p:nvSpPr>
        <p:spPr>
          <a:xfrm>
            <a:off x="4754880" y="4892040"/>
            <a:ext cx="6811920" cy="1188360"/>
          </a:xfrm>
          <a:prstGeom prst="rect">
            <a:avLst/>
          </a:prstGeom>
          <a:noFill/>
          <a:ln w="0">
            <a:noFill/>
          </a:ln>
        </p:spPr>
        <p:style>
          <a:lnRef idx="0"/>
          <a:fillRef idx="0"/>
          <a:effectRef idx="0"/>
          <a:fontRef idx="minor"/>
        </p:style>
        <p:txBody>
          <a:bodyPr lIns="50760" tIns="25560" rIns="50760" bIns="25560" anchor="ctr">
            <a:spAutoFit/>
          </a:bodyPr>
          <a:p>
            <a:pPr defTabSz="457200">
              <a:lnSpc>
                <a:spcPct val="130000"/>
              </a:lnSpc>
            </a:pPr>
            <a:r>
              <a:rPr lang="en-US" sz="1100" b="0" i="1" u="none" strike="noStrike">
                <a:solidFill>
                  <a:srgbClr val="1A1A2E"/>
                </a:solidFill>
                <a:effectLst/>
                <a:uFillTx/>
                <a:latin typeface="Calibri"/>
              </a:rPr>
              <a:t>With this flow active, the agent, the agent's screen, and the TCN recording engine never see the cardholder data. The card digits travel directly from the customer's telephone keypad to the payment processor — TCN and QBITEL are out of scope for that span.</a:t>
            </a:r>
            <a:endParaRPr lang="en-IN" sz="1100" b="0" u="none" strike="noStrike">
              <a:solidFill>
                <a:srgbClr val="000000"/>
              </a:solidFill>
              <a:effectLst/>
              <a:uFillTx/>
              <a:latin typeface="Arial"/>
            </a:endParaRPr>
          </a:p>
        </p:txBody>
      </p:sp>
      <p:sp>
        <p:nvSpPr>
          <p:cNvPr id="436" name="Rectangle 38"/>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7" name="Rectangle 39"/>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438" name="TextBox 40"/>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439" name="TextBox 41"/>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11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1"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2"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3"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MULTI-TENANT ISOLATION — TCN'S BPO CUSTOMERS</a:t>
            </a:r>
            <a:endParaRPr lang="en-IN" sz="1800" b="0" u="none" strike="noStrike">
              <a:solidFill>
                <a:srgbClr val="000000"/>
              </a:solidFill>
              <a:effectLst/>
              <a:uFillTx/>
              <a:latin typeface="Arial"/>
            </a:endParaRPr>
          </a:p>
        </p:txBody>
      </p:sp>
      <p:sp>
        <p:nvSpPr>
          <p:cNvPr id="444"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The single most differentiating capability for the BPO segment</a:t>
            </a:r>
            <a:endParaRPr lang="en-IN" sz="1050" b="0" u="none" strike="noStrike">
              <a:solidFill>
                <a:srgbClr val="000000"/>
              </a:solidFill>
              <a:effectLst/>
              <a:uFillTx/>
              <a:latin typeface="Arial"/>
            </a:endParaRPr>
          </a:p>
        </p:txBody>
      </p:sp>
      <p:sp>
        <p:nvSpPr>
          <p:cNvPr id="445"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446" name="Rounded Rectangle 7"/>
          <p:cNvSpPr/>
          <p:nvPr/>
        </p:nvSpPr>
        <p:spPr>
          <a:xfrm>
            <a:off x="2743200" y="1005840"/>
            <a:ext cx="6674760" cy="731160"/>
          </a:xfrm>
          <a:prstGeom prst="roundRect">
            <a:avLst>
              <a:gd name="adj" fmla="val 12000"/>
            </a:avLst>
          </a:prstGeom>
          <a:solidFill>
            <a:srgbClr val="0D1B3E"/>
          </a:solidFill>
          <a:ln w="19050">
            <a:solidFill>
              <a:srgbClr val="F0A500"/>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FFFFFF"/>
                </a:solidFill>
                <a:effectLst/>
                <a:uFillTx/>
                <a:latin typeface="Calibri"/>
              </a:rPr>
              <a:t>TCN Operator  (one tenant = the BPO)</a:t>
            </a:r>
            <a:endParaRPr lang="en-IN" sz="1400" b="0" u="none" strike="noStrike">
              <a:solidFill>
                <a:srgbClr val="FFFFFF"/>
              </a:solidFill>
              <a:effectLst/>
              <a:uFillTx/>
              <a:latin typeface="Arial"/>
            </a:endParaRPr>
          </a:p>
        </p:txBody>
      </p:sp>
      <p:sp>
        <p:nvSpPr>
          <p:cNvPr id="447" name="TextBox 8"/>
          <p:cNvSpPr/>
          <p:nvPr/>
        </p:nvSpPr>
        <p:spPr>
          <a:xfrm>
            <a:off x="2743200" y="1783080"/>
            <a:ext cx="6674760" cy="31968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000" b="0" i="1" u="none" strike="noStrike">
                <a:solidFill>
                  <a:srgbClr val="5A6A7A"/>
                </a:solidFill>
                <a:effectLst/>
                <a:uFillTx/>
                <a:latin typeface="Calibri"/>
              </a:rPr>
              <a:t>Campaign- and account-level tagging carries downstream client identity</a:t>
            </a:r>
            <a:endParaRPr lang="en-IN" sz="1000" b="0" u="none" strike="noStrike">
              <a:solidFill>
                <a:srgbClr val="000000"/>
              </a:solidFill>
              <a:effectLst/>
              <a:uFillTx/>
              <a:latin typeface="Arial"/>
            </a:endParaRPr>
          </a:p>
        </p:txBody>
      </p:sp>
      <p:sp>
        <p:nvSpPr>
          <p:cNvPr id="448" name="Down Arrow 9"/>
          <p:cNvSpPr/>
          <p:nvPr/>
        </p:nvSpPr>
        <p:spPr>
          <a:xfrm>
            <a:off x="1737360" y="2194560"/>
            <a:ext cx="365400" cy="365400"/>
          </a:xfrm>
          <a:prstGeom prst="down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9" name="Down Arrow 10"/>
          <p:cNvSpPr/>
          <p:nvPr/>
        </p:nvSpPr>
        <p:spPr>
          <a:xfrm>
            <a:off x="5906880" y="2194560"/>
            <a:ext cx="365400" cy="365400"/>
          </a:xfrm>
          <a:prstGeom prst="down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0" name="Down Arrow 11"/>
          <p:cNvSpPr/>
          <p:nvPr/>
        </p:nvSpPr>
        <p:spPr>
          <a:xfrm>
            <a:off x="10058400" y="2194560"/>
            <a:ext cx="365400" cy="365400"/>
          </a:xfrm>
          <a:prstGeom prst="down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1" name="Rounded Rectangle 12"/>
          <p:cNvSpPr/>
          <p:nvPr/>
        </p:nvSpPr>
        <p:spPr>
          <a:xfrm>
            <a:off x="472320" y="2651760"/>
            <a:ext cx="3565800" cy="2742840"/>
          </a:xfrm>
          <a:prstGeom prst="roundRect">
            <a:avLst>
              <a:gd name="adj" fmla="val 12000"/>
            </a:avLst>
          </a:prstGeom>
          <a:solidFill>
            <a:srgbClr val="1A2D5A"/>
          </a:solidFill>
          <a:ln w="3175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2" name="Rounded Rectangle 13"/>
          <p:cNvSpPr/>
          <p:nvPr/>
        </p:nvSpPr>
        <p:spPr>
          <a:xfrm>
            <a:off x="655200" y="2788920"/>
            <a:ext cx="3200040" cy="365400"/>
          </a:xfrm>
          <a:prstGeom prst="roundRect">
            <a:avLst>
              <a:gd name="adj"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TENANT A</a:t>
            </a:r>
            <a:endParaRPr lang="en-IN" sz="1200" b="0" u="none" strike="noStrike">
              <a:solidFill>
                <a:srgbClr val="FFFFFF"/>
              </a:solidFill>
              <a:effectLst/>
              <a:uFillTx/>
              <a:latin typeface="Arial"/>
            </a:endParaRPr>
          </a:p>
        </p:txBody>
      </p:sp>
      <p:sp>
        <p:nvSpPr>
          <p:cNvPr id="453" name="TextBox 14"/>
          <p:cNvSpPr/>
          <p:nvPr/>
        </p:nvSpPr>
        <p:spPr>
          <a:xfrm>
            <a:off x="472320" y="3246120"/>
            <a:ext cx="356580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400" b="1" u="none" strike="noStrike">
                <a:solidFill>
                  <a:srgbClr val="FFFFFF"/>
                </a:solidFill>
                <a:effectLst/>
                <a:uFillTx/>
                <a:latin typeface="Calibri"/>
              </a:rPr>
              <a:t>NorthBank</a:t>
            </a:r>
            <a:endParaRPr lang="en-IN" sz="1400" b="0" u="none" strike="noStrike">
              <a:solidFill>
                <a:srgbClr val="000000"/>
              </a:solidFill>
              <a:effectLst/>
              <a:uFillTx/>
              <a:latin typeface="Arial"/>
            </a:endParaRPr>
          </a:p>
          <a:p>
            <a:pPr algn="ctr" defTabSz="457200">
              <a:lnSpc>
                <a:spcPct val="115000"/>
              </a:lnSpc>
            </a:pPr>
            <a:r>
              <a:rPr lang="en-US" sz="1400" b="1" u="none" strike="noStrike">
                <a:solidFill>
                  <a:srgbClr val="FFFFFF"/>
                </a:solidFill>
                <a:effectLst/>
                <a:uFillTx/>
                <a:latin typeface="Calibri"/>
              </a:rPr>
              <a:t>(Banking)</a:t>
            </a:r>
            <a:endParaRPr lang="en-IN" sz="1400" b="0" u="none" strike="noStrike">
              <a:solidFill>
                <a:srgbClr val="000000"/>
              </a:solidFill>
              <a:effectLst/>
              <a:uFillTx/>
              <a:latin typeface="Arial"/>
            </a:endParaRPr>
          </a:p>
        </p:txBody>
      </p:sp>
      <p:sp>
        <p:nvSpPr>
          <p:cNvPr id="454" name="Rectangle 15"/>
          <p:cNvSpPr/>
          <p:nvPr/>
        </p:nvSpPr>
        <p:spPr>
          <a:xfrm>
            <a:off x="746640" y="3931920"/>
            <a:ext cx="301716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455" name="TextBox 16"/>
          <p:cNvSpPr/>
          <p:nvPr/>
        </p:nvSpPr>
        <p:spPr>
          <a:xfrm>
            <a:off x="655200" y="4069080"/>
            <a:ext cx="3200040" cy="1279800"/>
          </a:xfrm>
          <a:prstGeom prst="rect">
            <a:avLst/>
          </a:prstGeom>
          <a:noFill/>
          <a:ln w="0">
            <a:noFill/>
          </a:ln>
        </p:spPr>
        <p:style>
          <a:lnRef idx="0"/>
          <a:fillRef idx="0"/>
          <a:effectRef idx="0"/>
          <a:fontRef idx="minor"/>
        </p:style>
        <p:txBody>
          <a:bodyPr lIns="50760" tIns="25560" rIns="50760" bIns="25560" anchor="t">
            <a:spAutoFit/>
          </a:bodyPr>
          <a:p>
            <a:pPr defTabSz="457200">
              <a:lnSpc>
                <a:spcPct val="140000"/>
              </a:lnSpc>
            </a:pPr>
            <a:r>
              <a:rPr lang="en-US" sz="1050" b="0" u="none" strike="noStrike">
                <a:solidFill>
                  <a:srgbClr val="FFFFFF"/>
                </a:solidFill>
                <a:effectLst/>
                <a:uFillTx/>
                <a:latin typeface="Calibri"/>
              </a:rPr>
              <a:t>PCI-DSS 4.0 + SOX + FCA</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FFFFFF"/>
                </a:solidFill>
                <a:effectLst/>
                <a:uFillTx/>
                <a:latin typeface="Calibri"/>
              </a:rPr>
              <a:t>ML-KEM keys: 0x4A...</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FFFFFF"/>
                </a:solidFill>
                <a:effectLst/>
                <a:uFillTx/>
                <a:latin typeface="Calibri"/>
              </a:rPr>
              <a:t>OPA policy: bank-strict</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FFFFFF"/>
                </a:solidFill>
                <a:effectLst/>
                <a:uFillTx/>
                <a:latin typeface="Calibri"/>
              </a:rPr>
              <a:t>Audit log: append-only</a:t>
            </a:r>
            <a:endParaRPr lang="en-IN" sz="1050" b="0" u="none" strike="noStrike">
              <a:solidFill>
                <a:srgbClr val="000000"/>
              </a:solidFill>
              <a:effectLst/>
              <a:uFillTx/>
              <a:latin typeface="Arial"/>
            </a:endParaRPr>
          </a:p>
        </p:txBody>
      </p:sp>
      <p:sp>
        <p:nvSpPr>
          <p:cNvPr id="456" name="Rounded Rectangle 17"/>
          <p:cNvSpPr/>
          <p:nvPr/>
        </p:nvSpPr>
        <p:spPr>
          <a:xfrm>
            <a:off x="4312800" y="2651760"/>
            <a:ext cx="3565800" cy="2742840"/>
          </a:xfrm>
          <a:prstGeom prst="roundRect">
            <a:avLst>
              <a:gd name="adj" fmla="val 12000"/>
            </a:avLst>
          </a:prstGeom>
          <a:solidFill>
            <a:srgbClr val="1A2D5A"/>
          </a:solidFill>
          <a:ln w="31750">
            <a:solidFill>
              <a:srgbClr val="F0A500"/>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7" name="Rounded Rectangle 18"/>
          <p:cNvSpPr/>
          <p:nvPr/>
        </p:nvSpPr>
        <p:spPr>
          <a:xfrm>
            <a:off x="4495680" y="2788920"/>
            <a:ext cx="3200040" cy="36540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0D1B3E"/>
                </a:solidFill>
                <a:effectLst/>
                <a:uFillTx/>
                <a:latin typeface="Calibri"/>
              </a:rPr>
              <a:t>TENANT B</a:t>
            </a:r>
            <a:endParaRPr lang="en-IN" sz="1200" b="0" u="none" strike="noStrike">
              <a:solidFill>
                <a:srgbClr val="000000"/>
              </a:solidFill>
              <a:effectLst/>
              <a:uFillTx/>
              <a:latin typeface="Arial"/>
            </a:endParaRPr>
          </a:p>
        </p:txBody>
      </p:sp>
      <p:sp>
        <p:nvSpPr>
          <p:cNvPr id="458" name="TextBox 19"/>
          <p:cNvSpPr/>
          <p:nvPr/>
        </p:nvSpPr>
        <p:spPr>
          <a:xfrm>
            <a:off x="4312800" y="3246120"/>
            <a:ext cx="356580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400" b="1" u="none" strike="noStrike">
                <a:solidFill>
                  <a:srgbClr val="FFFFFF"/>
                </a:solidFill>
                <a:effectLst/>
                <a:uFillTx/>
                <a:latin typeface="Calibri"/>
              </a:rPr>
              <a:t>CareFirst</a:t>
            </a:r>
            <a:endParaRPr lang="en-IN" sz="1400" b="0" u="none" strike="noStrike">
              <a:solidFill>
                <a:srgbClr val="000000"/>
              </a:solidFill>
              <a:effectLst/>
              <a:uFillTx/>
              <a:latin typeface="Arial"/>
            </a:endParaRPr>
          </a:p>
          <a:p>
            <a:pPr algn="ctr" defTabSz="457200">
              <a:lnSpc>
                <a:spcPct val="115000"/>
              </a:lnSpc>
            </a:pPr>
            <a:r>
              <a:rPr lang="en-US" sz="1400" b="1" u="none" strike="noStrike">
                <a:solidFill>
                  <a:srgbClr val="FFFFFF"/>
                </a:solidFill>
                <a:effectLst/>
                <a:uFillTx/>
                <a:latin typeface="Calibri"/>
              </a:rPr>
              <a:t>(Healthcare)</a:t>
            </a:r>
            <a:endParaRPr lang="en-IN" sz="1400" b="0" u="none" strike="noStrike">
              <a:solidFill>
                <a:srgbClr val="000000"/>
              </a:solidFill>
              <a:effectLst/>
              <a:uFillTx/>
              <a:latin typeface="Arial"/>
            </a:endParaRPr>
          </a:p>
        </p:txBody>
      </p:sp>
      <p:sp>
        <p:nvSpPr>
          <p:cNvPr id="459" name="Rectangle 20"/>
          <p:cNvSpPr/>
          <p:nvPr/>
        </p:nvSpPr>
        <p:spPr>
          <a:xfrm>
            <a:off x="4587120" y="3931920"/>
            <a:ext cx="3017160" cy="1800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460" name="TextBox 21"/>
          <p:cNvSpPr/>
          <p:nvPr/>
        </p:nvSpPr>
        <p:spPr>
          <a:xfrm>
            <a:off x="4495680" y="4069080"/>
            <a:ext cx="3200040" cy="1279800"/>
          </a:xfrm>
          <a:prstGeom prst="rect">
            <a:avLst/>
          </a:prstGeom>
          <a:noFill/>
          <a:ln w="0">
            <a:noFill/>
          </a:ln>
        </p:spPr>
        <p:style>
          <a:lnRef idx="0"/>
          <a:fillRef idx="0"/>
          <a:effectRef idx="0"/>
          <a:fontRef idx="minor"/>
        </p:style>
        <p:txBody>
          <a:bodyPr lIns="50760" tIns="25560" rIns="50760" bIns="25560" anchor="t">
            <a:spAutoFit/>
          </a:bodyPr>
          <a:p>
            <a:pPr defTabSz="457200">
              <a:lnSpc>
                <a:spcPct val="140000"/>
              </a:lnSpc>
            </a:pPr>
            <a:r>
              <a:rPr lang="en-US" sz="1050" b="0" u="none" strike="noStrike">
                <a:solidFill>
                  <a:srgbClr val="FFFFFF"/>
                </a:solidFill>
                <a:effectLst/>
                <a:uFillTx/>
                <a:latin typeface="Calibri"/>
              </a:rPr>
              <a:t>HIPAA + HITECH</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FFFFFF"/>
                </a:solidFill>
                <a:effectLst/>
                <a:uFillTx/>
                <a:latin typeface="Calibri"/>
              </a:rPr>
              <a:t>ML-KEM keys: 0xC2...</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FFFFFF"/>
                </a:solidFill>
                <a:effectLst/>
                <a:uFillTx/>
                <a:latin typeface="Calibri"/>
              </a:rPr>
              <a:t>OPA policy: phi-strict</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FFFFFF"/>
                </a:solidFill>
                <a:effectLst/>
                <a:uFillTx/>
                <a:latin typeface="Calibri"/>
              </a:rPr>
              <a:t>Audit log: append-only</a:t>
            </a:r>
            <a:endParaRPr lang="en-IN" sz="1050" b="0" u="none" strike="noStrike">
              <a:solidFill>
                <a:srgbClr val="000000"/>
              </a:solidFill>
              <a:effectLst/>
              <a:uFillTx/>
              <a:latin typeface="Arial"/>
            </a:endParaRPr>
          </a:p>
        </p:txBody>
      </p:sp>
      <p:sp>
        <p:nvSpPr>
          <p:cNvPr id="461" name="Rounded Rectangle 22"/>
          <p:cNvSpPr/>
          <p:nvPr/>
        </p:nvSpPr>
        <p:spPr>
          <a:xfrm>
            <a:off x="8153280" y="2651760"/>
            <a:ext cx="3565800" cy="2742840"/>
          </a:xfrm>
          <a:prstGeom prst="roundRect">
            <a:avLst>
              <a:gd name="adj" fmla="val 12000"/>
            </a:avLst>
          </a:prstGeom>
          <a:solidFill>
            <a:srgbClr val="1A2D5A"/>
          </a:solidFill>
          <a:ln w="3175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2" name="Rounded Rectangle 23"/>
          <p:cNvSpPr/>
          <p:nvPr/>
        </p:nvSpPr>
        <p:spPr>
          <a:xfrm>
            <a:off x="8336160" y="2788920"/>
            <a:ext cx="3200040" cy="365400"/>
          </a:xfrm>
          <a:prstGeom prst="roundRect">
            <a:avLst>
              <a:gd name="adj" fmla="val 50000"/>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FFFFFF"/>
                </a:solidFill>
                <a:effectLst/>
                <a:uFillTx/>
                <a:latin typeface="Calibri"/>
              </a:rPr>
              <a:t>TENANT C</a:t>
            </a:r>
            <a:endParaRPr lang="en-IN" sz="1200" b="0" u="none" strike="noStrike">
              <a:solidFill>
                <a:srgbClr val="FFFFFF"/>
              </a:solidFill>
              <a:effectLst/>
              <a:uFillTx/>
              <a:latin typeface="Arial"/>
            </a:endParaRPr>
          </a:p>
        </p:txBody>
      </p:sp>
      <p:sp>
        <p:nvSpPr>
          <p:cNvPr id="463" name="TextBox 24"/>
          <p:cNvSpPr/>
          <p:nvPr/>
        </p:nvSpPr>
        <p:spPr>
          <a:xfrm>
            <a:off x="8153280" y="3246120"/>
            <a:ext cx="356580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400" b="1" u="none" strike="noStrike">
                <a:solidFill>
                  <a:srgbClr val="FFFFFF"/>
                </a:solidFill>
                <a:effectLst/>
                <a:uFillTx/>
                <a:latin typeface="Calibri"/>
              </a:rPr>
              <a:t>ShopRight</a:t>
            </a:r>
            <a:endParaRPr lang="en-IN" sz="1400" b="0" u="none" strike="noStrike">
              <a:solidFill>
                <a:srgbClr val="000000"/>
              </a:solidFill>
              <a:effectLst/>
              <a:uFillTx/>
              <a:latin typeface="Arial"/>
            </a:endParaRPr>
          </a:p>
          <a:p>
            <a:pPr algn="ctr" defTabSz="457200">
              <a:lnSpc>
                <a:spcPct val="115000"/>
              </a:lnSpc>
            </a:pPr>
            <a:r>
              <a:rPr lang="en-US" sz="1400" b="1" u="none" strike="noStrike">
                <a:solidFill>
                  <a:srgbClr val="FFFFFF"/>
                </a:solidFill>
                <a:effectLst/>
                <a:uFillTx/>
                <a:latin typeface="Calibri"/>
              </a:rPr>
              <a:t>(Retail)</a:t>
            </a:r>
            <a:endParaRPr lang="en-IN" sz="1400" b="0" u="none" strike="noStrike">
              <a:solidFill>
                <a:srgbClr val="000000"/>
              </a:solidFill>
              <a:effectLst/>
              <a:uFillTx/>
              <a:latin typeface="Arial"/>
            </a:endParaRPr>
          </a:p>
        </p:txBody>
      </p:sp>
      <p:sp>
        <p:nvSpPr>
          <p:cNvPr id="464" name="Rectangle 25"/>
          <p:cNvSpPr/>
          <p:nvPr/>
        </p:nvSpPr>
        <p:spPr>
          <a:xfrm>
            <a:off x="8427600" y="3931920"/>
            <a:ext cx="301716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465" name="TextBox 26"/>
          <p:cNvSpPr/>
          <p:nvPr/>
        </p:nvSpPr>
        <p:spPr>
          <a:xfrm>
            <a:off x="8336160" y="4069080"/>
            <a:ext cx="3200040" cy="1279800"/>
          </a:xfrm>
          <a:prstGeom prst="rect">
            <a:avLst/>
          </a:prstGeom>
          <a:noFill/>
          <a:ln w="0">
            <a:noFill/>
          </a:ln>
        </p:spPr>
        <p:style>
          <a:lnRef idx="0"/>
          <a:fillRef idx="0"/>
          <a:effectRef idx="0"/>
          <a:fontRef idx="minor"/>
        </p:style>
        <p:txBody>
          <a:bodyPr lIns="50760" tIns="25560" rIns="50760" bIns="25560" anchor="t">
            <a:spAutoFit/>
          </a:bodyPr>
          <a:p>
            <a:pPr defTabSz="457200">
              <a:lnSpc>
                <a:spcPct val="140000"/>
              </a:lnSpc>
            </a:pPr>
            <a:r>
              <a:rPr lang="en-US" sz="1050" b="0" u="none" strike="noStrike">
                <a:solidFill>
                  <a:srgbClr val="FFFFFF"/>
                </a:solidFill>
                <a:effectLst/>
                <a:uFillTx/>
                <a:latin typeface="Calibri"/>
              </a:rPr>
              <a:t>PCI-DSS + GDPR + TCPA</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FFFFFF"/>
                </a:solidFill>
                <a:effectLst/>
                <a:uFillTx/>
                <a:latin typeface="Calibri"/>
              </a:rPr>
              <a:t>ML-KEM keys: 0xE9...</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FFFFFF"/>
                </a:solidFill>
                <a:effectLst/>
                <a:uFillTx/>
                <a:latin typeface="Calibri"/>
              </a:rPr>
              <a:t>OPA policy: retail-strict</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FFFFFF"/>
                </a:solidFill>
                <a:effectLst/>
                <a:uFillTx/>
                <a:latin typeface="Calibri"/>
              </a:rPr>
              <a:t>Audit log: append-only</a:t>
            </a:r>
            <a:endParaRPr lang="en-IN" sz="1050" b="0" u="none" strike="noStrike">
              <a:solidFill>
                <a:srgbClr val="000000"/>
              </a:solidFill>
              <a:effectLst/>
              <a:uFillTx/>
              <a:latin typeface="Arial"/>
            </a:endParaRPr>
          </a:p>
        </p:txBody>
      </p:sp>
      <p:sp>
        <p:nvSpPr>
          <p:cNvPr id="466" name="Rounded Rectangle 27"/>
          <p:cNvSpPr/>
          <p:nvPr/>
        </p:nvSpPr>
        <p:spPr>
          <a:xfrm>
            <a:off x="457200" y="5577840"/>
            <a:ext cx="11274120" cy="776880"/>
          </a:xfrm>
          <a:prstGeom prst="roundRect">
            <a:avLst>
              <a:gd name="adj" fmla="val 12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300" b="1" u="none" strike="noStrike">
                <a:solidFill>
                  <a:srgbClr val="0D1B3E"/>
                </a:solidFill>
                <a:effectLst/>
                <a:uFillTx/>
                <a:latin typeface="Calibri"/>
              </a:rPr>
              <a:t>Cross-tenant data access is structurally impossible.  Each tenant's evidence pack contains only that tenant's data.  Generation time: &lt;10 minutes per framework, per tenant.</a:t>
            </a:r>
            <a:endParaRPr lang="en-IN" sz="1300" b="0" u="none" strike="noStrike">
              <a:solidFill>
                <a:srgbClr val="000000"/>
              </a:solidFill>
              <a:effectLst/>
              <a:uFillTx/>
              <a:latin typeface="Arial"/>
            </a:endParaRPr>
          </a:p>
        </p:txBody>
      </p:sp>
      <p:sp>
        <p:nvSpPr>
          <p:cNvPr id="467" name="Rectangle 28"/>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8" name="Rectangle 29"/>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469" name="TextBox 30"/>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470" name="TextBox 31"/>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12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3"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4"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JOINT VALUE — FOR TCN</a:t>
            </a:r>
            <a:endParaRPr lang="en-IN" sz="1800" b="0" u="none" strike="noStrike">
              <a:solidFill>
                <a:srgbClr val="000000"/>
              </a:solidFill>
              <a:effectLst/>
              <a:uFillTx/>
              <a:latin typeface="Arial"/>
            </a:endParaRPr>
          </a:p>
        </p:txBody>
      </p:sp>
      <p:sp>
        <p:nvSpPr>
          <p:cNvPr id="475"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New revenue line • Higher ACV • Defensive moat • Win-rate lift</a:t>
            </a:r>
            <a:endParaRPr lang="en-IN" sz="1050" b="0" u="none" strike="noStrike">
              <a:solidFill>
                <a:srgbClr val="000000"/>
              </a:solidFill>
              <a:effectLst/>
              <a:uFillTx/>
              <a:latin typeface="Arial"/>
            </a:endParaRPr>
          </a:p>
        </p:txBody>
      </p:sp>
      <p:sp>
        <p:nvSpPr>
          <p:cNvPr id="476"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477" name="Oval 7"/>
          <p:cNvSpPr/>
          <p:nvPr/>
        </p:nvSpPr>
        <p:spPr>
          <a:xfrm>
            <a:off x="548640" y="1143000"/>
            <a:ext cx="456840" cy="4568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1</a:t>
            </a:r>
            <a:endParaRPr lang="en-IN" sz="1400" b="0" u="none" strike="noStrike">
              <a:solidFill>
                <a:srgbClr val="000000"/>
              </a:solidFill>
              <a:effectLst/>
              <a:uFillTx/>
              <a:latin typeface="Arial"/>
            </a:endParaRPr>
          </a:p>
        </p:txBody>
      </p:sp>
      <p:sp>
        <p:nvSpPr>
          <p:cNvPr id="478" name="TextBox 8"/>
          <p:cNvSpPr/>
          <p:nvPr/>
        </p:nvSpPr>
        <p:spPr>
          <a:xfrm>
            <a:off x="1188720" y="1005840"/>
            <a:ext cx="10058040" cy="36540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1" u="none" strike="noStrike">
                <a:solidFill>
                  <a:srgbClr val="0D1B3E"/>
                </a:solidFill>
                <a:effectLst/>
                <a:uFillTx/>
                <a:latin typeface="Calibri"/>
              </a:rPr>
              <a:t>New revenue line per existing customer</a:t>
            </a:r>
            <a:endParaRPr lang="en-IN" sz="1400" b="0" u="none" strike="noStrike">
              <a:solidFill>
                <a:srgbClr val="000000"/>
              </a:solidFill>
              <a:effectLst/>
              <a:uFillTx/>
              <a:latin typeface="Arial"/>
            </a:endParaRPr>
          </a:p>
        </p:txBody>
      </p:sp>
      <p:sp>
        <p:nvSpPr>
          <p:cNvPr id="479" name="TextBox 9"/>
          <p:cNvSpPr/>
          <p:nvPr/>
        </p:nvSpPr>
        <p:spPr>
          <a:xfrm>
            <a:off x="1188720" y="1353240"/>
            <a:ext cx="10058040" cy="63972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100" b="0" u="none" strike="noStrike">
                <a:solidFill>
                  <a:srgbClr val="1A1A2E"/>
                </a:solidFill>
                <a:effectLst/>
                <a:uFillTx/>
                <a:latin typeface="Calibri"/>
              </a:rPr>
              <a:t>Embedded QBITEL SKU billable per concurrent seat. Revenue share with TCN.</a:t>
            </a:r>
            <a:endParaRPr lang="en-IN" sz="1100" b="0" u="none" strike="noStrike">
              <a:solidFill>
                <a:srgbClr val="000000"/>
              </a:solidFill>
              <a:effectLst/>
              <a:uFillTx/>
              <a:latin typeface="Arial"/>
            </a:endParaRPr>
          </a:p>
        </p:txBody>
      </p:sp>
      <p:sp>
        <p:nvSpPr>
          <p:cNvPr id="480" name="Oval 10"/>
          <p:cNvSpPr/>
          <p:nvPr/>
        </p:nvSpPr>
        <p:spPr>
          <a:xfrm>
            <a:off x="548640" y="2148840"/>
            <a:ext cx="456840" cy="4568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2</a:t>
            </a:r>
            <a:endParaRPr lang="en-IN" sz="1400" b="0" u="none" strike="noStrike">
              <a:solidFill>
                <a:srgbClr val="000000"/>
              </a:solidFill>
              <a:effectLst/>
              <a:uFillTx/>
              <a:latin typeface="Arial"/>
            </a:endParaRPr>
          </a:p>
        </p:txBody>
      </p:sp>
      <p:sp>
        <p:nvSpPr>
          <p:cNvPr id="481" name="TextBox 11"/>
          <p:cNvSpPr/>
          <p:nvPr/>
        </p:nvSpPr>
        <p:spPr>
          <a:xfrm>
            <a:off x="1188720" y="2011680"/>
            <a:ext cx="10058040" cy="36540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1" u="none" strike="noStrike">
                <a:solidFill>
                  <a:srgbClr val="0D1B3E"/>
                </a:solidFill>
                <a:effectLst/>
                <a:uFillTx/>
                <a:latin typeface="Calibri"/>
              </a:rPr>
              <a:t>Higher ACV at quota-bag level</a:t>
            </a:r>
            <a:endParaRPr lang="en-IN" sz="1400" b="0" u="none" strike="noStrike">
              <a:solidFill>
                <a:srgbClr val="000000"/>
              </a:solidFill>
              <a:effectLst/>
              <a:uFillTx/>
              <a:latin typeface="Arial"/>
            </a:endParaRPr>
          </a:p>
        </p:txBody>
      </p:sp>
      <p:sp>
        <p:nvSpPr>
          <p:cNvPr id="482" name="TextBox 12"/>
          <p:cNvSpPr/>
          <p:nvPr/>
        </p:nvSpPr>
        <p:spPr>
          <a:xfrm>
            <a:off x="1188720" y="2359080"/>
            <a:ext cx="10058040" cy="63972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100" b="0" u="none" strike="noStrike">
                <a:solidFill>
                  <a:srgbClr val="1A1A2E"/>
                </a:solidFill>
                <a:effectLst/>
                <a:uFillTx/>
                <a:latin typeface="Calibri"/>
              </a:rPr>
              <a:t>TCN AEs sell one platform; QBITEL adds materially to ACV — typical 15–30% ARR uplift on a BPO account.</a:t>
            </a:r>
            <a:endParaRPr lang="en-IN" sz="1100" b="0" u="none" strike="noStrike">
              <a:solidFill>
                <a:srgbClr val="000000"/>
              </a:solidFill>
              <a:effectLst/>
              <a:uFillTx/>
              <a:latin typeface="Arial"/>
            </a:endParaRPr>
          </a:p>
        </p:txBody>
      </p:sp>
      <p:sp>
        <p:nvSpPr>
          <p:cNvPr id="483" name="Oval 13"/>
          <p:cNvSpPr/>
          <p:nvPr/>
        </p:nvSpPr>
        <p:spPr>
          <a:xfrm>
            <a:off x="548640" y="3154680"/>
            <a:ext cx="456840" cy="4568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3</a:t>
            </a:r>
            <a:endParaRPr lang="en-IN" sz="1400" b="0" u="none" strike="noStrike">
              <a:solidFill>
                <a:srgbClr val="000000"/>
              </a:solidFill>
              <a:effectLst/>
              <a:uFillTx/>
              <a:latin typeface="Arial"/>
            </a:endParaRPr>
          </a:p>
        </p:txBody>
      </p:sp>
      <p:sp>
        <p:nvSpPr>
          <p:cNvPr id="484" name="TextBox 14"/>
          <p:cNvSpPr/>
          <p:nvPr/>
        </p:nvSpPr>
        <p:spPr>
          <a:xfrm>
            <a:off x="1188720" y="3017520"/>
            <a:ext cx="10058040" cy="36540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1" u="none" strike="noStrike">
                <a:solidFill>
                  <a:srgbClr val="0D1B3E"/>
                </a:solidFill>
                <a:effectLst/>
                <a:uFillTx/>
                <a:latin typeface="Calibri"/>
              </a:rPr>
              <a:t>Defensive moat</a:t>
            </a:r>
            <a:endParaRPr lang="en-IN" sz="1400" b="0" u="none" strike="noStrike">
              <a:solidFill>
                <a:srgbClr val="000000"/>
              </a:solidFill>
              <a:effectLst/>
              <a:uFillTx/>
              <a:latin typeface="Arial"/>
            </a:endParaRPr>
          </a:p>
        </p:txBody>
      </p:sp>
      <p:sp>
        <p:nvSpPr>
          <p:cNvPr id="485" name="TextBox 15"/>
          <p:cNvSpPr/>
          <p:nvPr/>
        </p:nvSpPr>
        <p:spPr>
          <a:xfrm>
            <a:off x="1188720" y="3364920"/>
            <a:ext cx="10058040" cy="63972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100" b="0" u="none" strike="noStrike">
                <a:solidFill>
                  <a:srgbClr val="1A1A2E"/>
                </a:solidFill>
                <a:effectLst/>
                <a:uFillTx/>
                <a:latin typeface="Calibri"/>
              </a:rPr>
              <a:t>"TCN is the only CCaaS with embedded NIST Level 5 PQC and multi-tenant compliance automation" — a category-of-one positioning.</a:t>
            </a:r>
            <a:endParaRPr lang="en-IN" sz="1100" b="0" u="none" strike="noStrike">
              <a:solidFill>
                <a:srgbClr val="000000"/>
              </a:solidFill>
              <a:effectLst/>
              <a:uFillTx/>
              <a:latin typeface="Arial"/>
            </a:endParaRPr>
          </a:p>
        </p:txBody>
      </p:sp>
      <p:sp>
        <p:nvSpPr>
          <p:cNvPr id="486" name="Oval 16"/>
          <p:cNvSpPr/>
          <p:nvPr/>
        </p:nvSpPr>
        <p:spPr>
          <a:xfrm>
            <a:off x="548640" y="4160520"/>
            <a:ext cx="456840" cy="4568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4</a:t>
            </a:r>
            <a:endParaRPr lang="en-IN" sz="1400" b="0" u="none" strike="noStrike">
              <a:solidFill>
                <a:srgbClr val="000000"/>
              </a:solidFill>
              <a:effectLst/>
              <a:uFillTx/>
              <a:latin typeface="Arial"/>
            </a:endParaRPr>
          </a:p>
        </p:txBody>
      </p:sp>
      <p:sp>
        <p:nvSpPr>
          <p:cNvPr id="487" name="TextBox 17"/>
          <p:cNvSpPr/>
          <p:nvPr/>
        </p:nvSpPr>
        <p:spPr>
          <a:xfrm>
            <a:off x="1188720" y="4023360"/>
            <a:ext cx="10058040" cy="36540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1" u="none" strike="noStrike">
                <a:solidFill>
                  <a:srgbClr val="0D1B3E"/>
                </a:solidFill>
                <a:effectLst/>
                <a:uFillTx/>
                <a:latin typeface="Calibri"/>
              </a:rPr>
              <a:t>RFP win-rate lift</a:t>
            </a:r>
            <a:endParaRPr lang="en-IN" sz="1400" b="0" u="none" strike="noStrike">
              <a:solidFill>
                <a:srgbClr val="000000"/>
              </a:solidFill>
              <a:effectLst/>
              <a:uFillTx/>
              <a:latin typeface="Arial"/>
            </a:endParaRPr>
          </a:p>
        </p:txBody>
      </p:sp>
      <p:sp>
        <p:nvSpPr>
          <p:cNvPr id="488" name="TextBox 18"/>
          <p:cNvSpPr/>
          <p:nvPr/>
        </p:nvSpPr>
        <p:spPr>
          <a:xfrm>
            <a:off x="1188720" y="4370760"/>
            <a:ext cx="10058040" cy="63972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100" b="0" u="none" strike="noStrike">
                <a:solidFill>
                  <a:srgbClr val="1A1A2E"/>
                </a:solidFill>
                <a:effectLst/>
                <a:uFillTx/>
                <a:latin typeface="Calibri"/>
              </a:rPr>
              <a:t>BPO and regulated-enterprise RFPs increasingly include PQC, multi-tenant compliance, and toll-fraud SLAs. TCN + QBITEL answers them; TCN alone has to caveat.</a:t>
            </a:r>
            <a:endParaRPr lang="en-IN" sz="1100" b="0" u="none" strike="noStrike">
              <a:solidFill>
                <a:srgbClr val="000000"/>
              </a:solidFill>
              <a:effectLst/>
              <a:uFillTx/>
              <a:latin typeface="Arial"/>
            </a:endParaRPr>
          </a:p>
        </p:txBody>
      </p:sp>
      <p:sp>
        <p:nvSpPr>
          <p:cNvPr id="489" name="Oval 19"/>
          <p:cNvSpPr/>
          <p:nvPr/>
        </p:nvSpPr>
        <p:spPr>
          <a:xfrm>
            <a:off x="548640" y="5166360"/>
            <a:ext cx="456840" cy="45684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5</a:t>
            </a:r>
            <a:endParaRPr lang="en-IN" sz="1400" b="0" u="none" strike="noStrike">
              <a:solidFill>
                <a:srgbClr val="000000"/>
              </a:solidFill>
              <a:effectLst/>
              <a:uFillTx/>
              <a:latin typeface="Arial"/>
            </a:endParaRPr>
          </a:p>
        </p:txBody>
      </p:sp>
      <p:sp>
        <p:nvSpPr>
          <p:cNvPr id="490" name="TextBox 20"/>
          <p:cNvSpPr/>
          <p:nvPr/>
        </p:nvSpPr>
        <p:spPr>
          <a:xfrm>
            <a:off x="1188720" y="5029200"/>
            <a:ext cx="10058040" cy="36540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400" b="1" u="none" strike="noStrike">
                <a:solidFill>
                  <a:srgbClr val="0D1B3E"/>
                </a:solidFill>
                <a:effectLst/>
                <a:uFillTx/>
                <a:latin typeface="Calibri"/>
              </a:rPr>
              <a:t>Reduced churn on regulated accounts</a:t>
            </a:r>
            <a:endParaRPr lang="en-IN" sz="1400" b="0" u="none" strike="noStrike">
              <a:solidFill>
                <a:srgbClr val="000000"/>
              </a:solidFill>
              <a:effectLst/>
              <a:uFillTx/>
              <a:latin typeface="Arial"/>
            </a:endParaRPr>
          </a:p>
        </p:txBody>
      </p:sp>
      <p:sp>
        <p:nvSpPr>
          <p:cNvPr id="491" name="TextBox 21"/>
          <p:cNvSpPr/>
          <p:nvPr/>
        </p:nvSpPr>
        <p:spPr>
          <a:xfrm>
            <a:off x="1188720" y="5376600"/>
            <a:ext cx="10058040" cy="63972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100" b="0" u="none" strike="noStrike">
                <a:solidFill>
                  <a:srgbClr val="1A1A2E"/>
                </a:solidFill>
                <a:effectLst/>
                <a:uFillTx/>
                <a:latin typeface="Calibri"/>
              </a:rPr>
              <a:t>Compliance pack delivery removes a recurring pain point that often becomes a contract-renewal risk.</a:t>
            </a:r>
            <a:endParaRPr lang="en-IN" sz="1100" b="0" u="none" strike="noStrike">
              <a:solidFill>
                <a:srgbClr val="000000"/>
              </a:solidFill>
              <a:effectLst/>
              <a:uFillTx/>
              <a:latin typeface="Arial"/>
            </a:endParaRPr>
          </a:p>
        </p:txBody>
      </p:sp>
      <p:sp>
        <p:nvSpPr>
          <p:cNvPr id="492" name="Rectangle 22"/>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3" name="Rectangle 23"/>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494" name="TextBox 24"/>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495" name="TextBox 25"/>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13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7"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8"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9"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JOINT VALUE — FOR TCN'S CUSTOMERS</a:t>
            </a:r>
            <a:endParaRPr lang="en-IN" sz="1800" b="0" u="none" strike="noStrike">
              <a:solidFill>
                <a:srgbClr val="000000"/>
              </a:solidFill>
              <a:effectLst/>
              <a:uFillTx/>
              <a:latin typeface="Arial"/>
            </a:endParaRPr>
          </a:p>
        </p:txBody>
      </p:sp>
      <p:sp>
        <p:nvSpPr>
          <p:cNvPr id="500"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Where each customer pain meets a measurable QBITEL outcome</a:t>
            </a:r>
            <a:endParaRPr lang="en-IN" sz="1050" b="0" u="none" strike="noStrike">
              <a:solidFill>
                <a:srgbClr val="000000"/>
              </a:solidFill>
              <a:effectLst/>
              <a:uFillTx/>
              <a:latin typeface="Arial"/>
            </a:endParaRPr>
          </a:p>
        </p:txBody>
      </p:sp>
      <p:sp>
        <p:nvSpPr>
          <p:cNvPr id="501"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502" name="Rectangle 7"/>
          <p:cNvSpPr/>
          <p:nvPr/>
        </p:nvSpPr>
        <p:spPr>
          <a:xfrm>
            <a:off x="457200" y="1005840"/>
            <a:ext cx="5486040" cy="4111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200" b="1" u="none" strike="noStrike">
                <a:solidFill>
                  <a:srgbClr val="FFFFFF"/>
                </a:solidFill>
                <a:effectLst/>
                <a:uFillTx/>
                <a:latin typeface="Calibri"/>
              </a:rPr>
              <a:t>CUSTOMER PAIN</a:t>
            </a:r>
            <a:endParaRPr lang="en-IN" sz="1200" b="0" u="none" strike="noStrike">
              <a:solidFill>
                <a:srgbClr val="FFFFFF"/>
              </a:solidFill>
              <a:effectLst/>
              <a:uFillTx/>
              <a:latin typeface="Arial"/>
            </a:endParaRPr>
          </a:p>
        </p:txBody>
      </p:sp>
      <p:sp>
        <p:nvSpPr>
          <p:cNvPr id="503" name="Rectangle 8"/>
          <p:cNvSpPr/>
          <p:nvPr/>
        </p:nvSpPr>
        <p:spPr>
          <a:xfrm>
            <a:off x="6035040" y="1005840"/>
            <a:ext cx="5696280" cy="411120"/>
          </a:xfrm>
          <a:prstGeom prst="rect">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7080" tIns="25560" rIns="50760" bIns="25560" anchor="ctr">
            <a:noAutofit/>
          </a:bodyPr>
          <a:p>
            <a:pPr defTabSz="457200">
              <a:lnSpc>
                <a:spcPct val="115000"/>
              </a:lnSpc>
            </a:pPr>
            <a:r>
              <a:rPr lang="en-US" sz="1200" b="1" u="none" strike="noStrike">
                <a:solidFill>
                  <a:srgbClr val="FFFFFF"/>
                </a:solidFill>
                <a:effectLst/>
                <a:uFillTx/>
                <a:latin typeface="Calibri"/>
              </a:rPr>
              <a:t>WHAT THEY GET WITH QBITEL</a:t>
            </a:r>
            <a:endParaRPr lang="en-IN" sz="1200" b="0" u="none" strike="noStrike">
              <a:solidFill>
                <a:srgbClr val="FFFFFF"/>
              </a:solidFill>
              <a:effectLst/>
              <a:uFillTx/>
              <a:latin typeface="Arial"/>
            </a:endParaRPr>
          </a:p>
        </p:txBody>
      </p:sp>
      <p:sp>
        <p:nvSpPr>
          <p:cNvPr id="504" name="Rectangle 9"/>
          <p:cNvSpPr/>
          <p:nvPr/>
        </p:nvSpPr>
        <p:spPr>
          <a:xfrm>
            <a:off x="457200" y="1463040"/>
            <a:ext cx="5486040" cy="71280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0" u="none" strike="noStrike">
                <a:solidFill>
                  <a:srgbClr val="1A1A2E"/>
                </a:solidFill>
                <a:effectLst/>
                <a:uFillTx/>
                <a:latin typeface="Calibri"/>
              </a:rPr>
              <a:t>Toll-fraud surprises on monthly carrier invoice</a:t>
            </a:r>
            <a:endParaRPr lang="en-IN" sz="1100" b="0" u="none" strike="noStrike">
              <a:solidFill>
                <a:srgbClr val="000000"/>
              </a:solidFill>
              <a:effectLst/>
              <a:uFillTx/>
              <a:latin typeface="Arial"/>
            </a:endParaRPr>
          </a:p>
        </p:txBody>
      </p:sp>
      <p:sp>
        <p:nvSpPr>
          <p:cNvPr id="505" name="Rectangle 10"/>
          <p:cNvSpPr/>
          <p:nvPr/>
        </p:nvSpPr>
        <p:spPr>
          <a:xfrm>
            <a:off x="6035040" y="1463040"/>
            <a:ext cx="5696280" cy="71280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1" u="none" strike="noStrike">
                <a:solidFill>
                  <a:srgbClr val="006B7A"/>
                </a:solidFill>
                <a:effectLst/>
                <a:uFillTx/>
                <a:latin typeface="Calibri"/>
              </a:rPr>
              <a:t>Real-time blocking, &lt;1s detection, 30–60 day ROI on the QBITEL SKU</a:t>
            </a:r>
            <a:endParaRPr lang="en-IN" sz="1100" b="0" u="none" strike="noStrike">
              <a:solidFill>
                <a:srgbClr val="000000"/>
              </a:solidFill>
              <a:effectLst/>
              <a:uFillTx/>
              <a:latin typeface="Arial"/>
            </a:endParaRPr>
          </a:p>
        </p:txBody>
      </p:sp>
      <p:sp>
        <p:nvSpPr>
          <p:cNvPr id="506" name="Right Arrow 11"/>
          <p:cNvSpPr/>
          <p:nvPr/>
        </p:nvSpPr>
        <p:spPr>
          <a:xfrm>
            <a:off x="5760720" y="1645920"/>
            <a:ext cx="273960" cy="347040"/>
          </a:xfrm>
          <a:prstGeom prst="right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7" name="Rectangle 12"/>
          <p:cNvSpPr/>
          <p:nvPr/>
        </p:nvSpPr>
        <p:spPr>
          <a:xfrm>
            <a:off x="457200" y="2221920"/>
            <a:ext cx="5486040" cy="7128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0" u="none" strike="noStrike">
                <a:solidFill>
                  <a:srgbClr val="1A1A2E"/>
                </a:solidFill>
                <a:effectLst/>
                <a:uFillTx/>
                <a:latin typeface="Calibri"/>
              </a:rPr>
              <a:t>Annual PCI-DSS audit costing $500K–$2M+</a:t>
            </a:r>
            <a:endParaRPr lang="en-IN" sz="1100" b="0" u="none" strike="noStrike">
              <a:solidFill>
                <a:srgbClr val="000000"/>
              </a:solidFill>
              <a:effectLst/>
              <a:uFillTx/>
              <a:latin typeface="Arial"/>
            </a:endParaRPr>
          </a:p>
        </p:txBody>
      </p:sp>
      <p:sp>
        <p:nvSpPr>
          <p:cNvPr id="508" name="Rectangle 13"/>
          <p:cNvSpPr/>
          <p:nvPr/>
        </p:nvSpPr>
        <p:spPr>
          <a:xfrm>
            <a:off x="6035040" y="2221920"/>
            <a:ext cx="5696280" cy="7128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1" u="none" strike="noStrike">
                <a:solidFill>
                  <a:srgbClr val="006B7A"/>
                </a:solidFill>
                <a:effectLst/>
                <a:uFillTx/>
                <a:latin typeface="Calibri"/>
              </a:rPr>
              <a:t>Up to 80% scope reduction; evidence pack in &lt;10 minutes</a:t>
            </a:r>
            <a:endParaRPr lang="en-IN" sz="1100" b="0" u="none" strike="noStrike">
              <a:solidFill>
                <a:srgbClr val="000000"/>
              </a:solidFill>
              <a:effectLst/>
              <a:uFillTx/>
              <a:latin typeface="Arial"/>
            </a:endParaRPr>
          </a:p>
        </p:txBody>
      </p:sp>
      <p:sp>
        <p:nvSpPr>
          <p:cNvPr id="509" name="Right Arrow 14"/>
          <p:cNvSpPr/>
          <p:nvPr/>
        </p:nvSpPr>
        <p:spPr>
          <a:xfrm>
            <a:off x="5760720" y="2404800"/>
            <a:ext cx="273960" cy="347040"/>
          </a:xfrm>
          <a:prstGeom prst="right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0" name="Rectangle 15"/>
          <p:cNvSpPr/>
          <p:nvPr/>
        </p:nvSpPr>
        <p:spPr>
          <a:xfrm>
            <a:off x="457200" y="2980800"/>
            <a:ext cx="5486040" cy="71280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0" u="none" strike="noStrike">
                <a:solidFill>
                  <a:srgbClr val="1A1A2E"/>
                </a:solidFill>
                <a:effectLst/>
                <a:uFillTx/>
                <a:latin typeface="Calibri"/>
              </a:rPr>
              <a:t>Three enterprise clients = three separate audits</a:t>
            </a:r>
            <a:endParaRPr lang="en-IN" sz="1100" b="0" u="none" strike="noStrike">
              <a:solidFill>
                <a:srgbClr val="000000"/>
              </a:solidFill>
              <a:effectLst/>
              <a:uFillTx/>
              <a:latin typeface="Arial"/>
            </a:endParaRPr>
          </a:p>
        </p:txBody>
      </p:sp>
      <p:sp>
        <p:nvSpPr>
          <p:cNvPr id="511" name="Rectangle 16"/>
          <p:cNvSpPr/>
          <p:nvPr/>
        </p:nvSpPr>
        <p:spPr>
          <a:xfrm>
            <a:off x="6035040" y="2980800"/>
            <a:ext cx="5696280" cy="71280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1" u="none" strike="noStrike">
                <a:solidFill>
                  <a:srgbClr val="006B7A"/>
                </a:solidFill>
                <a:effectLst/>
                <a:uFillTx/>
                <a:latin typeface="Calibri"/>
              </a:rPr>
              <a:t>Per-tenant evidence packs; structural isolation; one platform</a:t>
            </a:r>
            <a:endParaRPr lang="en-IN" sz="1100" b="0" u="none" strike="noStrike">
              <a:solidFill>
                <a:srgbClr val="000000"/>
              </a:solidFill>
              <a:effectLst/>
              <a:uFillTx/>
              <a:latin typeface="Arial"/>
            </a:endParaRPr>
          </a:p>
        </p:txBody>
      </p:sp>
      <p:sp>
        <p:nvSpPr>
          <p:cNvPr id="512" name="Right Arrow 17"/>
          <p:cNvSpPr/>
          <p:nvPr/>
        </p:nvSpPr>
        <p:spPr>
          <a:xfrm>
            <a:off x="5760720" y="3163680"/>
            <a:ext cx="273960" cy="347040"/>
          </a:xfrm>
          <a:prstGeom prst="right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3" name="Rectangle 18"/>
          <p:cNvSpPr/>
          <p:nvPr/>
        </p:nvSpPr>
        <p:spPr>
          <a:xfrm>
            <a:off x="457200" y="3740040"/>
            <a:ext cx="5486040" cy="7128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0" u="none" strike="noStrike">
                <a:solidFill>
                  <a:srgbClr val="1A1A2E"/>
                </a:solidFill>
                <a:effectLst/>
                <a:uFillTx/>
                <a:latin typeface="Calibri"/>
              </a:rPr>
              <a:t>Quantum harvest against 7-year recording retention</a:t>
            </a:r>
            <a:endParaRPr lang="en-IN" sz="1100" b="0" u="none" strike="noStrike">
              <a:solidFill>
                <a:srgbClr val="000000"/>
              </a:solidFill>
              <a:effectLst/>
              <a:uFillTx/>
              <a:latin typeface="Arial"/>
            </a:endParaRPr>
          </a:p>
        </p:txBody>
      </p:sp>
      <p:sp>
        <p:nvSpPr>
          <p:cNvPr id="514" name="Rectangle 19"/>
          <p:cNvSpPr/>
          <p:nvPr/>
        </p:nvSpPr>
        <p:spPr>
          <a:xfrm>
            <a:off x="6035040" y="3740040"/>
            <a:ext cx="5696280" cy="7128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1" u="none" strike="noStrike">
                <a:solidFill>
                  <a:srgbClr val="006B7A"/>
                </a:solidFill>
                <a:effectLst/>
                <a:uFillTx/>
                <a:latin typeface="Calibri"/>
              </a:rPr>
              <a:t>ML-KEM-1024 recording encryption from day one</a:t>
            </a:r>
            <a:endParaRPr lang="en-IN" sz="1100" b="0" u="none" strike="noStrike">
              <a:solidFill>
                <a:srgbClr val="000000"/>
              </a:solidFill>
              <a:effectLst/>
              <a:uFillTx/>
              <a:latin typeface="Arial"/>
            </a:endParaRPr>
          </a:p>
        </p:txBody>
      </p:sp>
      <p:sp>
        <p:nvSpPr>
          <p:cNvPr id="515" name="Right Arrow 20"/>
          <p:cNvSpPr/>
          <p:nvPr/>
        </p:nvSpPr>
        <p:spPr>
          <a:xfrm>
            <a:off x="5760720" y="3922920"/>
            <a:ext cx="273960" cy="347040"/>
          </a:xfrm>
          <a:prstGeom prst="right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6" name="Rectangle 21"/>
          <p:cNvSpPr/>
          <p:nvPr/>
        </p:nvSpPr>
        <p:spPr>
          <a:xfrm>
            <a:off x="457200" y="4498920"/>
            <a:ext cx="5486040" cy="71280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0" u="none" strike="noStrike">
                <a:solidFill>
                  <a:srgbClr val="1A1A2E"/>
                </a:solidFill>
                <a:effectLst/>
                <a:uFillTx/>
                <a:latin typeface="Calibri"/>
              </a:rPr>
              <a:t>Insider exfiltration via clipboard, USB, screen, voice</a:t>
            </a:r>
            <a:endParaRPr lang="en-IN" sz="1100" b="0" u="none" strike="noStrike">
              <a:solidFill>
                <a:srgbClr val="000000"/>
              </a:solidFill>
              <a:effectLst/>
              <a:uFillTx/>
              <a:latin typeface="Arial"/>
            </a:endParaRPr>
          </a:p>
        </p:txBody>
      </p:sp>
      <p:sp>
        <p:nvSpPr>
          <p:cNvPr id="517" name="Rectangle 22"/>
          <p:cNvSpPr/>
          <p:nvPr/>
        </p:nvSpPr>
        <p:spPr>
          <a:xfrm>
            <a:off x="6035040" y="4498920"/>
            <a:ext cx="5696280" cy="712800"/>
          </a:xfrm>
          <a:prstGeom prst="rect">
            <a:avLst/>
          </a:prstGeom>
          <a:solidFill>
            <a:srgbClr val="F4F7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1" u="none" strike="noStrike">
                <a:solidFill>
                  <a:srgbClr val="006B7A"/>
                </a:solidFill>
                <a:effectLst/>
                <a:uFillTx/>
                <a:latin typeface="Calibri"/>
              </a:rPr>
              <a:t>Kernel-level DLP across 6 vectors</a:t>
            </a:r>
            <a:endParaRPr lang="en-IN" sz="1100" b="0" u="none" strike="noStrike">
              <a:solidFill>
                <a:srgbClr val="000000"/>
              </a:solidFill>
              <a:effectLst/>
              <a:uFillTx/>
              <a:latin typeface="Arial"/>
            </a:endParaRPr>
          </a:p>
        </p:txBody>
      </p:sp>
      <p:sp>
        <p:nvSpPr>
          <p:cNvPr id="518" name="Right Arrow 23"/>
          <p:cNvSpPr/>
          <p:nvPr/>
        </p:nvSpPr>
        <p:spPr>
          <a:xfrm>
            <a:off x="5760720" y="4681800"/>
            <a:ext cx="273960" cy="347040"/>
          </a:xfrm>
          <a:prstGeom prst="right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9" name="Rectangle 24"/>
          <p:cNvSpPr/>
          <p:nvPr/>
        </p:nvSpPr>
        <p:spPr>
          <a:xfrm>
            <a:off x="457200" y="5257800"/>
            <a:ext cx="5486040" cy="7128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0" u="none" strike="noStrike">
                <a:solidFill>
                  <a:srgbClr val="1A1A2E"/>
                </a:solidFill>
                <a:effectLst/>
                <a:uFillTx/>
                <a:latin typeface="Calibri"/>
              </a:rPr>
              <a:t>Remote agents on consumer-grade home networks</a:t>
            </a:r>
            <a:endParaRPr lang="en-IN" sz="1100" b="0" u="none" strike="noStrike">
              <a:solidFill>
                <a:srgbClr val="000000"/>
              </a:solidFill>
              <a:effectLst/>
              <a:uFillTx/>
              <a:latin typeface="Arial"/>
            </a:endParaRPr>
          </a:p>
        </p:txBody>
      </p:sp>
      <p:sp>
        <p:nvSpPr>
          <p:cNvPr id="520" name="Rectangle 25"/>
          <p:cNvSpPr/>
          <p:nvPr/>
        </p:nvSpPr>
        <p:spPr>
          <a:xfrm>
            <a:off x="6035040" y="5257800"/>
            <a:ext cx="5696280" cy="7128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52280" tIns="25560" rIns="50760" bIns="25560" anchor="ctr">
            <a:noAutofit/>
          </a:bodyPr>
          <a:p>
            <a:pPr defTabSz="457200">
              <a:lnSpc>
                <a:spcPct val="115000"/>
              </a:lnSpc>
            </a:pPr>
            <a:r>
              <a:rPr lang="en-US" sz="1100" b="1" u="none" strike="noStrike">
                <a:solidFill>
                  <a:srgbClr val="006B7A"/>
                </a:solidFill>
                <a:effectLst/>
                <a:uFillTx/>
                <a:latin typeface="Calibri"/>
              </a:rPr>
              <a:t>VPN-less PQC tunnels with continuous posture checks</a:t>
            </a:r>
            <a:endParaRPr lang="en-IN" sz="1100" b="0" u="none" strike="noStrike">
              <a:solidFill>
                <a:srgbClr val="000000"/>
              </a:solidFill>
              <a:effectLst/>
              <a:uFillTx/>
              <a:latin typeface="Arial"/>
            </a:endParaRPr>
          </a:p>
        </p:txBody>
      </p:sp>
      <p:sp>
        <p:nvSpPr>
          <p:cNvPr id="521" name="Right Arrow 26"/>
          <p:cNvSpPr/>
          <p:nvPr/>
        </p:nvSpPr>
        <p:spPr>
          <a:xfrm>
            <a:off x="5760720" y="5440680"/>
            <a:ext cx="273960" cy="347040"/>
          </a:xfrm>
          <a:prstGeom prst="right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2" name="Rectangle 27"/>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3" name="Rectangle 28"/>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524" name="TextBox 29"/>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525" name="TextBox 30"/>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14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7"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8"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9"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COMMERCIAL MODELS — THREE OPTIONS</a:t>
            </a:r>
            <a:endParaRPr lang="en-IN" sz="1800" b="0" u="none" strike="noStrike">
              <a:solidFill>
                <a:srgbClr val="000000"/>
              </a:solidFill>
              <a:effectLst/>
              <a:uFillTx/>
              <a:latin typeface="Arial"/>
            </a:endParaRPr>
          </a:p>
        </p:txBody>
      </p:sp>
      <p:sp>
        <p:nvSpPr>
          <p:cNvPr id="530"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We are flexible — pick the structure that matches your existing partner motion</a:t>
            </a:r>
            <a:endParaRPr lang="en-IN" sz="1050" b="0" u="none" strike="noStrike">
              <a:solidFill>
                <a:srgbClr val="000000"/>
              </a:solidFill>
              <a:effectLst/>
              <a:uFillTx/>
              <a:latin typeface="Arial"/>
            </a:endParaRPr>
          </a:p>
        </p:txBody>
      </p:sp>
      <p:sp>
        <p:nvSpPr>
          <p:cNvPr id="531"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532" name="Rounded Rectangle 7"/>
          <p:cNvSpPr/>
          <p:nvPr/>
        </p:nvSpPr>
        <p:spPr>
          <a:xfrm>
            <a:off x="453960" y="1005840"/>
            <a:ext cx="3657240" cy="4937400"/>
          </a:xfrm>
          <a:prstGeom prst="roundRect">
            <a:avLst>
              <a:gd name="adj" fmla="val 12000"/>
            </a:avLst>
          </a:prstGeom>
          <a:solidFill>
            <a:srgbClr val="0D1B3E"/>
          </a:solidFill>
          <a:ln w="31750">
            <a:solidFill>
              <a:srgbClr val="0D1B3E"/>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3" name="Oval 8"/>
          <p:cNvSpPr/>
          <p:nvPr/>
        </p:nvSpPr>
        <p:spPr>
          <a:xfrm>
            <a:off x="636840" y="1188720"/>
            <a:ext cx="776880" cy="776880"/>
          </a:xfrm>
          <a:prstGeom prst="ellipse">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3600" b="1" u="none" strike="noStrike">
                <a:solidFill>
                  <a:srgbClr val="FFFFFF"/>
                </a:solidFill>
                <a:effectLst/>
                <a:uFillTx/>
                <a:latin typeface="Calibri"/>
              </a:rPr>
              <a:t>A</a:t>
            </a:r>
            <a:endParaRPr lang="en-IN" sz="3600" b="0" u="none" strike="noStrike">
              <a:solidFill>
                <a:srgbClr val="FFFFFF"/>
              </a:solidFill>
              <a:effectLst/>
              <a:uFillTx/>
              <a:latin typeface="Arial"/>
            </a:endParaRPr>
          </a:p>
        </p:txBody>
      </p:sp>
      <p:sp>
        <p:nvSpPr>
          <p:cNvPr id="534" name="TextBox 9"/>
          <p:cNvSpPr/>
          <p:nvPr/>
        </p:nvSpPr>
        <p:spPr>
          <a:xfrm>
            <a:off x="1505520" y="1188720"/>
            <a:ext cx="2468520" cy="36540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500" b="1" u="none" strike="noStrike">
                <a:solidFill>
                  <a:srgbClr val="0D1B3E"/>
                </a:solidFill>
                <a:effectLst/>
                <a:uFillTx/>
                <a:latin typeface="Calibri"/>
              </a:rPr>
              <a:t>EMBEDDED OEM</a:t>
            </a:r>
            <a:endParaRPr lang="en-IN" sz="1500" b="0" u="none" strike="noStrike">
              <a:solidFill>
                <a:srgbClr val="000000"/>
              </a:solidFill>
              <a:effectLst/>
              <a:uFillTx/>
              <a:latin typeface="Arial"/>
            </a:endParaRPr>
          </a:p>
        </p:txBody>
      </p:sp>
      <p:sp>
        <p:nvSpPr>
          <p:cNvPr id="535" name="TextBox 10"/>
          <p:cNvSpPr/>
          <p:nvPr/>
        </p:nvSpPr>
        <p:spPr>
          <a:xfrm>
            <a:off x="1505520" y="1554480"/>
            <a:ext cx="2468520" cy="4568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00" b="0" i="1" u="none" strike="noStrike">
                <a:solidFill>
                  <a:srgbClr val="FFFFFF"/>
                </a:solidFill>
                <a:effectLst/>
                <a:uFillTx/>
                <a:latin typeface="Calibri"/>
              </a:rPr>
              <a:t>QBITEL ships as a tier of TCN Operator</a:t>
            </a:r>
            <a:endParaRPr lang="en-IN" sz="1000" b="0" u="none" strike="noStrike">
              <a:solidFill>
                <a:srgbClr val="000000"/>
              </a:solidFill>
              <a:effectLst/>
              <a:uFillTx/>
              <a:latin typeface="Arial"/>
            </a:endParaRPr>
          </a:p>
        </p:txBody>
      </p:sp>
      <p:sp>
        <p:nvSpPr>
          <p:cNvPr id="536" name="Rectangle 11"/>
          <p:cNvSpPr/>
          <p:nvPr/>
        </p:nvSpPr>
        <p:spPr>
          <a:xfrm>
            <a:off x="728280" y="2194560"/>
            <a:ext cx="3108600" cy="22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1960" rIns="90000" bIns="-21960" anchor="ctr">
            <a:noAutofit/>
          </a:bodyPr>
          <a:p>
            <a:endParaRPr lang="en-US" sz="1800" b="0" u="none" strike="noStrike">
              <a:solidFill>
                <a:schemeClr val="lt1"/>
              </a:solidFill>
              <a:effectLst/>
              <a:uFillTx/>
              <a:latin typeface="Calibri"/>
            </a:endParaRPr>
          </a:p>
        </p:txBody>
      </p:sp>
      <p:sp>
        <p:nvSpPr>
          <p:cNvPr id="537" name="TextBox 12"/>
          <p:cNvSpPr/>
          <p:nvPr/>
        </p:nvSpPr>
        <p:spPr>
          <a:xfrm>
            <a:off x="728280" y="2377440"/>
            <a:ext cx="310860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35000"/>
              </a:lnSpc>
            </a:pPr>
            <a:r>
              <a:rPr lang="en-US" sz="1100" b="0" u="none" strike="noStrike">
                <a:solidFill>
                  <a:srgbClr val="FFFFFF"/>
                </a:solidFill>
                <a:effectLst/>
                <a:uFillTx/>
                <a:latin typeface="Calibri"/>
              </a:rPr>
              <a:t>•  TCN bills customer; QBITEL revenue share</a:t>
            </a:r>
            <a:endParaRPr lang="en-IN" sz="1100" b="0" u="none" strike="noStrike">
              <a:solidFill>
                <a:srgbClr val="000000"/>
              </a:solidFill>
              <a:effectLst/>
              <a:uFillTx/>
              <a:latin typeface="Arial"/>
            </a:endParaRPr>
          </a:p>
          <a:p>
            <a:pPr defTabSz="457200">
              <a:lnSpc>
                <a:spcPct val="135000"/>
              </a:lnSpc>
            </a:pPr>
            <a:r>
              <a:rPr lang="en-US" sz="1100" b="0" u="none" strike="noStrike">
                <a:solidFill>
                  <a:srgbClr val="FFFFFF"/>
                </a:solidFill>
                <a:effectLst/>
                <a:uFillTx/>
                <a:latin typeface="Calibri"/>
              </a:rPr>
              <a:t>•  Strongest joint positioning</a:t>
            </a:r>
            <a:endParaRPr lang="en-IN" sz="1100" b="0" u="none" strike="noStrike">
              <a:solidFill>
                <a:srgbClr val="000000"/>
              </a:solidFill>
              <a:effectLst/>
              <a:uFillTx/>
              <a:latin typeface="Arial"/>
            </a:endParaRPr>
          </a:p>
          <a:p>
            <a:pPr defTabSz="457200">
              <a:lnSpc>
                <a:spcPct val="135000"/>
              </a:lnSpc>
            </a:pPr>
            <a:r>
              <a:rPr lang="en-US" sz="1100" b="0" u="none" strike="noStrike">
                <a:solidFill>
                  <a:srgbClr val="FFFFFF"/>
                </a:solidFill>
                <a:effectLst/>
                <a:uFillTx/>
                <a:latin typeface="Calibri"/>
              </a:rPr>
              <a:t>•  Fastest adoption velocity</a:t>
            </a:r>
            <a:endParaRPr lang="en-IN" sz="1100" b="0" u="none" strike="noStrike">
              <a:solidFill>
                <a:srgbClr val="000000"/>
              </a:solidFill>
              <a:effectLst/>
              <a:uFillTx/>
              <a:latin typeface="Arial"/>
            </a:endParaRPr>
          </a:p>
          <a:p>
            <a:pPr defTabSz="457200">
              <a:lnSpc>
                <a:spcPct val="135000"/>
              </a:lnSpc>
            </a:pPr>
            <a:r>
              <a:rPr lang="en-US" sz="1100" b="1" u="none" strike="noStrike">
                <a:solidFill>
                  <a:srgbClr val="0D1B3E"/>
                </a:solidFill>
                <a:effectLst/>
                <a:uFillTx/>
                <a:latin typeface="Calibri"/>
              </a:rPr>
              <a:t>★ Best for: long-term strategic partnership</a:t>
            </a:r>
            <a:endParaRPr lang="en-IN" sz="1100" b="0" u="none" strike="noStrike">
              <a:solidFill>
                <a:srgbClr val="000000"/>
              </a:solidFill>
              <a:effectLst/>
              <a:uFillTx/>
              <a:latin typeface="Arial"/>
            </a:endParaRPr>
          </a:p>
        </p:txBody>
      </p:sp>
      <p:sp>
        <p:nvSpPr>
          <p:cNvPr id="538" name="Rounded Rectangle 13"/>
          <p:cNvSpPr/>
          <p:nvPr/>
        </p:nvSpPr>
        <p:spPr>
          <a:xfrm>
            <a:off x="4267080" y="1005840"/>
            <a:ext cx="3657240" cy="4937400"/>
          </a:xfrm>
          <a:prstGeom prst="roundRect">
            <a:avLst>
              <a:gd name="adj" fmla="val 12000"/>
            </a:avLst>
          </a:prstGeom>
          <a:solidFill>
            <a:srgbClr val="F4F7FA"/>
          </a:solidFill>
          <a:ln w="3175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9" name="Oval 14"/>
          <p:cNvSpPr/>
          <p:nvPr/>
        </p:nvSpPr>
        <p:spPr>
          <a:xfrm>
            <a:off x="4449960" y="1188720"/>
            <a:ext cx="776880" cy="776880"/>
          </a:xfrm>
          <a:prstGeom prst="ellipse">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3600" b="1" u="none" strike="noStrike">
                <a:solidFill>
                  <a:srgbClr val="FFFFFF"/>
                </a:solidFill>
                <a:effectLst/>
                <a:uFillTx/>
                <a:latin typeface="Calibri"/>
              </a:rPr>
              <a:t>B</a:t>
            </a:r>
            <a:endParaRPr lang="en-IN" sz="3600" b="0" u="none" strike="noStrike">
              <a:solidFill>
                <a:srgbClr val="FFFFFF"/>
              </a:solidFill>
              <a:effectLst/>
              <a:uFillTx/>
              <a:latin typeface="Arial"/>
            </a:endParaRPr>
          </a:p>
        </p:txBody>
      </p:sp>
      <p:sp>
        <p:nvSpPr>
          <p:cNvPr id="540" name="TextBox 15"/>
          <p:cNvSpPr/>
          <p:nvPr/>
        </p:nvSpPr>
        <p:spPr>
          <a:xfrm>
            <a:off x="5318640" y="1188720"/>
            <a:ext cx="2468520" cy="36540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500" b="1" u="none" strike="noStrike">
                <a:solidFill>
                  <a:srgbClr val="008B9A"/>
                </a:solidFill>
                <a:effectLst/>
                <a:uFillTx/>
                <a:latin typeface="Calibri"/>
              </a:rPr>
              <a:t>MARKETPLACE</a:t>
            </a:r>
            <a:endParaRPr lang="en-IN" sz="1500" b="0" u="none" strike="noStrike">
              <a:solidFill>
                <a:srgbClr val="000000"/>
              </a:solidFill>
              <a:effectLst/>
              <a:uFillTx/>
              <a:latin typeface="Arial"/>
            </a:endParaRPr>
          </a:p>
        </p:txBody>
      </p:sp>
      <p:sp>
        <p:nvSpPr>
          <p:cNvPr id="541" name="TextBox 16"/>
          <p:cNvSpPr/>
          <p:nvPr/>
        </p:nvSpPr>
        <p:spPr>
          <a:xfrm>
            <a:off x="5318640" y="1554480"/>
            <a:ext cx="2468520" cy="4568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00" b="0" i="1" u="none" strike="noStrike">
                <a:solidFill>
                  <a:srgbClr val="1A1A2E"/>
                </a:solidFill>
                <a:effectLst/>
                <a:uFillTx/>
                <a:latin typeface="Calibri"/>
              </a:rPr>
              <a:t>Listed alongside Salesforce, Zendesk, ServiceNow…</a:t>
            </a:r>
            <a:endParaRPr lang="en-IN" sz="1000" b="0" u="none" strike="noStrike">
              <a:solidFill>
                <a:srgbClr val="000000"/>
              </a:solidFill>
              <a:effectLst/>
              <a:uFillTx/>
              <a:latin typeface="Arial"/>
            </a:endParaRPr>
          </a:p>
        </p:txBody>
      </p:sp>
      <p:sp>
        <p:nvSpPr>
          <p:cNvPr id="542" name="Rectangle 17"/>
          <p:cNvSpPr/>
          <p:nvPr/>
        </p:nvSpPr>
        <p:spPr>
          <a:xfrm>
            <a:off x="4541400" y="2194560"/>
            <a:ext cx="3108600" cy="2268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1960" rIns="90000" bIns="-21960" anchor="ctr">
            <a:noAutofit/>
          </a:bodyPr>
          <a:p>
            <a:endParaRPr lang="en-US" sz="1800" b="0" u="none" strike="noStrike">
              <a:solidFill>
                <a:schemeClr val="lt1"/>
              </a:solidFill>
              <a:effectLst/>
              <a:uFillTx/>
              <a:latin typeface="Calibri"/>
            </a:endParaRPr>
          </a:p>
        </p:txBody>
      </p:sp>
      <p:sp>
        <p:nvSpPr>
          <p:cNvPr id="543" name="TextBox 18"/>
          <p:cNvSpPr/>
          <p:nvPr/>
        </p:nvSpPr>
        <p:spPr>
          <a:xfrm>
            <a:off x="4541400" y="2377440"/>
            <a:ext cx="310860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35000"/>
              </a:lnSpc>
            </a:pPr>
            <a:r>
              <a:rPr lang="en-US" sz="1100" b="0" u="none" strike="noStrike">
                <a:solidFill>
                  <a:srgbClr val="1A1A2E"/>
                </a:solidFill>
                <a:effectLst/>
                <a:uFillTx/>
                <a:latin typeface="Calibri"/>
              </a:rPr>
              <a:t>•  Customer opts in per account</a:t>
            </a:r>
            <a:endParaRPr lang="en-IN" sz="1100" b="0" u="none" strike="noStrike">
              <a:solidFill>
                <a:srgbClr val="000000"/>
              </a:solidFill>
              <a:effectLst/>
              <a:uFillTx/>
              <a:latin typeface="Arial"/>
            </a:endParaRPr>
          </a:p>
          <a:p>
            <a:pPr defTabSz="457200">
              <a:lnSpc>
                <a:spcPct val="135000"/>
              </a:lnSpc>
            </a:pPr>
            <a:r>
              <a:rPr lang="en-US" sz="1100" b="0" u="none" strike="noStrike">
                <a:solidFill>
                  <a:srgbClr val="1A1A2E"/>
                </a:solidFill>
                <a:effectLst/>
                <a:uFillTx/>
                <a:latin typeface="Calibri"/>
              </a:rPr>
              <a:t>•  Direct QBITEL ↔ customer contract</a:t>
            </a:r>
            <a:endParaRPr lang="en-IN" sz="1100" b="0" u="none" strike="noStrike">
              <a:solidFill>
                <a:srgbClr val="000000"/>
              </a:solidFill>
              <a:effectLst/>
              <a:uFillTx/>
              <a:latin typeface="Arial"/>
            </a:endParaRPr>
          </a:p>
          <a:p>
            <a:pPr defTabSz="457200">
              <a:lnSpc>
                <a:spcPct val="135000"/>
              </a:lnSpc>
            </a:pPr>
            <a:r>
              <a:rPr lang="en-US" sz="1100" b="0" u="none" strike="noStrike">
                <a:solidFill>
                  <a:srgbClr val="1A1A2E"/>
                </a:solidFill>
                <a:effectLst/>
                <a:uFillTx/>
                <a:latin typeface="Calibri"/>
              </a:rPr>
              <a:t>•  TCN receives platform / referral fee</a:t>
            </a:r>
            <a:endParaRPr lang="en-IN" sz="1100" b="0" u="none" strike="noStrike">
              <a:solidFill>
                <a:srgbClr val="000000"/>
              </a:solidFill>
              <a:effectLst/>
              <a:uFillTx/>
              <a:latin typeface="Arial"/>
            </a:endParaRPr>
          </a:p>
          <a:p>
            <a:pPr defTabSz="457200">
              <a:lnSpc>
                <a:spcPct val="135000"/>
              </a:lnSpc>
            </a:pPr>
            <a:r>
              <a:rPr lang="en-US" sz="1100" b="1" u="none" strike="noStrike">
                <a:solidFill>
                  <a:srgbClr val="008B9A"/>
                </a:solidFill>
                <a:effectLst/>
                <a:uFillTx/>
                <a:latin typeface="Calibri"/>
              </a:rPr>
              <a:t>★ Best for: incremental rollout, low TCN commitment</a:t>
            </a:r>
            <a:endParaRPr lang="en-IN" sz="1100" b="0" u="none" strike="noStrike">
              <a:solidFill>
                <a:srgbClr val="000000"/>
              </a:solidFill>
              <a:effectLst/>
              <a:uFillTx/>
              <a:latin typeface="Arial"/>
            </a:endParaRPr>
          </a:p>
        </p:txBody>
      </p:sp>
      <p:sp>
        <p:nvSpPr>
          <p:cNvPr id="544" name="Rounded Rectangle 19"/>
          <p:cNvSpPr/>
          <p:nvPr/>
        </p:nvSpPr>
        <p:spPr>
          <a:xfrm>
            <a:off x="8080200" y="1005840"/>
            <a:ext cx="3657240" cy="4937400"/>
          </a:xfrm>
          <a:prstGeom prst="roundRect">
            <a:avLst>
              <a:gd name="adj" fmla="val 12000"/>
            </a:avLst>
          </a:prstGeom>
          <a:solidFill>
            <a:srgbClr val="F4F7FA"/>
          </a:solidFill>
          <a:ln w="31750">
            <a:solidFill>
              <a:srgbClr val="F0A500"/>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45" name="Oval 20"/>
          <p:cNvSpPr/>
          <p:nvPr/>
        </p:nvSpPr>
        <p:spPr>
          <a:xfrm>
            <a:off x="8263080" y="1188720"/>
            <a:ext cx="776880" cy="776880"/>
          </a:xfrm>
          <a:prstGeom prst="ellipse">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3600" b="1" u="none" strike="noStrike">
                <a:solidFill>
                  <a:srgbClr val="0D1B3E"/>
                </a:solidFill>
                <a:effectLst/>
                <a:uFillTx/>
                <a:latin typeface="Calibri"/>
              </a:rPr>
              <a:t>C</a:t>
            </a:r>
            <a:endParaRPr lang="en-IN" sz="3600" b="0" u="none" strike="noStrike">
              <a:solidFill>
                <a:srgbClr val="000000"/>
              </a:solidFill>
              <a:effectLst/>
              <a:uFillTx/>
              <a:latin typeface="Arial"/>
            </a:endParaRPr>
          </a:p>
        </p:txBody>
      </p:sp>
      <p:sp>
        <p:nvSpPr>
          <p:cNvPr id="546" name="TextBox 21"/>
          <p:cNvSpPr/>
          <p:nvPr/>
        </p:nvSpPr>
        <p:spPr>
          <a:xfrm>
            <a:off x="9131760" y="1188720"/>
            <a:ext cx="2468520" cy="36540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500" b="1" u="none" strike="noStrike">
                <a:solidFill>
                  <a:srgbClr val="F0A500"/>
                </a:solidFill>
                <a:effectLst/>
                <a:uFillTx/>
                <a:latin typeface="Calibri"/>
              </a:rPr>
              <a:t>REFERRAL / CO-SELL</a:t>
            </a:r>
            <a:endParaRPr lang="en-IN" sz="1500" b="0" u="none" strike="noStrike">
              <a:solidFill>
                <a:srgbClr val="000000"/>
              </a:solidFill>
              <a:effectLst/>
              <a:uFillTx/>
              <a:latin typeface="Arial"/>
            </a:endParaRPr>
          </a:p>
        </p:txBody>
      </p:sp>
      <p:sp>
        <p:nvSpPr>
          <p:cNvPr id="547" name="TextBox 22"/>
          <p:cNvSpPr/>
          <p:nvPr/>
        </p:nvSpPr>
        <p:spPr>
          <a:xfrm>
            <a:off x="9131760" y="1554480"/>
            <a:ext cx="2468520" cy="4568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00" b="0" i="1" u="none" strike="noStrike">
                <a:solidFill>
                  <a:srgbClr val="1A1A2E"/>
                </a:solidFill>
                <a:effectLst/>
                <a:uFillTx/>
                <a:latin typeface="Calibri"/>
              </a:rPr>
              <a:t>TCN sales refers qualified accounts to QBITEL</a:t>
            </a:r>
            <a:endParaRPr lang="en-IN" sz="1000" b="0" u="none" strike="noStrike">
              <a:solidFill>
                <a:srgbClr val="000000"/>
              </a:solidFill>
              <a:effectLst/>
              <a:uFillTx/>
              <a:latin typeface="Arial"/>
            </a:endParaRPr>
          </a:p>
        </p:txBody>
      </p:sp>
      <p:sp>
        <p:nvSpPr>
          <p:cNvPr id="548" name="Rectangle 23"/>
          <p:cNvSpPr/>
          <p:nvPr/>
        </p:nvSpPr>
        <p:spPr>
          <a:xfrm>
            <a:off x="8354520" y="2194560"/>
            <a:ext cx="3108600" cy="2268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1960" rIns="90000" bIns="-21960" anchor="ctr">
            <a:noAutofit/>
          </a:bodyPr>
          <a:p>
            <a:endParaRPr lang="en-US" sz="1800" b="0" u="none" strike="noStrike">
              <a:solidFill>
                <a:schemeClr val="lt1"/>
              </a:solidFill>
              <a:effectLst/>
              <a:uFillTx/>
              <a:latin typeface="Calibri"/>
            </a:endParaRPr>
          </a:p>
        </p:txBody>
      </p:sp>
      <p:sp>
        <p:nvSpPr>
          <p:cNvPr id="549" name="TextBox 24"/>
          <p:cNvSpPr/>
          <p:nvPr/>
        </p:nvSpPr>
        <p:spPr>
          <a:xfrm>
            <a:off x="8354520" y="2377440"/>
            <a:ext cx="310860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35000"/>
              </a:lnSpc>
            </a:pPr>
            <a:r>
              <a:rPr lang="en-US" sz="1100" b="0" u="none" strike="noStrike">
                <a:solidFill>
                  <a:srgbClr val="1A1A2E"/>
                </a:solidFill>
                <a:effectLst/>
                <a:uFillTx/>
                <a:latin typeface="Calibri"/>
              </a:rPr>
              <a:t>•  Separate contracts, joint motions</a:t>
            </a:r>
            <a:endParaRPr lang="en-IN" sz="1100" b="0" u="none" strike="noStrike">
              <a:solidFill>
                <a:srgbClr val="000000"/>
              </a:solidFill>
              <a:effectLst/>
              <a:uFillTx/>
              <a:latin typeface="Arial"/>
            </a:endParaRPr>
          </a:p>
          <a:p>
            <a:pPr defTabSz="457200">
              <a:lnSpc>
                <a:spcPct val="135000"/>
              </a:lnSpc>
            </a:pPr>
            <a:r>
              <a:rPr lang="en-US" sz="1100" b="0" u="none" strike="noStrike">
                <a:solidFill>
                  <a:srgbClr val="1A1A2E"/>
                </a:solidFill>
                <a:effectLst/>
                <a:uFillTx/>
                <a:latin typeface="Calibri"/>
              </a:rPr>
              <a:t>•  Referral fee or rev-share per deal</a:t>
            </a:r>
            <a:endParaRPr lang="en-IN" sz="1100" b="0" u="none" strike="noStrike">
              <a:solidFill>
                <a:srgbClr val="000000"/>
              </a:solidFill>
              <a:effectLst/>
              <a:uFillTx/>
              <a:latin typeface="Arial"/>
            </a:endParaRPr>
          </a:p>
          <a:p>
            <a:pPr defTabSz="457200">
              <a:lnSpc>
                <a:spcPct val="135000"/>
              </a:lnSpc>
            </a:pPr>
            <a:r>
              <a:rPr lang="en-US" sz="1100" b="0" u="none" strike="noStrike">
                <a:solidFill>
                  <a:srgbClr val="1A1A2E"/>
                </a:solidFill>
                <a:effectLst/>
                <a:uFillTx/>
                <a:latin typeface="Calibri"/>
              </a:rPr>
              <a:t>•  Shared collateral, co-marketing</a:t>
            </a:r>
            <a:endParaRPr lang="en-IN" sz="1100" b="0" u="none" strike="noStrike">
              <a:solidFill>
                <a:srgbClr val="000000"/>
              </a:solidFill>
              <a:effectLst/>
              <a:uFillTx/>
              <a:latin typeface="Arial"/>
            </a:endParaRPr>
          </a:p>
          <a:p>
            <a:pPr defTabSz="457200">
              <a:lnSpc>
                <a:spcPct val="135000"/>
              </a:lnSpc>
            </a:pPr>
            <a:r>
              <a:rPr lang="en-US" sz="1100" b="1" u="none" strike="noStrike">
                <a:solidFill>
                  <a:srgbClr val="F0A500"/>
                </a:solidFill>
                <a:effectLst/>
                <a:uFillTx/>
                <a:latin typeface="Calibri"/>
              </a:rPr>
              <a:t>★ Best for: a fast first proof-point</a:t>
            </a:r>
            <a:endParaRPr lang="en-IN" sz="1100" b="0" u="none" strike="noStrike">
              <a:solidFill>
                <a:srgbClr val="000000"/>
              </a:solidFill>
              <a:effectLst/>
              <a:uFillTx/>
              <a:latin typeface="Arial"/>
            </a:endParaRPr>
          </a:p>
        </p:txBody>
      </p:sp>
      <p:sp>
        <p:nvSpPr>
          <p:cNvPr id="550" name="Rounded Rectangle 25"/>
          <p:cNvSpPr/>
          <p:nvPr/>
        </p:nvSpPr>
        <p:spPr>
          <a:xfrm>
            <a:off x="457200" y="6035040"/>
            <a:ext cx="11274120" cy="502560"/>
          </a:xfrm>
          <a:prstGeom prst="roundRect">
            <a:avLst>
              <a:gd name="adj" fmla="val 12000"/>
            </a:avLst>
          </a:prstGeom>
          <a:solidFill>
            <a:srgbClr val="FDE9BE"/>
          </a:solidFill>
          <a:ln w="19050">
            <a:solidFill>
              <a:srgbClr val="F0A5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200" b="1" u="none" strike="noStrike">
                <a:solidFill>
                  <a:srgbClr val="0D1B3E"/>
                </a:solidFill>
                <a:effectLst/>
                <a:uFillTx/>
                <a:latin typeface="Calibri"/>
              </a:rPr>
              <a:t>Our recommendation: start with Option C or B for the first two quarters (validate demand + integration quality), graduate to Option A for the long term.</a:t>
            </a:r>
            <a:endParaRPr lang="en-IN" sz="1200" b="0" u="none" strike="noStrike">
              <a:solidFill>
                <a:srgbClr val="000000"/>
              </a:solidFill>
              <a:effectLst/>
              <a:uFillTx/>
              <a:latin typeface="Arial"/>
            </a:endParaRPr>
          </a:p>
        </p:txBody>
      </p:sp>
      <p:sp>
        <p:nvSpPr>
          <p:cNvPr id="551" name="Rectangle 26"/>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2" name="Rectangle 27"/>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553" name="TextBox 28"/>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554" name="TextBox 29"/>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15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6"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7"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8"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TECHNICAL RISKS &amp; MITIGATIONS</a:t>
            </a:r>
            <a:endParaRPr lang="en-IN" sz="1800" b="0" u="none" strike="noStrike">
              <a:solidFill>
                <a:srgbClr val="000000"/>
              </a:solidFill>
              <a:effectLst/>
              <a:uFillTx/>
              <a:latin typeface="Arial"/>
            </a:endParaRPr>
          </a:p>
        </p:txBody>
      </p:sp>
      <p:sp>
        <p:nvSpPr>
          <p:cNvPr id="559"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The questions a VP of Technology should ask — with our honest answers</a:t>
            </a:r>
            <a:endParaRPr lang="en-IN" sz="1050" b="0" u="none" strike="noStrike">
              <a:solidFill>
                <a:srgbClr val="000000"/>
              </a:solidFill>
              <a:effectLst/>
              <a:uFillTx/>
              <a:latin typeface="Arial"/>
            </a:endParaRPr>
          </a:p>
        </p:txBody>
      </p:sp>
      <p:sp>
        <p:nvSpPr>
          <p:cNvPr id="560"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561" name="Rounded Rectangle 7"/>
          <p:cNvSpPr/>
          <p:nvPr/>
        </p:nvSpPr>
        <p:spPr>
          <a:xfrm>
            <a:off x="457200" y="1005840"/>
            <a:ext cx="5531760" cy="1142640"/>
          </a:xfrm>
          <a:prstGeom prst="roundRect">
            <a:avLst>
              <a:gd name="adj" fmla="val 12000"/>
            </a:avLst>
          </a:prstGeom>
          <a:solidFill>
            <a:srgbClr val="F4F7F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2" name="TextBox 8"/>
          <p:cNvSpPr/>
          <p:nvPr/>
        </p:nvSpPr>
        <p:spPr>
          <a:xfrm>
            <a:off x="640080" y="1078920"/>
            <a:ext cx="5166000" cy="3196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150" b="1" u="none" strike="noStrike">
                <a:solidFill>
                  <a:srgbClr val="0D1B3E"/>
                </a:solidFill>
                <a:effectLst/>
                <a:uFillTx/>
                <a:latin typeface="Calibri"/>
              </a:rPr>
              <a:t>?  Voice quality impact?</a:t>
            </a:r>
            <a:endParaRPr lang="en-IN" sz="1150" b="0" u="none" strike="noStrike">
              <a:solidFill>
                <a:srgbClr val="000000"/>
              </a:solidFill>
              <a:effectLst/>
              <a:uFillTx/>
              <a:latin typeface="Arial"/>
            </a:endParaRPr>
          </a:p>
        </p:txBody>
      </p:sp>
      <p:sp>
        <p:nvSpPr>
          <p:cNvPr id="563" name="TextBox 9"/>
          <p:cNvSpPr/>
          <p:nvPr/>
        </p:nvSpPr>
        <p:spPr>
          <a:xfrm>
            <a:off x="640080" y="1389960"/>
            <a:ext cx="51660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000" b="0" u="none" strike="noStrike">
                <a:solidFill>
                  <a:srgbClr val="1A1A2E"/>
                </a:solidFill>
                <a:effectLst/>
                <a:uFillTx/>
                <a:latin typeface="Calibri"/>
              </a:rPr>
              <a:t>PQC overhead is &lt;2ms — within ITU-T G.114 budget. MOS measured before/after on every deployment. Passive by default.</a:t>
            </a:r>
            <a:endParaRPr lang="en-IN" sz="1000" b="0" u="none" strike="noStrike">
              <a:solidFill>
                <a:srgbClr val="000000"/>
              </a:solidFill>
              <a:effectLst/>
              <a:uFillTx/>
              <a:latin typeface="Arial"/>
            </a:endParaRPr>
          </a:p>
        </p:txBody>
      </p:sp>
      <p:sp>
        <p:nvSpPr>
          <p:cNvPr id="564" name="Rounded Rectangle 10"/>
          <p:cNvSpPr/>
          <p:nvPr/>
        </p:nvSpPr>
        <p:spPr>
          <a:xfrm>
            <a:off x="6126480" y="1005840"/>
            <a:ext cx="5531760" cy="1142640"/>
          </a:xfrm>
          <a:prstGeom prst="roundRect">
            <a:avLst>
              <a:gd name="adj" fmla="val 12000"/>
            </a:avLst>
          </a:prstGeom>
          <a:solidFill>
            <a:srgbClr val="F4F7F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5" name="TextBox 11"/>
          <p:cNvSpPr/>
          <p:nvPr/>
        </p:nvSpPr>
        <p:spPr>
          <a:xfrm>
            <a:off x="6309360" y="1078920"/>
            <a:ext cx="5166000" cy="3196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150" b="1" u="none" strike="noStrike">
                <a:solidFill>
                  <a:srgbClr val="0D1B3E"/>
                </a:solidFill>
                <a:effectLst/>
                <a:uFillTx/>
                <a:latin typeface="Calibri"/>
              </a:rPr>
              <a:t>?  New failure mode for voice path?</a:t>
            </a:r>
            <a:endParaRPr lang="en-IN" sz="1150" b="0" u="none" strike="noStrike">
              <a:solidFill>
                <a:srgbClr val="000000"/>
              </a:solidFill>
              <a:effectLst/>
              <a:uFillTx/>
              <a:latin typeface="Arial"/>
            </a:endParaRPr>
          </a:p>
        </p:txBody>
      </p:sp>
      <p:sp>
        <p:nvSpPr>
          <p:cNvPr id="566" name="TextBox 12"/>
          <p:cNvSpPr/>
          <p:nvPr/>
        </p:nvSpPr>
        <p:spPr>
          <a:xfrm>
            <a:off x="6309360" y="1389960"/>
            <a:ext cx="51660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000" b="0" u="none" strike="noStrike">
                <a:solidFill>
                  <a:srgbClr val="1A1A2E"/>
                </a:solidFill>
                <a:effectLst/>
                <a:uFillTx/>
                <a:latin typeface="Calibri"/>
              </a:rPr>
              <a:t>Default mirror topology = QBITEL down has zero voice impact. Inline PQC fails open by default; fail-closed is opt-in per tenant.</a:t>
            </a:r>
            <a:endParaRPr lang="en-IN" sz="1000" b="0" u="none" strike="noStrike">
              <a:solidFill>
                <a:srgbClr val="000000"/>
              </a:solidFill>
              <a:effectLst/>
              <a:uFillTx/>
              <a:latin typeface="Arial"/>
            </a:endParaRPr>
          </a:p>
        </p:txBody>
      </p:sp>
      <p:sp>
        <p:nvSpPr>
          <p:cNvPr id="567" name="Rounded Rectangle 13"/>
          <p:cNvSpPr/>
          <p:nvPr/>
        </p:nvSpPr>
        <p:spPr>
          <a:xfrm>
            <a:off x="457200" y="2240280"/>
            <a:ext cx="5531760" cy="1142640"/>
          </a:xfrm>
          <a:prstGeom prst="roundRect">
            <a:avLst>
              <a:gd name="adj" fmla="val 12000"/>
            </a:avLst>
          </a:prstGeom>
          <a:solidFill>
            <a:srgbClr val="F4F7F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8" name="TextBox 14"/>
          <p:cNvSpPr/>
          <p:nvPr/>
        </p:nvSpPr>
        <p:spPr>
          <a:xfrm>
            <a:off x="640080" y="2313360"/>
            <a:ext cx="5166000" cy="3196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150" b="1" u="none" strike="noStrike">
                <a:solidFill>
                  <a:srgbClr val="0D1B3E"/>
                </a:solidFill>
                <a:effectLst/>
                <a:uFillTx/>
                <a:latin typeface="Calibri"/>
              </a:rPr>
              <a:t>?  Latency on Synapse webhook engine?</a:t>
            </a:r>
            <a:endParaRPr lang="en-IN" sz="1150" b="0" u="none" strike="noStrike">
              <a:solidFill>
                <a:srgbClr val="000000"/>
              </a:solidFill>
              <a:effectLst/>
              <a:uFillTx/>
              <a:latin typeface="Arial"/>
            </a:endParaRPr>
          </a:p>
        </p:txBody>
      </p:sp>
      <p:sp>
        <p:nvSpPr>
          <p:cNvPr id="569" name="TextBox 15"/>
          <p:cNvSpPr/>
          <p:nvPr/>
        </p:nvSpPr>
        <p:spPr>
          <a:xfrm>
            <a:off x="640080" y="2624400"/>
            <a:ext cx="51660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000" b="0" u="none" strike="noStrike">
                <a:solidFill>
                  <a:srgbClr val="1A1A2E"/>
                </a:solidFill>
                <a:effectLst/>
                <a:uFillTx/>
                <a:latin typeface="Calibri"/>
              </a:rPr>
              <a:t>QBITEL subscribes asynchronously. Webhooks fire at TCN's normal latency; QBITEL processes out-of-band. No back-pressure.</a:t>
            </a:r>
            <a:endParaRPr lang="en-IN" sz="1000" b="0" u="none" strike="noStrike">
              <a:solidFill>
                <a:srgbClr val="000000"/>
              </a:solidFill>
              <a:effectLst/>
              <a:uFillTx/>
              <a:latin typeface="Arial"/>
            </a:endParaRPr>
          </a:p>
        </p:txBody>
      </p:sp>
      <p:sp>
        <p:nvSpPr>
          <p:cNvPr id="570" name="Rounded Rectangle 16"/>
          <p:cNvSpPr/>
          <p:nvPr/>
        </p:nvSpPr>
        <p:spPr>
          <a:xfrm>
            <a:off x="6126480" y="2240280"/>
            <a:ext cx="5531760" cy="1142640"/>
          </a:xfrm>
          <a:prstGeom prst="roundRect">
            <a:avLst>
              <a:gd name="adj" fmla="val 12000"/>
            </a:avLst>
          </a:prstGeom>
          <a:solidFill>
            <a:srgbClr val="F4F7F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71" name="TextBox 17"/>
          <p:cNvSpPr/>
          <p:nvPr/>
        </p:nvSpPr>
        <p:spPr>
          <a:xfrm>
            <a:off x="6309360" y="2313360"/>
            <a:ext cx="5166000" cy="3196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150" b="1" u="none" strike="noStrike">
                <a:solidFill>
                  <a:srgbClr val="0D1B3E"/>
                </a:solidFill>
                <a:effectLst/>
                <a:uFillTx/>
                <a:latin typeface="Calibri"/>
              </a:rPr>
              <a:t>?  CSM team has to learn a new product?</a:t>
            </a:r>
            <a:endParaRPr lang="en-IN" sz="1150" b="0" u="none" strike="noStrike">
              <a:solidFill>
                <a:srgbClr val="000000"/>
              </a:solidFill>
              <a:effectLst/>
              <a:uFillTx/>
              <a:latin typeface="Arial"/>
            </a:endParaRPr>
          </a:p>
        </p:txBody>
      </p:sp>
      <p:sp>
        <p:nvSpPr>
          <p:cNvPr id="572" name="TextBox 18"/>
          <p:cNvSpPr/>
          <p:nvPr/>
        </p:nvSpPr>
        <p:spPr>
          <a:xfrm>
            <a:off x="6309360" y="2624400"/>
            <a:ext cx="51660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000" b="0" u="none" strike="noStrike">
                <a:solidFill>
                  <a:srgbClr val="1A1A2E"/>
                </a:solidFill>
                <a:effectLst/>
                <a:uFillTx/>
                <a:latin typeface="Calibri"/>
              </a:rPr>
              <a:t>"Security &amp; Compliance" tab is iframe + SSO inside TCN Operator. CSM training is a 1-hour session.</a:t>
            </a:r>
            <a:endParaRPr lang="en-IN" sz="1000" b="0" u="none" strike="noStrike">
              <a:solidFill>
                <a:srgbClr val="000000"/>
              </a:solidFill>
              <a:effectLst/>
              <a:uFillTx/>
              <a:latin typeface="Arial"/>
            </a:endParaRPr>
          </a:p>
        </p:txBody>
      </p:sp>
      <p:sp>
        <p:nvSpPr>
          <p:cNvPr id="573" name="Rounded Rectangle 19"/>
          <p:cNvSpPr/>
          <p:nvPr/>
        </p:nvSpPr>
        <p:spPr>
          <a:xfrm>
            <a:off x="457200" y="3474720"/>
            <a:ext cx="5531760" cy="1142640"/>
          </a:xfrm>
          <a:prstGeom prst="roundRect">
            <a:avLst>
              <a:gd name="adj" fmla="val 12000"/>
            </a:avLst>
          </a:prstGeom>
          <a:solidFill>
            <a:srgbClr val="F4F7F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74" name="TextBox 20"/>
          <p:cNvSpPr/>
          <p:nvPr/>
        </p:nvSpPr>
        <p:spPr>
          <a:xfrm>
            <a:off x="640080" y="3547800"/>
            <a:ext cx="5166000" cy="3196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150" b="1" u="none" strike="noStrike">
                <a:solidFill>
                  <a:srgbClr val="0D1B3E"/>
                </a:solidFill>
                <a:effectLst/>
                <a:uFillTx/>
                <a:latin typeface="Calibri"/>
              </a:rPr>
              <a:t>?  Data residency / regulated geos?</a:t>
            </a:r>
            <a:endParaRPr lang="en-IN" sz="1150" b="0" u="none" strike="noStrike">
              <a:solidFill>
                <a:srgbClr val="000000"/>
              </a:solidFill>
              <a:effectLst/>
              <a:uFillTx/>
              <a:latin typeface="Arial"/>
            </a:endParaRPr>
          </a:p>
        </p:txBody>
      </p:sp>
      <p:sp>
        <p:nvSpPr>
          <p:cNvPr id="575" name="TextBox 21"/>
          <p:cNvSpPr/>
          <p:nvPr/>
        </p:nvSpPr>
        <p:spPr>
          <a:xfrm>
            <a:off x="640080" y="3858840"/>
            <a:ext cx="51660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000" b="0" u="none" strike="noStrike">
                <a:solidFill>
                  <a:srgbClr val="1A1A2E"/>
                </a:solidFill>
                <a:effectLst/>
                <a:uFillTx/>
                <a:latin typeface="Calibri"/>
              </a:rPr>
              <a:t>Three topologies: TCN-hosted, customer-hosted (on-prem), hybrid. On-prem uses Ollama LLM — zero cloud egress.</a:t>
            </a:r>
            <a:endParaRPr lang="en-IN" sz="1000" b="0" u="none" strike="noStrike">
              <a:solidFill>
                <a:srgbClr val="000000"/>
              </a:solidFill>
              <a:effectLst/>
              <a:uFillTx/>
              <a:latin typeface="Arial"/>
            </a:endParaRPr>
          </a:p>
        </p:txBody>
      </p:sp>
      <p:sp>
        <p:nvSpPr>
          <p:cNvPr id="576" name="Rounded Rectangle 22"/>
          <p:cNvSpPr/>
          <p:nvPr/>
        </p:nvSpPr>
        <p:spPr>
          <a:xfrm>
            <a:off x="6126480" y="3474720"/>
            <a:ext cx="5531760" cy="1142640"/>
          </a:xfrm>
          <a:prstGeom prst="roundRect">
            <a:avLst>
              <a:gd name="adj" fmla="val 12000"/>
            </a:avLst>
          </a:prstGeom>
          <a:solidFill>
            <a:srgbClr val="F4F7F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77" name="TextBox 23"/>
          <p:cNvSpPr/>
          <p:nvPr/>
        </p:nvSpPr>
        <p:spPr>
          <a:xfrm>
            <a:off x="6309360" y="3547800"/>
            <a:ext cx="5166000" cy="3196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150" b="1" u="none" strike="noStrike">
                <a:solidFill>
                  <a:srgbClr val="0D1B3E"/>
                </a:solidFill>
                <a:effectLst/>
                <a:uFillTx/>
                <a:latin typeface="Calibri"/>
              </a:rPr>
              <a:t>?  What if a tenant wants to leave?</a:t>
            </a:r>
            <a:endParaRPr lang="en-IN" sz="1150" b="0" u="none" strike="noStrike">
              <a:solidFill>
                <a:srgbClr val="000000"/>
              </a:solidFill>
              <a:effectLst/>
              <a:uFillTx/>
              <a:latin typeface="Arial"/>
            </a:endParaRPr>
          </a:p>
        </p:txBody>
      </p:sp>
      <p:sp>
        <p:nvSpPr>
          <p:cNvPr id="578" name="TextBox 24"/>
          <p:cNvSpPr/>
          <p:nvPr/>
        </p:nvSpPr>
        <p:spPr>
          <a:xfrm>
            <a:off x="6309360" y="3858840"/>
            <a:ext cx="51660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000" b="0" u="none" strike="noStrike">
                <a:solidFill>
                  <a:srgbClr val="1A1A2E"/>
                </a:solidFill>
                <a:effectLst/>
                <a:uFillTx/>
                <a:latin typeface="Calibri"/>
              </a:rPr>
              <a:t>Opt-out is a flag on the tenant; QBITEL stops processing within minutes. Evidence pack exported per contract.</a:t>
            </a:r>
            <a:endParaRPr lang="en-IN" sz="1000" b="0" u="none" strike="noStrike">
              <a:solidFill>
                <a:srgbClr val="000000"/>
              </a:solidFill>
              <a:effectLst/>
              <a:uFillTx/>
              <a:latin typeface="Arial"/>
            </a:endParaRPr>
          </a:p>
        </p:txBody>
      </p:sp>
      <p:sp>
        <p:nvSpPr>
          <p:cNvPr id="579" name="Rounded Rectangle 25"/>
          <p:cNvSpPr/>
          <p:nvPr/>
        </p:nvSpPr>
        <p:spPr>
          <a:xfrm>
            <a:off x="457200" y="4709160"/>
            <a:ext cx="5531760" cy="1142640"/>
          </a:xfrm>
          <a:prstGeom prst="roundRect">
            <a:avLst>
              <a:gd name="adj" fmla="val 12000"/>
            </a:avLst>
          </a:prstGeom>
          <a:solidFill>
            <a:srgbClr val="F4F7F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0" name="TextBox 26"/>
          <p:cNvSpPr/>
          <p:nvPr/>
        </p:nvSpPr>
        <p:spPr>
          <a:xfrm>
            <a:off x="640080" y="4782240"/>
            <a:ext cx="5166000" cy="3196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150" b="1" u="none" strike="noStrike">
                <a:solidFill>
                  <a:srgbClr val="0D1B3E"/>
                </a:solidFill>
                <a:effectLst/>
                <a:uFillTx/>
                <a:latin typeface="Calibri"/>
              </a:rPr>
              <a:t>?  Liability if QBITEL incorrectly flags fraud?</a:t>
            </a:r>
            <a:endParaRPr lang="en-IN" sz="1150" b="0" u="none" strike="noStrike">
              <a:solidFill>
                <a:srgbClr val="000000"/>
              </a:solidFill>
              <a:effectLst/>
              <a:uFillTx/>
              <a:latin typeface="Arial"/>
            </a:endParaRPr>
          </a:p>
        </p:txBody>
      </p:sp>
      <p:sp>
        <p:nvSpPr>
          <p:cNvPr id="581" name="TextBox 27"/>
          <p:cNvSpPr/>
          <p:nvPr/>
        </p:nvSpPr>
        <p:spPr>
          <a:xfrm>
            <a:off x="640080" y="5093280"/>
            <a:ext cx="51660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000" b="0" u="none" strike="noStrike">
                <a:solidFill>
                  <a:srgbClr val="1A1A2E"/>
                </a:solidFill>
                <a:effectLst/>
                <a:uFillTx/>
                <a:latin typeface="Calibri"/>
              </a:rPr>
              <a:t>Tenant-configurable: block+alert / alert-only / alert+recommend. Default in early rollout is alert-only; auto-block is opt-in.</a:t>
            </a:r>
            <a:endParaRPr lang="en-IN" sz="1000" b="0" u="none" strike="noStrike">
              <a:solidFill>
                <a:srgbClr val="000000"/>
              </a:solidFill>
              <a:effectLst/>
              <a:uFillTx/>
              <a:latin typeface="Arial"/>
            </a:endParaRPr>
          </a:p>
        </p:txBody>
      </p:sp>
      <p:sp>
        <p:nvSpPr>
          <p:cNvPr id="582" name="Rounded Rectangle 28"/>
          <p:cNvSpPr/>
          <p:nvPr/>
        </p:nvSpPr>
        <p:spPr>
          <a:xfrm>
            <a:off x="6126480" y="4709160"/>
            <a:ext cx="5531760" cy="1142640"/>
          </a:xfrm>
          <a:prstGeom prst="roundRect">
            <a:avLst>
              <a:gd name="adj" fmla="val 12000"/>
            </a:avLst>
          </a:prstGeom>
          <a:solidFill>
            <a:srgbClr val="F4F7FA"/>
          </a:solidFill>
          <a:ln w="12700">
            <a:solidFill>
              <a:srgbClr val="008B9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3" name="TextBox 29"/>
          <p:cNvSpPr/>
          <p:nvPr/>
        </p:nvSpPr>
        <p:spPr>
          <a:xfrm>
            <a:off x="6309360" y="4782240"/>
            <a:ext cx="5166000" cy="31968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150" b="1" u="none" strike="noStrike">
                <a:solidFill>
                  <a:srgbClr val="0D1B3E"/>
                </a:solidFill>
                <a:effectLst/>
                <a:uFillTx/>
                <a:latin typeface="Calibri"/>
              </a:rPr>
              <a:t>?  GA-stable? Production references?</a:t>
            </a:r>
            <a:endParaRPr lang="en-IN" sz="1150" b="0" u="none" strike="noStrike">
              <a:solidFill>
                <a:srgbClr val="000000"/>
              </a:solidFill>
              <a:effectLst/>
              <a:uFillTx/>
              <a:latin typeface="Arial"/>
            </a:endParaRPr>
          </a:p>
        </p:txBody>
      </p:sp>
      <p:sp>
        <p:nvSpPr>
          <p:cNvPr id="584" name="TextBox 30"/>
          <p:cNvSpPr/>
          <p:nvPr/>
        </p:nvSpPr>
        <p:spPr>
          <a:xfrm>
            <a:off x="6309360" y="5093280"/>
            <a:ext cx="5166000" cy="776880"/>
          </a:xfrm>
          <a:prstGeom prst="rect">
            <a:avLst/>
          </a:prstGeom>
          <a:noFill/>
          <a:ln w="0">
            <a:noFill/>
          </a:ln>
        </p:spPr>
        <p:style>
          <a:lnRef idx="0"/>
          <a:fillRef idx="0"/>
          <a:effectRef idx="0"/>
          <a:fontRef idx="minor"/>
        </p:style>
        <p:txBody>
          <a:bodyPr lIns="50760" tIns="25560" rIns="50760" bIns="25560" anchor="t">
            <a:spAutoFit/>
          </a:bodyPr>
          <a:p>
            <a:pPr defTabSz="457200">
              <a:lnSpc>
                <a:spcPct val="125000"/>
              </a:lnSpc>
            </a:pPr>
            <a:r>
              <a:rPr lang="en-US" sz="1000" b="0" u="none" strike="noStrike">
                <a:solidFill>
                  <a:srgbClr val="1A1A2E"/>
                </a:solidFill>
                <a:effectLst/>
                <a:uFillTx/>
                <a:latin typeface="Calibri"/>
              </a:rPr>
              <a:t>In production at BPO and FS accounts (references under NDA). Multi-tenant hardened with audit-grade evidence.</a:t>
            </a:r>
            <a:endParaRPr lang="en-IN" sz="1000" b="0" u="none" strike="noStrike">
              <a:solidFill>
                <a:srgbClr val="000000"/>
              </a:solidFill>
              <a:effectLst/>
              <a:uFillTx/>
              <a:latin typeface="Arial"/>
            </a:endParaRPr>
          </a:p>
        </p:txBody>
      </p:sp>
      <p:sp>
        <p:nvSpPr>
          <p:cNvPr id="585" name="Rectangle 31"/>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6" name="Rectangle 32"/>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587" name="TextBox 33"/>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588" name="TextBox 34"/>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16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90"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91"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92"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POC PLAN — 4-WEEK JOINT SPRINT</a:t>
            </a:r>
            <a:endParaRPr lang="en-IN" sz="1800" b="0" u="none" strike="noStrike">
              <a:solidFill>
                <a:srgbClr val="000000"/>
              </a:solidFill>
              <a:effectLst/>
              <a:uFillTx/>
              <a:latin typeface="Arial"/>
            </a:endParaRPr>
          </a:p>
        </p:txBody>
      </p:sp>
      <p:sp>
        <p:nvSpPr>
          <p:cNvPr id="593"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One engineer from each side + one pilot customer = working demo</a:t>
            </a:r>
            <a:endParaRPr lang="en-IN" sz="1050" b="0" u="none" strike="noStrike">
              <a:solidFill>
                <a:srgbClr val="000000"/>
              </a:solidFill>
              <a:effectLst/>
              <a:uFillTx/>
              <a:latin typeface="Arial"/>
            </a:endParaRPr>
          </a:p>
        </p:txBody>
      </p:sp>
      <p:sp>
        <p:nvSpPr>
          <p:cNvPr id="594"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595" name="Rounded Rectangle 7"/>
          <p:cNvSpPr/>
          <p:nvPr/>
        </p:nvSpPr>
        <p:spPr>
          <a:xfrm>
            <a:off x="481320" y="1005840"/>
            <a:ext cx="2697120" cy="3657240"/>
          </a:xfrm>
          <a:prstGeom prst="roundRect">
            <a:avLst>
              <a:gd name="adj" fmla="val 12000"/>
            </a:avLst>
          </a:prstGeom>
          <a:solidFill>
            <a:srgbClr val="F4F7FA"/>
          </a:solidFill>
          <a:ln w="25400">
            <a:solidFill>
              <a:srgbClr val="0D1B3E"/>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96" name="Rectangle 8"/>
          <p:cNvSpPr/>
          <p:nvPr/>
        </p:nvSpPr>
        <p:spPr>
          <a:xfrm>
            <a:off x="481320" y="1005840"/>
            <a:ext cx="2697120" cy="5482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FFFFFF"/>
                </a:solidFill>
                <a:effectLst/>
                <a:uFillTx/>
                <a:latin typeface="Calibri"/>
              </a:rPr>
              <a:t>WEEK 1</a:t>
            </a:r>
            <a:endParaRPr lang="en-IN" sz="1400" b="0" u="none" strike="noStrike">
              <a:solidFill>
                <a:srgbClr val="FFFFFF"/>
              </a:solidFill>
              <a:effectLst/>
              <a:uFillTx/>
              <a:latin typeface="Arial"/>
            </a:endParaRPr>
          </a:p>
        </p:txBody>
      </p:sp>
      <p:sp>
        <p:nvSpPr>
          <p:cNvPr id="597" name="TextBox 9"/>
          <p:cNvSpPr/>
          <p:nvPr/>
        </p:nvSpPr>
        <p:spPr>
          <a:xfrm>
            <a:off x="481320" y="1645920"/>
            <a:ext cx="269712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INTEGRATION SPRINT</a:t>
            </a:r>
            <a:endParaRPr lang="en-IN" sz="1200" b="0" u="none" strike="noStrike">
              <a:solidFill>
                <a:srgbClr val="000000"/>
              </a:solidFill>
              <a:effectLst/>
              <a:uFillTx/>
              <a:latin typeface="Arial"/>
            </a:endParaRPr>
          </a:p>
        </p:txBody>
      </p:sp>
      <p:sp>
        <p:nvSpPr>
          <p:cNvPr id="598" name="TextBox 10"/>
          <p:cNvSpPr/>
          <p:nvPr/>
        </p:nvSpPr>
        <p:spPr>
          <a:xfrm>
            <a:off x="664200" y="2103120"/>
            <a:ext cx="2331360" cy="23770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1050" b="0" u="none" strike="noStrike">
                <a:solidFill>
                  <a:srgbClr val="1A1A2E"/>
                </a:solidFill>
                <a:effectLst/>
                <a:uFillTx/>
                <a:latin typeface="Calibri"/>
              </a:rPr>
              <a:t>✓  Synapse webhook subscription set up</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REST API auth handshake validated</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One CRM hook (e.g., Salesforce) integrated</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SSO configured for console tab</a:t>
            </a:r>
            <a:endParaRPr lang="en-IN" sz="1050" b="0" u="none" strike="noStrike">
              <a:solidFill>
                <a:srgbClr val="000000"/>
              </a:solidFill>
              <a:effectLst/>
              <a:uFillTx/>
              <a:latin typeface="Arial"/>
            </a:endParaRPr>
          </a:p>
        </p:txBody>
      </p:sp>
      <p:sp>
        <p:nvSpPr>
          <p:cNvPr id="599" name="Right Arrow 11"/>
          <p:cNvSpPr/>
          <p:nvPr/>
        </p:nvSpPr>
        <p:spPr>
          <a:xfrm>
            <a:off x="3188160" y="2697480"/>
            <a:ext cx="127800" cy="273960"/>
          </a:xfrm>
          <a:prstGeom prst="right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0" name="Rounded Rectangle 12"/>
          <p:cNvSpPr/>
          <p:nvPr/>
        </p:nvSpPr>
        <p:spPr>
          <a:xfrm>
            <a:off x="3325320" y="1005840"/>
            <a:ext cx="2697120" cy="3657240"/>
          </a:xfrm>
          <a:prstGeom prst="roundRect">
            <a:avLst>
              <a:gd name="adj" fmla="val 12000"/>
            </a:avLst>
          </a:prstGeom>
          <a:solidFill>
            <a:srgbClr val="F4F7FA"/>
          </a:solidFill>
          <a:ln w="2540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1" name="Rectangle 13"/>
          <p:cNvSpPr/>
          <p:nvPr/>
        </p:nvSpPr>
        <p:spPr>
          <a:xfrm>
            <a:off x="3325320" y="1005840"/>
            <a:ext cx="2697120" cy="54828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FFFFFF"/>
                </a:solidFill>
                <a:effectLst/>
                <a:uFillTx/>
                <a:latin typeface="Calibri"/>
              </a:rPr>
              <a:t>WEEK 2</a:t>
            </a:r>
            <a:endParaRPr lang="en-IN" sz="1400" b="0" u="none" strike="noStrike">
              <a:solidFill>
                <a:srgbClr val="FFFFFF"/>
              </a:solidFill>
              <a:effectLst/>
              <a:uFillTx/>
              <a:latin typeface="Arial"/>
            </a:endParaRPr>
          </a:p>
        </p:txBody>
      </p:sp>
      <p:sp>
        <p:nvSpPr>
          <p:cNvPr id="602" name="TextBox 14"/>
          <p:cNvSpPr/>
          <p:nvPr/>
        </p:nvSpPr>
        <p:spPr>
          <a:xfrm>
            <a:off x="3325320" y="1645920"/>
            <a:ext cx="269712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CAPABILITY ACTIVATION</a:t>
            </a:r>
            <a:endParaRPr lang="en-IN" sz="1200" b="0" u="none" strike="noStrike">
              <a:solidFill>
                <a:srgbClr val="000000"/>
              </a:solidFill>
              <a:effectLst/>
              <a:uFillTx/>
              <a:latin typeface="Arial"/>
            </a:endParaRPr>
          </a:p>
        </p:txBody>
      </p:sp>
      <p:sp>
        <p:nvSpPr>
          <p:cNvPr id="603" name="TextBox 15"/>
          <p:cNvSpPr/>
          <p:nvPr/>
        </p:nvSpPr>
        <p:spPr>
          <a:xfrm>
            <a:off x="3508200" y="2103120"/>
            <a:ext cx="2331360" cy="23770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1050" b="0" u="none" strike="noStrike">
                <a:solidFill>
                  <a:srgbClr val="1A1A2E"/>
                </a:solidFill>
                <a:effectLst/>
                <a:uFillTx/>
                <a:latin typeface="Calibri"/>
              </a:rPr>
              <a:t>✓  Toll-fraud detection on one outbound campaign</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DTMF masking on one payment-handling skill</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Agent DLP rolled out to 10 pilot endpoints</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PQC overlay verified on test trunk</a:t>
            </a:r>
            <a:endParaRPr lang="en-IN" sz="1050" b="0" u="none" strike="noStrike">
              <a:solidFill>
                <a:srgbClr val="000000"/>
              </a:solidFill>
              <a:effectLst/>
              <a:uFillTx/>
              <a:latin typeface="Arial"/>
            </a:endParaRPr>
          </a:p>
        </p:txBody>
      </p:sp>
      <p:sp>
        <p:nvSpPr>
          <p:cNvPr id="604" name="Right Arrow 16"/>
          <p:cNvSpPr/>
          <p:nvPr/>
        </p:nvSpPr>
        <p:spPr>
          <a:xfrm>
            <a:off x="6031800" y="2697480"/>
            <a:ext cx="127800" cy="273960"/>
          </a:xfrm>
          <a:prstGeom prst="right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5" name="Rounded Rectangle 17"/>
          <p:cNvSpPr/>
          <p:nvPr/>
        </p:nvSpPr>
        <p:spPr>
          <a:xfrm>
            <a:off x="6168960" y="1005840"/>
            <a:ext cx="2697120" cy="3657240"/>
          </a:xfrm>
          <a:prstGeom prst="roundRect">
            <a:avLst>
              <a:gd name="adj" fmla="val 12000"/>
            </a:avLst>
          </a:prstGeom>
          <a:solidFill>
            <a:srgbClr val="F4F7FA"/>
          </a:solidFill>
          <a:ln w="25400">
            <a:solidFill>
              <a:srgbClr val="F0A500"/>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6" name="Rectangle 18"/>
          <p:cNvSpPr/>
          <p:nvPr/>
        </p:nvSpPr>
        <p:spPr>
          <a:xfrm>
            <a:off x="6168960" y="1005840"/>
            <a:ext cx="2697120" cy="54828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0D1B3E"/>
                </a:solidFill>
                <a:effectLst/>
                <a:uFillTx/>
                <a:latin typeface="Calibri"/>
              </a:rPr>
              <a:t>WEEK 3</a:t>
            </a:r>
            <a:endParaRPr lang="en-IN" sz="1400" b="0" u="none" strike="noStrike">
              <a:solidFill>
                <a:srgbClr val="000000"/>
              </a:solidFill>
              <a:effectLst/>
              <a:uFillTx/>
              <a:latin typeface="Arial"/>
            </a:endParaRPr>
          </a:p>
        </p:txBody>
      </p:sp>
      <p:sp>
        <p:nvSpPr>
          <p:cNvPr id="607" name="TextBox 19"/>
          <p:cNvSpPr/>
          <p:nvPr/>
        </p:nvSpPr>
        <p:spPr>
          <a:xfrm>
            <a:off x="6168960" y="1645920"/>
            <a:ext cx="269712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MULTI-TENANT DEMO</a:t>
            </a:r>
            <a:endParaRPr lang="en-IN" sz="1200" b="0" u="none" strike="noStrike">
              <a:solidFill>
                <a:srgbClr val="000000"/>
              </a:solidFill>
              <a:effectLst/>
              <a:uFillTx/>
              <a:latin typeface="Arial"/>
            </a:endParaRPr>
          </a:p>
        </p:txBody>
      </p:sp>
      <p:sp>
        <p:nvSpPr>
          <p:cNvPr id="608" name="TextBox 20"/>
          <p:cNvSpPr/>
          <p:nvPr/>
        </p:nvSpPr>
        <p:spPr>
          <a:xfrm>
            <a:off x="6351840" y="2103120"/>
            <a:ext cx="2331360" cy="23770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1050" b="0" u="none" strike="noStrike">
                <a:solidFill>
                  <a:srgbClr val="1A1A2E"/>
                </a:solidFill>
                <a:effectLst/>
                <a:uFillTx/>
                <a:latin typeface="Calibri"/>
              </a:rPr>
              <a:t>✓  Two logical tenants configured in QBITEL</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Per-tenant policy + key + audit isolation verified</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Compliance evidence pack generated per tenant</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Cross-tenant access negative test</a:t>
            </a:r>
            <a:endParaRPr lang="en-IN" sz="1050" b="0" u="none" strike="noStrike">
              <a:solidFill>
                <a:srgbClr val="000000"/>
              </a:solidFill>
              <a:effectLst/>
              <a:uFillTx/>
              <a:latin typeface="Arial"/>
            </a:endParaRPr>
          </a:p>
        </p:txBody>
      </p:sp>
      <p:sp>
        <p:nvSpPr>
          <p:cNvPr id="609" name="Right Arrow 21"/>
          <p:cNvSpPr/>
          <p:nvPr/>
        </p:nvSpPr>
        <p:spPr>
          <a:xfrm>
            <a:off x="8875800" y="2697480"/>
            <a:ext cx="127800" cy="273960"/>
          </a:xfrm>
          <a:prstGeom prst="rightArrow">
            <a:avLst>
              <a:gd name="adj1" fmla="val 50000"/>
              <a:gd name="adj2"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0" name="Rounded Rectangle 22"/>
          <p:cNvSpPr/>
          <p:nvPr/>
        </p:nvSpPr>
        <p:spPr>
          <a:xfrm>
            <a:off x="9012960" y="1005840"/>
            <a:ext cx="2697120" cy="3657240"/>
          </a:xfrm>
          <a:prstGeom prst="roundRect">
            <a:avLst>
              <a:gd name="adj" fmla="val 12000"/>
            </a:avLst>
          </a:prstGeom>
          <a:solidFill>
            <a:srgbClr val="F4F7FA"/>
          </a:solidFill>
          <a:ln w="25400">
            <a:solidFill>
              <a:srgbClr val="0D1B3E"/>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1" name="Rectangle 23"/>
          <p:cNvSpPr/>
          <p:nvPr/>
        </p:nvSpPr>
        <p:spPr>
          <a:xfrm>
            <a:off x="9012960" y="1005840"/>
            <a:ext cx="2697120" cy="5482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400" b="1" u="none" strike="noStrike">
                <a:solidFill>
                  <a:srgbClr val="FFFFFF"/>
                </a:solidFill>
                <a:effectLst/>
                <a:uFillTx/>
                <a:latin typeface="Calibri"/>
              </a:rPr>
              <a:t>WEEK 4</a:t>
            </a:r>
            <a:endParaRPr lang="en-IN" sz="1400" b="0" u="none" strike="noStrike">
              <a:solidFill>
                <a:srgbClr val="FFFFFF"/>
              </a:solidFill>
              <a:effectLst/>
              <a:uFillTx/>
              <a:latin typeface="Arial"/>
            </a:endParaRPr>
          </a:p>
        </p:txBody>
      </p:sp>
      <p:sp>
        <p:nvSpPr>
          <p:cNvPr id="612" name="TextBox 24"/>
          <p:cNvSpPr/>
          <p:nvPr/>
        </p:nvSpPr>
        <p:spPr>
          <a:xfrm>
            <a:off x="9012960" y="1645920"/>
            <a:ext cx="269712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JOINT REVIEW</a:t>
            </a:r>
            <a:endParaRPr lang="en-IN" sz="1200" b="0" u="none" strike="noStrike">
              <a:solidFill>
                <a:srgbClr val="000000"/>
              </a:solidFill>
              <a:effectLst/>
              <a:uFillTx/>
              <a:latin typeface="Arial"/>
            </a:endParaRPr>
          </a:p>
        </p:txBody>
      </p:sp>
      <p:sp>
        <p:nvSpPr>
          <p:cNvPr id="613" name="TextBox 25"/>
          <p:cNvSpPr/>
          <p:nvPr/>
        </p:nvSpPr>
        <p:spPr>
          <a:xfrm>
            <a:off x="9195840" y="2103120"/>
            <a:ext cx="2331360" cy="23770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1050" b="0" u="none" strike="noStrike">
                <a:solidFill>
                  <a:srgbClr val="1A1A2E"/>
                </a:solidFill>
                <a:effectLst/>
                <a:uFillTx/>
                <a:latin typeface="Calibri"/>
              </a:rPr>
              <a:t>✓  Technical readout with TCN eng / product / security</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Customer feedback session with pilot BPO</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Decision: proceed to commercial structure</a:t>
            </a:r>
            <a:endParaRPr lang="en-IN" sz="1050" b="0" u="none" strike="noStrike">
              <a:solidFill>
                <a:srgbClr val="000000"/>
              </a:solidFill>
              <a:effectLst/>
              <a:uFillTx/>
              <a:latin typeface="Arial"/>
            </a:endParaRPr>
          </a:p>
          <a:p>
            <a:pPr defTabSz="457200">
              <a:lnSpc>
                <a:spcPct val="140000"/>
              </a:lnSpc>
            </a:pPr>
            <a:r>
              <a:rPr lang="en-US" sz="1050" b="0" u="none" strike="noStrike">
                <a:solidFill>
                  <a:srgbClr val="1A1A2E"/>
                </a:solidFill>
                <a:effectLst/>
                <a:uFillTx/>
                <a:latin typeface="Calibri"/>
              </a:rPr>
              <a:t>✓  Joint go-to-market plan drafted</a:t>
            </a:r>
            <a:endParaRPr lang="en-IN" sz="1050" b="0" u="none" strike="noStrike">
              <a:solidFill>
                <a:srgbClr val="000000"/>
              </a:solidFill>
              <a:effectLst/>
              <a:uFillTx/>
              <a:latin typeface="Arial"/>
            </a:endParaRPr>
          </a:p>
        </p:txBody>
      </p:sp>
      <p:sp>
        <p:nvSpPr>
          <p:cNvPr id="614" name="Rounded Rectangle 26"/>
          <p:cNvSpPr/>
          <p:nvPr/>
        </p:nvSpPr>
        <p:spPr>
          <a:xfrm>
            <a:off x="457200" y="4846320"/>
            <a:ext cx="11274120" cy="1737000"/>
          </a:xfrm>
          <a:prstGeom prst="roundRect">
            <a:avLst>
              <a:gd name="adj" fmla="val 12000"/>
            </a:avLst>
          </a:prstGeom>
          <a:solidFill>
            <a:srgbClr val="0D1B3E"/>
          </a:solidFill>
          <a:ln w="19050">
            <a:solidFill>
              <a:srgbClr val="F0A500"/>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5" name="Rounded Rectangle 27"/>
          <p:cNvSpPr/>
          <p:nvPr/>
        </p:nvSpPr>
        <p:spPr>
          <a:xfrm>
            <a:off x="640080" y="4937760"/>
            <a:ext cx="2285640" cy="31968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SUCCESS CRITERIA</a:t>
            </a:r>
            <a:endParaRPr lang="en-IN" sz="1000" b="0" u="none" strike="noStrike">
              <a:solidFill>
                <a:srgbClr val="000000"/>
              </a:solidFill>
              <a:effectLst/>
              <a:uFillTx/>
              <a:latin typeface="Arial"/>
            </a:endParaRPr>
          </a:p>
        </p:txBody>
      </p:sp>
      <p:sp>
        <p:nvSpPr>
          <p:cNvPr id="616" name="TextBox 28"/>
          <p:cNvSpPr/>
          <p:nvPr/>
        </p:nvSpPr>
        <p:spPr>
          <a:xfrm>
            <a:off x="640080" y="5303520"/>
            <a:ext cx="10972440" cy="1279800"/>
          </a:xfrm>
          <a:prstGeom prst="rect">
            <a:avLst/>
          </a:prstGeom>
          <a:noFill/>
          <a:ln w="0">
            <a:noFill/>
          </a:ln>
        </p:spPr>
        <p:style>
          <a:lnRef idx="0"/>
          <a:fillRef idx="0"/>
          <a:effectRef idx="0"/>
          <a:fontRef idx="minor"/>
        </p:style>
        <p:txBody>
          <a:bodyPr lIns="90000" tIns="45000" rIns="90000" bIns="45000" anchor="t">
            <a:spAutoFit/>
          </a:bodyPr>
          <a:p>
            <a:pPr defTabSz="457200">
              <a:lnSpc>
                <a:spcPct val="130000"/>
              </a:lnSpc>
            </a:pPr>
            <a:r>
              <a:rPr lang="en-US" sz="1100" b="0" u="none" strike="noStrike">
                <a:solidFill>
                  <a:srgbClr val="FFFFFF"/>
                </a:solidFill>
                <a:effectLst/>
                <a:uFillTx/>
                <a:latin typeface="Calibri"/>
              </a:rPr>
              <a:t>◆  Integration non-disruptive to TCN data plane (verified by latency + MOS measurement)</a:t>
            </a:r>
            <a:endParaRPr lang="en-IN" sz="1100" b="0" u="none" strike="noStrike">
              <a:solidFill>
                <a:srgbClr val="000000"/>
              </a:solidFill>
              <a:effectLst/>
              <a:uFillTx/>
              <a:latin typeface="Arial"/>
            </a:endParaRPr>
          </a:p>
          <a:p>
            <a:pPr defTabSz="457200">
              <a:lnSpc>
                <a:spcPct val="130000"/>
              </a:lnSpc>
            </a:pPr>
            <a:r>
              <a:rPr lang="en-US" sz="1100" b="0" u="none" strike="noStrike">
                <a:solidFill>
                  <a:srgbClr val="FFFFFF"/>
                </a:solidFill>
                <a:effectLst/>
                <a:uFillTx/>
                <a:latin typeface="Calibri"/>
              </a:rPr>
              <a:t>◆  Pilot customer attests the console tab is usable inside TCN Operator with no training</a:t>
            </a:r>
            <a:endParaRPr lang="en-IN" sz="1100" b="0" u="none" strike="noStrike">
              <a:solidFill>
                <a:srgbClr val="000000"/>
              </a:solidFill>
              <a:effectLst/>
              <a:uFillTx/>
              <a:latin typeface="Arial"/>
            </a:endParaRPr>
          </a:p>
          <a:p>
            <a:pPr defTabSz="457200">
              <a:lnSpc>
                <a:spcPct val="130000"/>
              </a:lnSpc>
            </a:pPr>
            <a:r>
              <a:rPr lang="en-US" sz="1100" b="0" u="none" strike="noStrike">
                <a:solidFill>
                  <a:srgbClr val="FFFFFF"/>
                </a:solidFill>
                <a:effectLst/>
                <a:uFillTx/>
                <a:latin typeface="Calibri"/>
              </a:rPr>
              <a:t>◆  Demonstrated end-to-end: one toll-fraud block + one DTMF-masked payment + one per-tenant compliance pack</a:t>
            </a:r>
            <a:endParaRPr lang="en-IN" sz="1100" b="0" u="none" strike="noStrike">
              <a:solidFill>
                <a:srgbClr val="000000"/>
              </a:solidFill>
              <a:effectLst/>
              <a:uFillTx/>
              <a:latin typeface="Arial"/>
            </a:endParaRPr>
          </a:p>
          <a:p>
            <a:pPr defTabSz="457200">
              <a:lnSpc>
                <a:spcPct val="130000"/>
              </a:lnSpc>
            </a:pPr>
            <a:r>
              <a:rPr lang="en-US" sz="1100" b="0" u="none" strike="noStrike">
                <a:solidFill>
                  <a:srgbClr val="FFFFFF"/>
                </a:solidFill>
                <a:effectLst/>
                <a:uFillTx/>
                <a:latin typeface="Calibri"/>
              </a:rPr>
              <a:t>◆  Joint commercial path identified and agreed</a:t>
            </a:r>
            <a:endParaRPr lang="en-IN" sz="1100" b="0" u="none" strike="noStrike">
              <a:solidFill>
                <a:srgbClr val="000000"/>
              </a:solidFill>
              <a:effectLst/>
              <a:uFillTx/>
              <a:latin typeface="Arial"/>
            </a:endParaRPr>
          </a:p>
        </p:txBody>
      </p:sp>
      <p:sp>
        <p:nvSpPr>
          <p:cNvPr id="617" name="Rectangle 29"/>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8" name="Rectangle 30"/>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619" name="TextBox 31"/>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620" name="TextBox 32"/>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17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Rectangle 1"/>
          <p:cNvSpPr/>
          <p:nvPr/>
        </p:nvSpPr>
        <p:spPr>
          <a:xfrm>
            <a:off x="0" y="0"/>
            <a:ext cx="12191400" cy="63972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2" name="Rectangle 2"/>
          <p:cNvSpPr/>
          <p:nvPr/>
        </p:nvSpPr>
        <p:spPr>
          <a:xfrm>
            <a:off x="0" y="0"/>
            <a:ext cx="72720" cy="63972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3" name="Rectangle 3"/>
          <p:cNvSpPr/>
          <p:nvPr/>
        </p:nvSpPr>
        <p:spPr>
          <a:xfrm>
            <a:off x="73080" y="0"/>
            <a:ext cx="36360" cy="63972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4" name="TextBox 4"/>
          <p:cNvSpPr/>
          <p:nvPr/>
        </p:nvSpPr>
        <p:spPr>
          <a:xfrm>
            <a:off x="320040" y="45720"/>
            <a:ext cx="10058040" cy="36576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1800" b="1" u="none" strike="noStrike">
                <a:solidFill>
                  <a:srgbClr val="FFFFFF"/>
                </a:solidFill>
                <a:effectLst/>
                <a:uFillTx/>
                <a:latin typeface="Calibri"/>
              </a:rPr>
              <a:t>NEXT STEPS</a:t>
            </a:r>
            <a:endParaRPr lang="en-IN" sz="1800" b="0" u="none" strike="noStrike">
              <a:solidFill>
                <a:srgbClr val="000000"/>
              </a:solidFill>
              <a:effectLst/>
              <a:uFillTx/>
              <a:latin typeface="Arial"/>
            </a:endParaRPr>
          </a:p>
        </p:txBody>
      </p:sp>
      <p:sp>
        <p:nvSpPr>
          <p:cNvPr id="625" name="TextBox 5"/>
          <p:cNvSpPr/>
          <p:nvPr/>
        </p:nvSpPr>
        <p:spPr>
          <a:xfrm>
            <a:off x="320040" y="384120"/>
            <a:ext cx="10058040" cy="228240"/>
          </a:xfrm>
          <a:prstGeom prst="rect">
            <a:avLst/>
          </a:prstGeom>
          <a:noFill/>
          <a:ln w="0">
            <a:noFill/>
          </a:ln>
        </p:spPr>
        <p:style>
          <a:lnRef idx="0"/>
          <a:fillRef idx="0"/>
          <a:effectRef idx="0"/>
          <a:fontRef idx="minor"/>
        </p:style>
        <p:txBody>
          <a:bodyPr lIns="50760" tIns="25560" rIns="50760" bIns="25560" anchor="t">
            <a:spAutoFit/>
          </a:bodyPr>
          <a:p>
            <a:pPr defTabSz="457200">
              <a:lnSpc>
                <a:spcPct val="115000"/>
              </a:lnSpc>
            </a:pPr>
            <a:r>
              <a:rPr lang="en-US" sz="1050" b="0" i="1" u="none" strike="noStrike">
                <a:solidFill>
                  <a:srgbClr val="CDE8EC"/>
                </a:solidFill>
                <a:effectLst/>
                <a:uFillTx/>
                <a:latin typeface="Calibri"/>
              </a:rPr>
              <a:t>If today's conversation is productive, here is the path forward</a:t>
            </a:r>
            <a:endParaRPr lang="en-IN" sz="1050" b="0" u="none" strike="noStrike">
              <a:solidFill>
                <a:srgbClr val="000000"/>
              </a:solidFill>
              <a:effectLst/>
              <a:uFillTx/>
              <a:latin typeface="Arial"/>
            </a:endParaRPr>
          </a:p>
        </p:txBody>
      </p:sp>
      <p:sp>
        <p:nvSpPr>
          <p:cNvPr id="626" name="TextBox 6"/>
          <p:cNvSpPr/>
          <p:nvPr/>
        </p:nvSpPr>
        <p:spPr>
          <a:xfrm>
            <a:off x="9144000" y="164520"/>
            <a:ext cx="2834280" cy="27396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1000" b="1" u="none" strike="noStrike">
                <a:solidFill>
                  <a:srgbClr val="F0A500"/>
                </a:solidFill>
                <a:effectLst/>
                <a:uFillTx/>
                <a:latin typeface="Calibri"/>
              </a:rPr>
              <a:t>QBITEL  ×  TCN</a:t>
            </a:r>
            <a:endParaRPr lang="en-IN" sz="1000" b="0" u="none" strike="noStrike">
              <a:solidFill>
                <a:srgbClr val="000000"/>
              </a:solidFill>
              <a:effectLst/>
              <a:uFillTx/>
              <a:latin typeface="Arial"/>
            </a:endParaRPr>
          </a:p>
        </p:txBody>
      </p:sp>
      <p:sp>
        <p:nvSpPr>
          <p:cNvPr id="627" name="Rectangle 7"/>
          <p:cNvSpPr/>
          <p:nvPr/>
        </p:nvSpPr>
        <p:spPr>
          <a:xfrm>
            <a:off x="731520" y="2286000"/>
            <a:ext cx="10698120" cy="5436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28" name="Oval 8"/>
          <p:cNvSpPr/>
          <p:nvPr/>
        </p:nvSpPr>
        <p:spPr>
          <a:xfrm>
            <a:off x="731520" y="1965960"/>
            <a:ext cx="731160" cy="731160"/>
          </a:xfrm>
          <a:prstGeom prst="ellipse">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2200" b="1" u="none" strike="noStrike">
                <a:solidFill>
                  <a:srgbClr val="F0A500"/>
                </a:solidFill>
                <a:effectLst/>
                <a:uFillTx/>
                <a:latin typeface="Calibri"/>
              </a:rPr>
              <a:t>1</a:t>
            </a:r>
            <a:endParaRPr lang="en-IN" sz="2200" b="0" u="none" strike="noStrike">
              <a:solidFill>
                <a:srgbClr val="FFFFFF"/>
              </a:solidFill>
              <a:effectLst/>
              <a:uFillTx/>
              <a:latin typeface="Arial"/>
            </a:endParaRPr>
          </a:p>
        </p:txBody>
      </p:sp>
      <p:sp>
        <p:nvSpPr>
          <p:cNvPr id="629" name="Rounded Rectangle 9"/>
          <p:cNvSpPr/>
          <p:nvPr/>
        </p:nvSpPr>
        <p:spPr>
          <a:xfrm>
            <a:off x="457200" y="1554480"/>
            <a:ext cx="1279800" cy="31968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1 WEEK</a:t>
            </a:r>
            <a:endParaRPr lang="en-IN" sz="1000" b="0" u="none" strike="noStrike">
              <a:solidFill>
                <a:srgbClr val="000000"/>
              </a:solidFill>
              <a:effectLst/>
              <a:uFillTx/>
              <a:latin typeface="Arial"/>
            </a:endParaRPr>
          </a:p>
        </p:txBody>
      </p:sp>
      <p:sp>
        <p:nvSpPr>
          <p:cNvPr id="630" name="TextBox 10"/>
          <p:cNvSpPr/>
          <p:nvPr/>
        </p:nvSpPr>
        <p:spPr>
          <a:xfrm>
            <a:off x="182880" y="2788920"/>
            <a:ext cx="228564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MUTUAL NDA + REFERENCES</a:t>
            </a:r>
            <a:endParaRPr lang="en-IN" sz="1200" b="0" u="none" strike="noStrike">
              <a:solidFill>
                <a:srgbClr val="000000"/>
              </a:solidFill>
              <a:effectLst/>
              <a:uFillTx/>
              <a:latin typeface="Arial"/>
            </a:endParaRPr>
          </a:p>
        </p:txBody>
      </p:sp>
      <p:sp>
        <p:nvSpPr>
          <p:cNvPr id="631" name="TextBox 11"/>
          <p:cNvSpPr/>
          <p:nvPr/>
        </p:nvSpPr>
        <p:spPr>
          <a:xfrm>
            <a:off x="182880" y="3154680"/>
            <a:ext cx="2377080" cy="1188360"/>
          </a:xfrm>
          <a:prstGeom prst="rect">
            <a:avLst/>
          </a:prstGeom>
          <a:noFill/>
          <a:ln w="0">
            <a:noFill/>
          </a:ln>
        </p:spPr>
        <p:style>
          <a:lnRef idx="0"/>
          <a:fillRef idx="0"/>
          <a:effectRef idx="0"/>
          <a:fontRef idx="minor"/>
        </p:style>
        <p:txBody>
          <a:bodyPr lIns="50760" tIns="25560" rIns="50760" bIns="25560" anchor="t">
            <a:spAutoFit/>
          </a:bodyPr>
          <a:p>
            <a:pPr algn="ctr" defTabSz="457200">
              <a:lnSpc>
                <a:spcPct val="130000"/>
              </a:lnSpc>
            </a:pPr>
            <a:r>
              <a:rPr lang="en-US" sz="1000" b="0" u="none" strike="noStrike">
                <a:solidFill>
                  <a:srgbClr val="1A1A2E"/>
                </a:solidFill>
                <a:effectLst/>
                <a:uFillTx/>
                <a:latin typeface="Calibri"/>
              </a:rPr>
              <a:t>Mutual NDA in place. QBITEL shares technical reference architecture under NDA, plus customer references.</a:t>
            </a:r>
            <a:endParaRPr lang="en-IN" sz="1000" b="0" u="none" strike="noStrike">
              <a:solidFill>
                <a:srgbClr val="000000"/>
              </a:solidFill>
              <a:effectLst/>
              <a:uFillTx/>
              <a:latin typeface="Arial"/>
            </a:endParaRPr>
          </a:p>
        </p:txBody>
      </p:sp>
      <p:sp>
        <p:nvSpPr>
          <p:cNvPr id="632" name="Oval 12"/>
          <p:cNvSpPr/>
          <p:nvPr/>
        </p:nvSpPr>
        <p:spPr>
          <a:xfrm>
            <a:off x="3474720" y="1965960"/>
            <a:ext cx="731160" cy="731160"/>
          </a:xfrm>
          <a:prstGeom prst="ellipse">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2200" b="1" u="none" strike="noStrike">
                <a:solidFill>
                  <a:srgbClr val="F0A500"/>
                </a:solidFill>
                <a:effectLst/>
                <a:uFillTx/>
                <a:latin typeface="Calibri"/>
              </a:rPr>
              <a:t>2</a:t>
            </a:r>
            <a:endParaRPr lang="en-IN" sz="2200" b="0" u="none" strike="noStrike">
              <a:solidFill>
                <a:srgbClr val="FFFFFF"/>
              </a:solidFill>
              <a:effectLst/>
              <a:uFillTx/>
              <a:latin typeface="Arial"/>
            </a:endParaRPr>
          </a:p>
        </p:txBody>
      </p:sp>
      <p:sp>
        <p:nvSpPr>
          <p:cNvPr id="633" name="Rounded Rectangle 13"/>
          <p:cNvSpPr/>
          <p:nvPr/>
        </p:nvSpPr>
        <p:spPr>
          <a:xfrm>
            <a:off x="3200400" y="1554480"/>
            <a:ext cx="1279800" cy="31968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2 WEEKS</a:t>
            </a:r>
            <a:endParaRPr lang="en-IN" sz="1000" b="0" u="none" strike="noStrike">
              <a:solidFill>
                <a:srgbClr val="000000"/>
              </a:solidFill>
              <a:effectLst/>
              <a:uFillTx/>
              <a:latin typeface="Arial"/>
            </a:endParaRPr>
          </a:p>
        </p:txBody>
      </p:sp>
      <p:sp>
        <p:nvSpPr>
          <p:cNvPr id="634" name="TextBox 14"/>
          <p:cNvSpPr/>
          <p:nvPr/>
        </p:nvSpPr>
        <p:spPr>
          <a:xfrm>
            <a:off x="2926080" y="2788920"/>
            <a:ext cx="228564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TECHNICAL SCOPING CALL</a:t>
            </a:r>
            <a:endParaRPr lang="en-IN" sz="1200" b="0" u="none" strike="noStrike">
              <a:solidFill>
                <a:srgbClr val="000000"/>
              </a:solidFill>
              <a:effectLst/>
              <a:uFillTx/>
              <a:latin typeface="Arial"/>
            </a:endParaRPr>
          </a:p>
        </p:txBody>
      </p:sp>
      <p:sp>
        <p:nvSpPr>
          <p:cNvPr id="635" name="TextBox 15"/>
          <p:cNvSpPr/>
          <p:nvPr/>
        </p:nvSpPr>
        <p:spPr>
          <a:xfrm>
            <a:off x="2926080" y="3154680"/>
            <a:ext cx="2377080" cy="1188360"/>
          </a:xfrm>
          <a:prstGeom prst="rect">
            <a:avLst/>
          </a:prstGeom>
          <a:noFill/>
          <a:ln w="0">
            <a:noFill/>
          </a:ln>
        </p:spPr>
        <p:style>
          <a:lnRef idx="0"/>
          <a:fillRef idx="0"/>
          <a:effectRef idx="0"/>
          <a:fontRef idx="minor"/>
        </p:style>
        <p:txBody>
          <a:bodyPr lIns="50760" tIns="25560" rIns="50760" bIns="25560" anchor="t">
            <a:spAutoFit/>
          </a:bodyPr>
          <a:p>
            <a:pPr algn="ctr" defTabSz="457200">
              <a:lnSpc>
                <a:spcPct val="130000"/>
              </a:lnSpc>
            </a:pPr>
            <a:r>
              <a:rPr lang="en-US" sz="1000" b="0" u="none" strike="noStrike">
                <a:solidFill>
                  <a:srgbClr val="1A1A2E"/>
                </a:solidFill>
                <a:effectLst/>
                <a:uFillTx/>
                <a:latin typeface="Calibri"/>
              </a:rPr>
              <a:t>Joint scoping call: TCN engineering + QBITEL integration team. Confirm seams; pick pilot customer.</a:t>
            </a:r>
            <a:endParaRPr lang="en-IN" sz="1000" b="0" u="none" strike="noStrike">
              <a:solidFill>
                <a:srgbClr val="000000"/>
              </a:solidFill>
              <a:effectLst/>
              <a:uFillTx/>
              <a:latin typeface="Arial"/>
            </a:endParaRPr>
          </a:p>
        </p:txBody>
      </p:sp>
      <p:sp>
        <p:nvSpPr>
          <p:cNvPr id="636" name="Oval 16"/>
          <p:cNvSpPr/>
          <p:nvPr/>
        </p:nvSpPr>
        <p:spPr>
          <a:xfrm>
            <a:off x="6217920" y="1965960"/>
            <a:ext cx="731160" cy="731160"/>
          </a:xfrm>
          <a:prstGeom prst="ellipse">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2200" b="1" u="none" strike="noStrike">
                <a:solidFill>
                  <a:srgbClr val="F0A500"/>
                </a:solidFill>
                <a:effectLst/>
                <a:uFillTx/>
                <a:latin typeface="Calibri"/>
              </a:rPr>
              <a:t>3</a:t>
            </a:r>
            <a:endParaRPr lang="en-IN" sz="2200" b="0" u="none" strike="noStrike">
              <a:solidFill>
                <a:srgbClr val="FFFFFF"/>
              </a:solidFill>
              <a:effectLst/>
              <a:uFillTx/>
              <a:latin typeface="Arial"/>
            </a:endParaRPr>
          </a:p>
        </p:txBody>
      </p:sp>
      <p:sp>
        <p:nvSpPr>
          <p:cNvPr id="637" name="Rounded Rectangle 17"/>
          <p:cNvSpPr/>
          <p:nvPr/>
        </p:nvSpPr>
        <p:spPr>
          <a:xfrm>
            <a:off x="5943600" y="1554480"/>
            <a:ext cx="1279800" cy="31968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4 WEEKS</a:t>
            </a:r>
            <a:endParaRPr lang="en-IN" sz="1000" b="0" u="none" strike="noStrike">
              <a:solidFill>
                <a:srgbClr val="000000"/>
              </a:solidFill>
              <a:effectLst/>
              <a:uFillTx/>
              <a:latin typeface="Arial"/>
            </a:endParaRPr>
          </a:p>
        </p:txBody>
      </p:sp>
      <p:sp>
        <p:nvSpPr>
          <p:cNvPr id="638" name="TextBox 18"/>
          <p:cNvSpPr/>
          <p:nvPr/>
        </p:nvSpPr>
        <p:spPr>
          <a:xfrm>
            <a:off x="5669280" y="2788920"/>
            <a:ext cx="228564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POC KICKOFF</a:t>
            </a:r>
            <a:endParaRPr lang="en-IN" sz="1200" b="0" u="none" strike="noStrike">
              <a:solidFill>
                <a:srgbClr val="000000"/>
              </a:solidFill>
              <a:effectLst/>
              <a:uFillTx/>
              <a:latin typeface="Arial"/>
            </a:endParaRPr>
          </a:p>
        </p:txBody>
      </p:sp>
      <p:sp>
        <p:nvSpPr>
          <p:cNvPr id="639" name="TextBox 19"/>
          <p:cNvSpPr/>
          <p:nvPr/>
        </p:nvSpPr>
        <p:spPr>
          <a:xfrm>
            <a:off x="5669280" y="3154680"/>
            <a:ext cx="2377080" cy="1188360"/>
          </a:xfrm>
          <a:prstGeom prst="rect">
            <a:avLst/>
          </a:prstGeom>
          <a:noFill/>
          <a:ln w="0">
            <a:noFill/>
          </a:ln>
        </p:spPr>
        <p:style>
          <a:lnRef idx="0"/>
          <a:fillRef idx="0"/>
          <a:effectRef idx="0"/>
          <a:fontRef idx="minor"/>
        </p:style>
        <p:txBody>
          <a:bodyPr lIns="50760" tIns="25560" rIns="50760" bIns="25560" anchor="t">
            <a:spAutoFit/>
          </a:bodyPr>
          <a:p>
            <a:pPr algn="ctr" defTabSz="457200">
              <a:lnSpc>
                <a:spcPct val="130000"/>
              </a:lnSpc>
            </a:pPr>
            <a:r>
              <a:rPr lang="en-US" sz="1000" b="0" u="none" strike="noStrike">
                <a:solidFill>
                  <a:srgbClr val="1A1A2E"/>
                </a:solidFill>
                <a:effectLst/>
                <a:uFillTx/>
                <a:latin typeface="Calibri"/>
              </a:rPr>
              <a:t>Four-week joint sprint per the prior slide.</a:t>
            </a:r>
            <a:endParaRPr lang="en-IN" sz="1000" b="0" u="none" strike="noStrike">
              <a:solidFill>
                <a:srgbClr val="000000"/>
              </a:solidFill>
              <a:effectLst/>
              <a:uFillTx/>
              <a:latin typeface="Arial"/>
            </a:endParaRPr>
          </a:p>
        </p:txBody>
      </p:sp>
      <p:sp>
        <p:nvSpPr>
          <p:cNvPr id="640" name="Oval 20"/>
          <p:cNvSpPr/>
          <p:nvPr/>
        </p:nvSpPr>
        <p:spPr>
          <a:xfrm>
            <a:off x="8961120" y="1965960"/>
            <a:ext cx="731160" cy="731160"/>
          </a:xfrm>
          <a:prstGeom prst="ellipse">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2200" b="1" u="none" strike="noStrike">
                <a:solidFill>
                  <a:srgbClr val="F0A500"/>
                </a:solidFill>
                <a:effectLst/>
                <a:uFillTx/>
                <a:latin typeface="Calibri"/>
              </a:rPr>
              <a:t>4</a:t>
            </a:r>
            <a:endParaRPr lang="en-IN" sz="2200" b="0" u="none" strike="noStrike">
              <a:solidFill>
                <a:srgbClr val="FFFFFF"/>
              </a:solidFill>
              <a:effectLst/>
              <a:uFillTx/>
              <a:latin typeface="Arial"/>
            </a:endParaRPr>
          </a:p>
        </p:txBody>
      </p:sp>
      <p:sp>
        <p:nvSpPr>
          <p:cNvPr id="641" name="Rounded Rectangle 21"/>
          <p:cNvSpPr/>
          <p:nvPr/>
        </p:nvSpPr>
        <p:spPr>
          <a:xfrm>
            <a:off x="8686800" y="1554480"/>
            <a:ext cx="1279800" cy="31968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12 WEEKS</a:t>
            </a:r>
            <a:endParaRPr lang="en-IN" sz="1000" b="0" u="none" strike="noStrike">
              <a:solidFill>
                <a:srgbClr val="000000"/>
              </a:solidFill>
              <a:effectLst/>
              <a:uFillTx/>
              <a:latin typeface="Arial"/>
            </a:endParaRPr>
          </a:p>
        </p:txBody>
      </p:sp>
      <p:sp>
        <p:nvSpPr>
          <p:cNvPr id="642" name="TextBox 22"/>
          <p:cNvSpPr/>
          <p:nvPr/>
        </p:nvSpPr>
        <p:spPr>
          <a:xfrm>
            <a:off x="8412480" y="2788920"/>
            <a:ext cx="228564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200" b="1" u="none" strike="noStrike">
                <a:solidFill>
                  <a:srgbClr val="0D1B3E"/>
                </a:solidFill>
                <a:effectLst/>
                <a:uFillTx/>
                <a:latin typeface="Calibri"/>
              </a:rPr>
              <a:t>JOINT GO/NO-GO</a:t>
            </a:r>
            <a:endParaRPr lang="en-IN" sz="1200" b="0" u="none" strike="noStrike">
              <a:solidFill>
                <a:srgbClr val="000000"/>
              </a:solidFill>
              <a:effectLst/>
              <a:uFillTx/>
              <a:latin typeface="Arial"/>
            </a:endParaRPr>
          </a:p>
        </p:txBody>
      </p:sp>
      <p:sp>
        <p:nvSpPr>
          <p:cNvPr id="643" name="TextBox 23"/>
          <p:cNvSpPr/>
          <p:nvPr/>
        </p:nvSpPr>
        <p:spPr>
          <a:xfrm>
            <a:off x="8412480" y="3154680"/>
            <a:ext cx="2377080" cy="1188360"/>
          </a:xfrm>
          <a:prstGeom prst="rect">
            <a:avLst/>
          </a:prstGeom>
          <a:noFill/>
          <a:ln w="0">
            <a:noFill/>
          </a:ln>
        </p:spPr>
        <p:style>
          <a:lnRef idx="0"/>
          <a:fillRef idx="0"/>
          <a:effectRef idx="0"/>
          <a:fontRef idx="minor"/>
        </p:style>
        <p:txBody>
          <a:bodyPr lIns="50760" tIns="25560" rIns="50760" bIns="25560" anchor="t">
            <a:spAutoFit/>
          </a:bodyPr>
          <a:p>
            <a:pPr algn="ctr" defTabSz="457200">
              <a:lnSpc>
                <a:spcPct val="130000"/>
              </a:lnSpc>
            </a:pPr>
            <a:r>
              <a:rPr lang="en-US" sz="1000" b="0" u="none" strike="noStrike">
                <a:solidFill>
                  <a:srgbClr val="1A1A2E"/>
                </a:solidFill>
                <a:effectLst/>
                <a:uFillTx/>
                <a:latin typeface="Calibri"/>
              </a:rPr>
              <a:t>Decision on commercial structure (Option A / B / C) and roadmap to GA partnership.</a:t>
            </a:r>
            <a:endParaRPr lang="en-IN" sz="1000" b="0" u="none" strike="noStrike">
              <a:solidFill>
                <a:srgbClr val="000000"/>
              </a:solidFill>
              <a:effectLst/>
              <a:uFillTx/>
              <a:latin typeface="Arial"/>
            </a:endParaRPr>
          </a:p>
        </p:txBody>
      </p:sp>
      <p:sp>
        <p:nvSpPr>
          <p:cNvPr id="644" name="Rounded Rectangle 24"/>
          <p:cNvSpPr/>
          <p:nvPr/>
        </p:nvSpPr>
        <p:spPr>
          <a:xfrm>
            <a:off x="457200" y="4754880"/>
            <a:ext cx="11274120" cy="1828440"/>
          </a:xfrm>
          <a:prstGeom prst="roundRect">
            <a:avLst>
              <a:gd name="adj" fmla="val 12000"/>
            </a:avLst>
          </a:prstGeom>
          <a:solidFill>
            <a:srgbClr val="0D1B3E"/>
          </a:solidFill>
          <a:ln w="19050">
            <a:solidFill>
              <a:srgbClr val="F0A500"/>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5" name="Rounded Rectangle 25"/>
          <p:cNvSpPr/>
          <p:nvPr/>
        </p:nvSpPr>
        <p:spPr>
          <a:xfrm>
            <a:off x="640080" y="4846320"/>
            <a:ext cx="3200040" cy="319680"/>
          </a:xfrm>
          <a:prstGeom prst="roundRect">
            <a:avLst>
              <a:gd name="adj" fmla="val 50000"/>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25560" rIns="50760" bIns="25560" anchor="ctr">
            <a:noAutofit/>
          </a:bodyPr>
          <a:p>
            <a:pPr algn="ctr" defTabSz="457200">
              <a:lnSpc>
                <a:spcPct val="115000"/>
              </a:lnSpc>
            </a:pPr>
            <a:r>
              <a:rPr lang="en-US" sz="1000" b="1" u="none" strike="noStrike">
                <a:solidFill>
                  <a:srgbClr val="0D1B3E"/>
                </a:solidFill>
                <a:effectLst/>
                <a:uFillTx/>
                <a:latin typeface="Calibri"/>
              </a:rPr>
              <a:t>WHAT WE'D LIKE FROM THIS MEETING</a:t>
            </a:r>
            <a:endParaRPr lang="en-IN" sz="1000" b="0" u="none" strike="noStrike">
              <a:solidFill>
                <a:srgbClr val="000000"/>
              </a:solidFill>
              <a:effectLst/>
              <a:uFillTx/>
              <a:latin typeface="Arial"/>
            </a:endParaRPr>
          </a:p>
        </p:txBody>
      </p:sp>
      <p:sp>
        <p:nvSpPr>
          <p:cNvPr id="646" name="TextBox 26"/>
          <p:cNvSpPr/>
          <p:nvPr/>
        </p:nvSpPr>
        <p:spPr>
          <a:xfrm>
            <a:off x="640080" y="5212080"/>
            <a:ext cx="10972440" cy="1371240"/>
          </a:xfrm>
          <a:prstGeom prst="rect">
            <a:avLst/>
          </a:prstGeom>
          <a:noFill/>
          <a:ln w="0">
            <a:noFill/>
          </a:ln>
        </p:spPr>
        <p:style>
          <a:lnRef idx="0"/>
          <a:fillRef idx="0"/>
          <a:effectRef idx="0"/>
          <a:fontRef idx="minor"/>
        </p:style>
        <p:txBody>
          <a:bodyPr lIns="90000" tIns="45000" rIns="90000" bIns="45000" anchor="t">
            <a:spAutoFit/>
          </a:bodyPr>
          <a:p>
            <a:pPr defTabSz="457200">
              <a:lnSpc>
                <a:spcPct val="135000"/>
              </a:lnSpc>
            </a:pPr>
            <a:r>
              <a:rPr lang="en-US" sz="1200" b="0" u="none" strike="noStrike">
                <a:solidFill>
                  <a:srgbClr val="FFFFFF"/>
                </a:solidFill>
                <a:effectLst/>
                <a:uFillTx/>
                <a:latin typeface="Calibri"/>
              </a:rPr>
              <a:t>▸  Your initial reaction to the integration architecture</a:t>
            </a:r>
            <a:endParaRPr lang="en-IN" sz="1200" b="0" u="none" strike="noStrike">
              <a:solidFill>
                <a:srgbClr val="000000"/>
              </a:solidFill>
              <a:effectLst/>
              <a:uFillTx/>
              <a:latin typeface="Arial"/>
            </a:endParaRPr>
          </a:p>
          <a:p>
            <a:pPr defTabSz="457200">
              <a:lnSpc>
                <a:spcPct val="135000"/>
              </a:lnSpc>
            </a:pPr>
            <a:r>
              <a:rPr lang="en-US" sz="1200" b="0" u="none" strike="noStrike">
                <a:solidFill>
                  <a:srgbClr val="FFFFFF"/>
                </a:solidFill>
                <a:effectLst/>
                <a:uFillTx/>
                <a:latin typeface="Calibri"/>
              </a:rPr>
              <a:t>▸  Confirmation (or correction) of our understanding of TCN Operator</a:t>
            </a:r>
            <a:endParaRPr lang="en-IN" sz="1200" b="0" u="none" strike="noStrike">
              <a:solidFill>
                <a:srgbClr val="000000"/>
              </a:solidFill>
              <a:effectLst/>
              <a:uFillTx/>
              <a:latin typeface="Arial"/>
            </a:endParaRPr>
          </a:p>
          <a:p>
            <a:pPr defTabSz="457200">
              <a:lnSpc>
                <a:spcPct val="135000"/>
              </a:lnSpc>
            </a:pPr>
            <a:r>
              <a:rPr lang="en-US" sz="1200" b="0" u="none" strike="noStrike">
                <a:solidFill>
                  <a:srgbClr val="FFFFFF"/>
                </a:solidFill>
                <a:effectLst/>
                <a:uFillTx/>
                <a:latin typeface="Calibri"/>
              </a:rPr>
              <a:t>▸  Pointer to the right TCN counterpart for the Week-1 scoping call</a:t>
            </a:r>
            <a:endParaRPr lang="en-IN" sz="1200" b="0" u="none" strike="noStrike">
              <a:solidFill>
                <a:srgbClr val="000000"/>
              </a:solidFill>
              <a:effectLst/>
              <a:uFillTx/>
              <a:latin typeface="Arial"/>
            </a:endParaRPr>
          </a:p>
          <a:p>
            <a:pPr defTabSz="457200">
              <a:lnSpc>
                <a:spcPct val="135000"/>
              </a:lnSpc>
            </a:pPr>
            <a:r>
              <a:rPr lang="en-US" sz="1200" b="0" u="none" strike="noStrike">
                <a:solidFill>
                  <a:srgbClr val="FFFFFF"/>
                </a:solidFill>
                <a:effectLst/>
                <a:uFillTx/>
                <a:latin typeface="Calibri"/>
              </a:rPr>
              <a:t>▸  Indication of which commercial model is most natural for TCN today</a:t>
            </a:r>
            <a:endParaRPr lang="en-IN" sz="1200" b="0" u="none" strike="noStrike">
              <a:solidFill>
                <a:srgbClr val="000000"/>
              </a:solidFill>
              <a:effectLst/>
              <a:uFillTx/>
              <a:latin typeface="Arial"/>
            </a:endParaRPr>
          </a:p>
        </p:txBody>
      </p:sp>
      <p:sp>
        <p:nvSpPr>
          <p:cNvPr id="647" name="Rectangle 27"/>
          <p:cNvSpPr/>
          <p:nvPr/>
        </p:nvSpPr>
        <p:spPr>
          <a:xfrm>
            <a:off x="0" y="6537960"/>
            <a:ext cx="12191400" cy="31968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8" name="Rectangle 28"/>
          <p:cNvSpPr/>
          <p:nvPr/>
        </p:nvSpPr>
        <p:spPr>
          <a:xfrm>
            <a:off x="0" y="6519600"/>
            <a:ext cx="12191400" cy="18000"/>
          </a:xfrm>
          <a:prstGeom prst="rect">
            <a:avLst/>
          </a:prstGeom>
          <a:solidFill>
            <a:srgbClr val="008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649" name="TextBox 29"/>
          <p:cNvSpPr/>
          <p:nvPr/>
        </p:nvSpPr>
        <p:spPr>
          <a:xfrm>
            <a:off x="320040" y="6537960"/>
            <a:ext cx="7314840" cy="319680"/>
          </a:xfrm>
          <a:prstGeom prst="rect">
            <a:avLst/>
          </a:prstGeom>
          <a:noFill/>
          <a:ln w="0">
            <a:noFill/>
          </a:ln>
        </p:spPr>
        <p:style>
          <a:lnRef idx="0"/>
          <a:fillRef idx="0"/>
          <a:effectRef idx="0"/>
          <a:fontRef idx="minor"/>
        </p:style>
        <p:txBody>
          <a:bodyPr lIns="50760" tIns="25560" rIns="50760" bIns="25560" anchor="ctr">
            <a:spAutoFit/>
          </a:bodyPr>
          <a:p>
            <a:pPr defTabSz="457200">
              <a:lnSpc>
                <a:spcPct val="115000"/>
              </a:lnSpc>
            </a:pPr>
            <a:r>
              <a:rPr lang="en-US" sz="800" b="0" u="none" strike="noStrike">
                <a:solidFill>
                  <a:srgbClr val="FFFFFF"/>
                </a:solidFill>
                <a:effectLst/>
                <a:uFillTx/>
                <a:latin typeface="Calibri"/>
              </a:rPr>
              <a:t>Confidential — For Authorized Recipients Only  •  © 2026 QBITEL</a:t>
            </a:r>
            <a:endParaRPr lang="en-IN" sz="800" b="0" u="none" strike="noStrike">
              <a:solidFill>
                <a:srgbClr val="000000"/>
              </a:solidFill>
              <a:effectLst/>
              <a:uFillTx/>
              <a:latin typeface="Arial"/>
            </a:endParaRPr>
          </a:p>
        </p:txBody>
      </p:sp>
      <p:sp>
        <p:nvSpPr>
          <p:cNvPr id="650" name="TextBox 30"/>
          <p:cNvSpPr/>
          <p:nvPr/>
        </p:nvSpPr>
        <p:spPr>
          <a:xfrm>
            <a:off x="9601200" y="6537960"/>
            <a:ext cx="2194200" cy="319680"/>
          </a:xfrm>
          <a:prstGeom prst="rect">
            <a:avLst/>
          </a:prstGeom>
          <a:noFill/>
          <a:ln w="0">
            <a:noFill/>
          </a:ln>
        </p:spPr>
        <p:style>
          <a:lnRef idx="0"/>
          <a:fillRef idx="0"/>
          <a:effectRef idx="0"/>
          <a:fontRef idx="minor"/>
        </p:style>
        <p:txBody>
          <a:bodyPr lIns="50760" tIns="25560" rIns="50760" bIns="25560" anchor="ctr">
            <a:spAutoFit/>
          </a:bodyPr>
          <a:p>
            <a:pPr algn="r" defTabSz="457200">
              <a:lnSpc>
                <a:spcPct val="115000"/>
              </a:lnSpc>
            </a:pPr>
            <a:r>
              <a:rPr lang="en-US" sz="900" b="1" u="none" strike="noStrike">
                <a:solidFill>
                  <a:srgbClr val="FFFFFF"/>
                </a:solidFill>
                <a:effectLst/>
                <a:uFillTx/>
                <a:latin typeface="Calibri"/>
              </a:rPr>
              <a:t>18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Rectangle 1"/>
          <p:cNvSpPr/>
          <p:nvPr/>
        </p:nvSpPr>
        <p:spPr>
          <a:xfrm>
            <a:off x="0" y="0"/>
            <a:ext cx="12191400" cy="6857640"/>
          </a:xfrm>
          <a:prstGeom prst="rect">
            <a:avLst/>
          </a:prstGeom>
          <a:solidFill>
            <a:srgbClr val="0D1B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2" name="Rectangle 2"/>
          <p:cNvSpPr/>
          <p:nvPr/>
        </p:nvSpPr>
        <p:spPr>
          <a:xfrm>
            <a:off x="0" y="3200400"/>
            <a:ext cx="12191400" cy="54360"/>
          </a:xfrm>
          <a:prstGeom prst="rect">
            <a:avLst/>
          </a:prstGeom>
          <a:solidFill>
            <a:srgbClr val="F0A5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53" name="TextBox 3"/>
          <p:cNvSpPr/>
          <p:nvPr/>
        </p:nvSpPr>
        <p:spPr>
          <a:xfrm>
            <a:off x="457200" y="1371600"/>
            <a:ext cx="11274120" cy="137124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5600" b="1" u="none" strike="noStrike">
                <a:solidFill>
                  <a:srgbClr val="FFFFFF"/>
                </a:solidFill>
                <a:effectLst/>
                <a:uFillTx/>
                <a:latin typeface="Calibri"/>
              </a:rPr>
              <a:t>Thank You</a:t>
            </a:r>
            <a:endParaRPr lang="en-IN" sz="5600" b="0" u="none" strike="noStrike">
              <a:solidFill>
                <a:srgbClr val="000000"/>
              </a:solidFill>
              <a:effectLst/>
              <a:uFillTx/>
              <a:latin typeface="Arial"/>
            </a:endParaRPr>
          </a:p>
        </p:txBody>
      </p:sp>
      <p:sp>
        <p:nvSpPr>
          <p:cNvPr id="654" name="TextBox 4"/>
          <p:cNvSpPr/>
          <p:nvPr/>
        </p:nvSpPr>
        <p:spPr>
          <a:xfrm>
            <a:off x="457200" y="2468880"/>
            <a:ext cx="11274120" cy="45684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500" b="0" i="1" u="none" strike="noStrike">
                <a:solidFill>
                  <a:srgbClr val="CDE8EC"/>
                </a:solidFill>
                <a:effectLst/>
                <a:uFillTx/>
                <a:latin typeface="Calibri"/>
              </a:rPr>
              <a:t>Let us build the joint motion that makes TCN the only CCaaS with embedded quantum-safe compliance.</a:t>
            </a:r>
            <a:endParaRPr lang="en-IN" sz="1500" b="0" u="none" strike="noStrike">
              <a:solidFill>
                <a:srgbClr val="000000"/>
              </a:solidFill>
              <a:effectLst/>
              <a:uFillTx/>
              <a:latin typeface="Arial"/>
            </a:endParaRPr>
          </a:p>
        </p:txBody>
      </p:sp>
      <p:sp>
        <p:nvSpPr>
          <p:cNvPr id="655" name="Rounded Rectangle 5"/>
          <p:cNvSpPr/>
          <p:nvPr/>
        </p:nvSpPr>
        <p:spPr>
          <a:xfrm>
            <a:off x="609480" y="3657600"/>
            <a:ext cx="3474360" cy="1462680"/>
          </a:xfrm>
          <a:prstGeom prst="roundRect">
            <a:avLst>
              <a:gd name="adj" fmla="val 12000"/>
            </a:avLst>
          </a:prstGeom>
          <a:solidFill>
            <a:srgbClr val="1A2D5A"/>
          </a:solidFill>
          <a:ln w="1905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6" name="TextBox 6"/>
          <p:cNvSpPr/>
          <p:nvPr/>
        </p:nvSpPr>
        <p:spPr>
          <a:xfrm>
            <a:off x="609480" y="3886200"/>
            <a:ext cx="347436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300" b="1" u="none" strike="noStrike">
                <a:solidFill>
                  <a:srgbClr val="F0A500"/>
                </a:solidFill>
                <a:effectLst/>
                <a:uFillTx/>
                <a:latin typeface="Calibri"/>
              </a:rPr>
              <a:t>✉  ENTERPRISE</a:t>
            </a:r>
            <a:endParaRPr lang="en-IN" sz="1300" b="0" u="none" strike="noStrike">
              <a:solidFill>
                <a:srgbClr val="000000"/>
              </a:solidFill>
              <a:effectLst/>
              <a:uFillTx/>
              <a:latin typeface="Arial"/>
            </a:endParaRPr>
          </a:p>
        </p:txBody>
      </p:sp>
      <p:sp>
        <p:nvSpPr>
          <p:cNvPr id="657" name="TextBox 7"/>
          <p:cNvSpPr/>
          <p:nvPr/>
        </p:nvSpPr>
        <p:spPr>
          <a:xfrm>
            <a:off x="609480" y="4343400"/>
            <a:ext cx="347436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400" b="0" u="none" strike="noStrike">
                <a:solidFill>
                  <a:srgbClr val="FFFFFF"/>
                </a:solidFill>
                <a:effectLst/>
                <a:uFillTx/>
                <a:latin typeface="Calibri"/>
              </a:rPr>
              <a:t>enterprise@qbitel.com</a:t>
            </a:r>
            <a:endParaRPr lang="en-IN" sz="1400" b="0" u="none" strike="noStrike">
              <a:solidFill>
                <a:srgbClr val="000000"/>
              </a:solidFill>
              <a:effectLst/>
              <a:uFillTx/>
              <a:latin typeface="Arial"/>
            </a:endParaRPr>
          </a:p>
        </p:txBody>
      </p:sp>
      <p:sp>
        <p:nvSpPr>
          <p:cNvPr id="658" name="Rounded Rectangle 8"/>
          <p:cNvSpPr/>
          <p:nvPr/>
        </p:nvSpPr>
        <p:spPr>
          <a:xfrm>
            <a:off x="4358520" y="3657600"/>
            <a:ext cx="3474360" cy="1462680"/>
          </a:xfrm>
          <a:prstGeom prst="roundRect">
            <a:avLst>
              <a:gd name="adj" fmla="val 12000"/>
            </a:avLst>
          </a:prstGeom>
          <a:solidFill>
            <a:srgbClr val="1A2D5A"/>
          </a:solidFill>
          <a:ln w="1905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9" name="TextBox 9"/>
          <p:cNvSpPr/>
          <p:nvPr/>
        </p:nvSpPr>
        <p:spPr>
          <a:xfrm>
            <a:off x="4358520" y="3886200"/>
            <a:ext cx="347436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300" b="1" u="none" strike="noStrike">
                <a:solidFill>
                  <a:srgbClr val="F0A500"/>
                </a:solidFill>
                <a:effectLst/>
                <a:uFillTx/>
                <a:latin typeface="Calibri"/>
              </a:rPr>
              <a:t>⊕  WEBSITE</a:t>
            </a:r>
            <a:endParaRPr lang="en-IN" sz="1300" b="0" u="none" strike="noStrike">
              <a:solidFill>
                <a:srgbClr val="000000"/>
              </a:solidFill>
              <a:effectLst/>
              <a:uFillTx/>
              <a:latin typeface="Arial"/>
            </a:endParaRPr>
          </a:p>
        </p:txBody>
      </p:sp>
      <p:sp>
        <p:nvSpPr>
          <p:cNvPr id="660" name="TextBox 10"/>
          <p:cNvSpPr/>
          <p:nvPr/>
        </p:nvSpPr>
        <p:spPr>
          <a:xfrm>
            <a:off x="4358520" y="4343400"/>
            <a:ext cx="347436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400" b="0" u="none" strike="noStrike">
                <a:solidFill>
                  <a:srgbClr val="FFFFFF"/>
                </a:solidFill>
                <a:effectLst/>
                <a:uFillTx/>
                <a:latin typeface="Calibri"/>
              </a:rPr>
              <a:t>bridge.qbitel.com</a:t>
            </a:r>
            <a:endParaRPr lang="en-IN" sz="1400" b="0" u="none" strike="noStrike">
              <a:solidFill>
                <a:srgbClr val="000000"/>
              </a:solidFill>
              <a:effectLst/>
              <a:uFillTx/>
              <a:latin typeface="Arial"/>
            </a:endParaRPr>
          </a:p>
        </p:txBody>
      </p:sp>
      <p:sp>
        <p:nvSpPr>
          <p:cNvPr id="661" name="Rounded Rectangle 11"/>
          <p:cNvSpPr/>
          <p:nvPr/>
        </p:nvSpPr>
        <p:spPr>
          <a:xfrm>
            <a:off x="8107560" y="3657600"/>
            <a:ext cx="3474360" cy="1462680"/>
          </a:xfrm>
          <a:prstGeom prst="roundRect">
            <a:avLst>
              <a:gd name="adj" fmla="val 12000"/>
            </a:avLst>
          </a:prstGeom>
          <a:solidFill>
            <a:srgbClr val="1A2D5A"/>
          </a:solidFill>
          <a:ln w="19050">
            <a:solidFill>
              <a:srgbClr val="008B9A"/>
            </a:solidFill>
            <a:round/>
          </a:ln>
          <a:effectLst>
            <a:outerShdw algn="tl" blurRad="76320" dir="5400000" dist="25560" rotWithShape="0">
              <a:srgbClr val="000000">
                <a:alpha val="4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62" name="TextBox 12"/>
          <p:cNvSpPr/>
          <p:nvPr/>
        </p:nvSpPr>
        <p:spPr>
          <a:xfrm>
            <a:off x="8107560" y="3886200"/>
            <a:ext cx="347436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300" b="1" u="none" strike="noStrike">
                <a:solidFill>
                  <a:srgbClr val="F0A500"/>
                </a:solidFill>
                <a:effectLst/>
                <a:uFillTx/>
                <a:latin typeface="Calibri"/>
              </a:rPr>
              <a:t>◉  SCHEDULE</a:t>
            </a:r>
            <a:endParaRPr lang="en-IN" sz="1300" b="0" u="none" strike="noStrike">
              <a:solidFill>
                <a:srgbClr val="000000"/>
              </a:solidFill>
              <a:effectLst/>
              <a:uFillTx/>
              <a:latin typeface="Arial"/>
            </a:endParaRPr>
          </a:p>
        </p:txBody>
      </p:sp>
      <p:sp>
        <p:nvSpPr>
          <p:cNvPr id="663" name="TextBox 13"/>
          <p:cNvSpPr/>
          <p:nvPr/>
        </p:nvSpPr>
        <p:spPr>
          <a:xfrm>
            <a:off x="8107560" y="4343400"/>
            <a:ext cx="3474360" cy="63972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400" b="0" u="none" strike="noStrike">
                <a:solidFill>
                  <a:srgbClr val="FFFFFF"/>
                </a:solidFill>
                <a:effectLst/>
                <a:uFillTx/>
                <a:latin typeface="Calibri"/>
              </a:rPr>
              <a:t>Contact your account team</a:t>
            </a:r>
            <a:endParaRPr lang="en-IN" sz="1400" b="0" u="none" strike="noStrike">
              <a:solidFill>
                <a:srgbClr val="000000"/>
              </a:solidFill>
              <a:effectLst/>
              <a:uFillTx/>
              <a:latin typeface="Arial"/>
            </a:endParaRPr>
          </a:p>
        </p:txBody>
      </p:sp>
      <p:sp>
        <p:nvSpPr>
          <p:cNvPr id="664" name="TextBox 14"/>
          <p:cNvSpPr/>
          <p:nvPr/>
        </p:nvSpPr>
        <p:spPr>
          <a:xfrm>
            <a:off x="457200" y="6126480"/>
            <a:ext cx="11274120" cy="365400"/>
          </a:xfrm>
          <a:prstGeom prst="rect">
            <a:avLst/>
          </a:prstGeom>
          <a:noFill/>
          <a:ln w="0">
            <a:noFill/>
          </a:ln>
        </p:spPr>
        <p:style>
          <a:lnRef idx="0"/>
          <a:fillRef idx="0"/>
          <a:effectRef idx="0"/>
          <a:fontRef idx="minor"/>
        </p:style>
        <p:txBody>
          <a:bodyPr lIns="50760" tIns="25560" rIns="50760" bIns="25560" anchor="ctr">
            <a:spAutoFit/>
          </a:bodyPr>
          <a:p>
            <a:pPr algn="ctr" defTabSz="457200">
              <a:lnSpc>
                <a:spcPct val="115000"/>
              </a:lnSpc>
            </a:pPr>
            <a:r>
              <a:rPr lang="en-US" sz="1000" b="0" i="1" u="none" strike="noStrike">
                <a:solidFill>
                  <a:srgbClr val="AABBCC"/>
                </a:solidFill>
                <a:effectLst/>
                <a:uFillTx/>
                <a:latin typeface="Calibri"/>
              </a:rPr>
              <a:t>QBITEL Bridge — Quantum-Safe Security for the Human API   |   © 2026 QBITEL   |   Confidential</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LibreOffice/26.2.3.2$MacOSX_AARCH64 LibreOffice_project/70e089b17412e4cb7773e41413306b17a2328c34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