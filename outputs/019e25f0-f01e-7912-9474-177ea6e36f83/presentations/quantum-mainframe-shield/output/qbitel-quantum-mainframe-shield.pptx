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3329415a1e4a93" /><Relationship Type="http://schemas.openxmlformats.org/officeDocument/2006/relationships/extended-properties" Target="/docProps/app.xml" Id="R468710e8d6d249a4" /><Relationship Type="http://schemas.openxmlformats.org/officeDocument/2006/relationships/officeDocument" Target="/ppt/presentation.xml" Id="R2812fd37534244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743cd172ec4b20"/>
  </p:sldMasterIdLst>
  <p:notesMasterIdLst>
    <p:notesMasterId xmlns:r="http://schemas.openxmlformats.org/officeDocument/2006/relationships" r:id="R52e5416fe8fd4ead"/>
  </p:notesMasterIdLst>
  <p:sldIdLst>
    <p:sldId xmlns:r="http://schemas.openxmlformats.org/officeDocument/2006/relationships" id="256" r:id="R5d3ff34ea79d4b2a"/>
    <p:sldId xmlns:r="http://schemas.openxmlformats.org/officeDocument/2006/relationships" id="257" r:id="R5d2cfadfa49b4f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43cd172ec4b20" /><Relationship Type="http://schemas.openxmlformats.org/officeDocument/2006/relationships/theme" Target="/ppt/theme/theme1.xml" Id="R730a030bf2734246" /><Relationship Type="http://schemas.openxmlformats.org/officeDocument/2006/relationships/notesMaster" Target="/ppt/notesMasters/notesMaster1.xml" Id="R52e5416fe8fd4ead" /><Relationship Type="http://schemas.openxmlformats.org/officeDocument/2006/relationships/presProps" Target="/ppt/presProps.xml" Id="R472eb8c95b7c43bb" /><Relationship Type="http://schemas.openxmlformats.org/officeDocument/2006/relationships/viewProps" Target="/ppt/viewProps.xml" Id="R31d20df3bffd4ba4" /><Relationship Type="http://schemas.openxmlformats.org/officeDocument/2006/relationships/tableStyles" Target="/ppt/tableStyles.xml" Id="R175b53a8192243fe" /><Relationship Type="http://schemas.openxmlformats.org/officeDocument/2006/relationships/slide" Target="/ppt/slides/slide1.xml" Id="R5d3ff34ea79d4b2a" /><Relationship Type="http://schemas.openxmlformats.org/officeDocument/2006/relationships/slide" Target="/ppt/slides/slide2.xml" Id="R5d2cfadfa49b4f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02bfb225df94c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c57cf6be05496c" /><Relationship Type="http://schemas.openxmlformats.org/officeDocument/2006/relationships/notesMaster" Target="/ppt/notesMasters/notesMaster1.xml" Id="Ra52ea53c79fd48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aa8a1235c2489d" /><Relationship Type="http://schemas.openxmlformats.org/officeDocument/2006/relationships/notesMaster" Target="/ppt/notesMasters/notesMaster1.xml" Id="R71fd6a42f1404d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d8748b67d46f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63f00bd92fe428e" /><Relationship Type="http://schemas.openxmlformats.org/officeDocument/2006/relationships/slideLayout" Target="/ppt/slideLayouts/slideLayout2.xml" Id="R522d6690c10143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2d6690c10143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a688c5682f4d7d" /><Relationship Type="http://schemas.openxmlformats.org/officeDocument/2006/relationships/image" Target="/ppt/media/image.png" Id="R14f7b66b0b3e4f68" /><Relationship Type="http://schemas.openxmlformats.org/officeDocument/2006/relationships/image" Target="/ppt/media/image.svg" Id="R7d69dac8dc5d4209" /><Relationship Type="http://schemas.openxmlformats.org/officeDocument/2006/relationships/image" Target="/ppt/media/image2.png" Id="Raef3036c647d4638" /><Relationship Type="http://schemas.openxmlformats.org/officeDocument/2006/relationships/image" Target="/ppt/media/image2.svg" Id="Rca968c7eefc54a2f" /><Relationship Type="http://schemas.openxmlformats.org/officeDocument/2006/relationships/image" Target="/ppt/media/image3.png" Id="R349b177a098d463f" /><Relationship Type="http://schemas.openxmlformats.org/officeDocument/2006/relationships/image" Target="/ppt/media/image3.svg" Id="Rb1eb2d5eee71447f" /><Relationship Type="http://schemas.openxmlformats.org/officeDocument/2006/relationships/image" Target="/ppt/media/image4.png" Id="R11a1bf5fa918415d" /><Relationship Type="http://schemas.openxmlformats.org/officeDocument/2006/relationships/image" Target="/ppt/media/image4.svg" Id="R59f3db538c324c50" /><Relationship Type="http://schemas.openxmlformats.org/officeDocument/2006/relationships/image" Target="/ppt/media/image5.png" Id="Rb576092ee59346ff" /><Relationship Type="http://schemas.openxmlformats.org/officeDocument/2006/relationships/image" Target="/ppt/media/image5.svg" Id="R823d05099b274a3a" /><Relationship Type="http://schemas.openxmlformats.org/officeDocument/2006/relationships/notesSlide" Target="/ppt/notesSlides/notesSlide1.xml" Id="Rfc4216c8514544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220bcb3ea84fff" /><Relationship Type="http://schemas.openxmlformats.org/officeDocument/2006/relationships/notesSlide" Target="/ppt/notesSlides/notesSlide2.xml" Id="Rfdb4c080be4c44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A20277-E449-488F-A36D-C56D49FA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05088-18DD-4A5B-8BDC-8DC2E3A1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5DE795-F91B-4D74-909B-EC821D1D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3381A27-1FBC-42C7-A5D4-4F775BA5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M A I N F R A M E   S H I E L 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C505B-39F8-4A1C-837D-70736D31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191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182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D1826"/>
                </a:solidFill>
                <a:latin typeface="Avenir Next"/>
                <a:ea typeface="Avenir Next"/>
                <a:cs typeface="Avenir Next"/>
              </a:rPr>
              <a:t>QBITEL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86B53-180E-4E8F-B02A-70C504F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Quantum-safe protection wraps mainframe traffic before modernization starts.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6FC9B-B2DF-47FC-B493-FF867796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66775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A network-layer shield protects unpatchable COBOL and proprietary protocols first, while AI discovery learns what the legacy estate actually does.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FE7B0-700B-4062-9F63-5C26547B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10871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859BE-3E24-4169-9CC1-7BA34311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2194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7"/>
          </a:solidFill>
          <a:ln xmlns:a="http://schemas.openxmlformats.org/drawingml/2006/main" w="9525">
            <a:solidFill>
              <a:srgbClr val="2C3D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365CE-EF12-4A26-A1B1-4EBF63A9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34099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4"/>
          </a:solidFill>
          <a:ln xmlns:a="http://schemas.openxmlformats.org/drawingml/2006/main" w="9525">
            <a:solidFill>
              <a:srgbClr val="1F6B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12B70-7FD8-4C63-9EE6-5FE6DDFF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2004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7"/>
          </a:solidFill>
          <a:ln xmlns:a="http://schemas.openxmlformats.org/drawingml/2006/main" w="9525">
            <a:solidFill>
              <a:srgbClr val="2C3D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FD7C5-9BC1-498C-84B6-24442E9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AAB5C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AAB5C4"/>
                </a:solidFill>
                <a:latin typeface="Avenir Next"/>
                <a:ea typeface="Avenir Next"/>
                <a:cs typeface="Avenir Next"/>
              </a:rPr>
              <a:t>LEGACY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7752D-F81D-4A21-B0DF-1AEC78EB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Quantum Shield overlay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D3F57-1C6B-4B5B-A47C-6CB21447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AAB5C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AAB5C4"/>
                </a:solidFill>
                <a:latin typeface="Avenir Next"/>
                <a:ea typeface="Avenir Next"/>
                <a:cs typeface="Avenir Next"/>
              </a:rPr>
              <a:t>MODERN EDGE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7b66b0b3e4f68">
            <a:extLst>
              <a:ext uri="{96DAC541-7B7A-43D3-8B79-37D633B846F1}">
                <asvg:svgBlip xmlns:asvg="http://schemas.microsoft.com/office/drawing/2016/SVG/main" r:embed="R7d69dac8dc5d42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8225" y="28194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A3B8D-CC22-4AA1-B838-2ED1A3E1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6"/>
          </a:solidFill>
          <a:ln xmlns:a="http://schemas.openxmlformats.org/drawingml/2006/main" w="9525">
            <a:solidFill>
              <a:srgbClr val="3948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561B9-4E81-4F98-850B-9203EDC4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765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IBM z/OS + COBOL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4B158-059D-4E37-AFF1-ED72D534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5277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BAC4D2"/>
                </a:solidFill>
                <a:latin typeface="Avenir Next"/>
                <a:ea typeface="Avenir Next"/>
                <a:cs typeface="Avenir Next"/>
              </a:defRPr>
            </a:pPr>
            <a:r>
              <a:rPr sz="720" b="0">
                <a:solidFill>
                  <a:srgbClr val="BAC4D2"/>
                </a:solidFill>
                <a:latin typeface="Avenir Next"/>
                <a:ea typeface="Avenir Next"/>
                <a:cs typeface="Avenir Next"/>
              </a:rPr>
              <a:t>CICS, batch files, EBCDIC records, proprietary payment or policy protocols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3036c647d4638">
            <a:extLst>
              <a:ext uri="{96DAC541-7B7A-43D3-8B79-37D633B846F1}">
                <asvg:svgBlip xmlns:asvg="http://schemas.microsoft.com/office/drawing/2016/SVG/main" r:embed="Rca968c7eefc54a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8225" y="37433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A1D29-4C29-4618-BA91-AD42373B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766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6"/>
          </a:solidFill>
          <a:ln xmlns:a="http://schemas.openxmlformats.org/drawingml/2006/main" w="9525">
            <a:solidFill>
              <a:srgbClr val="3948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5ACA5D-FE70-4D2B-A34F-577FA6EE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100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High-value traffic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56A2C-9ACB-4794-9636-BECC614A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8622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BAC4D2"/>
                </a:solidFill>
                <a:latin typeface="Avenir Next"/>
                <a:ea typeface="Avenir Next"/>
                <a:cs typeface="Avenir Next"/>
              </a:defRPr>
            </a:pPr>
            <a:r>
              <a:rPr sz="720" b="0">
                <a:solidFill>
                  <a:srgbClr val="BAC4D2"/>
                </a:solidFill>
                <a:latin typeface="Avenir Next"/>
                <a:ea typeface="Avenir Next"/>
                <a:cs typeface="Avenir Next"/>
              </a:rPr>
              <a:t>SWIFT/FedWire, claims, account servicing, call-center integrations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5972AD-EC5F-4E77-BB10-1AC20BDB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71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7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014D6-AD10-4DF7-9328-8D831A24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765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971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9971F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030304-A2B6-4E88-82F0-513C8493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052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7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FFE44-0F7B-4A55-9226-C04D4F06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100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971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9971F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DD3ED-7C1D-4875-9CF1-D3477A0F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33700"/>
            <a:ext cx="2724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3C"/>
          </a:solidFill>
          <a:ln xmlns:a="http://schemas.openxmlformats.org/drawingml/2006/main" w="14288">
            <a:solidFill>
              <a:srgbClr val="2FB8B1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b177a098d463f">
            <a:extLst>
              <a:ext uri="{96DAC541-7B7A-43D3-8B79-37D633B846F1}">
                <asvg:svgBlip xmlns:asvg="http://schemas.microsoft.com/office/drawing/2016/SVG/main" r:embed="Rb1eb2d5eee7144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19675" y="3162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10E296-620E-4E49-A127-291EEE4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24200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Post-quantum tunnel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6897FB-AF6C-435D-B773-F3583388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290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CFEDEA"/>
                </a:solidFill>
                <a:latin typeface="Avenir Next"/>
                <a:ea typeface="Avenir Next"/>
                <a:cs typeface="Avenir Next"/>
              </a:defRPr>
            </a:pPr>
            <a:r>
              <a:rPr sz="720" b="0">
                <a:solidFill>
                  <a:srgbClr val="CFEDEA"/>
                </a:solidFill>
                <a:latin typeface="Avenir Next"/>
                <a:ea typeface="Avenir Next"/>
                <a:cs typeface="Avenir Next"/>
              </a:rPr>
              <a:t>ML-KEM/Kyber-1024 + ML-DSA/Dilithium-5 hybrid transition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001F2B-E654-4F47-BF4F-48BA7EE1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38625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49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3A78B2-5A53-471A-8F1D-2A1698B8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86250"/>
            <a:ext cx="18478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D9F7F4"/>
                </a:solidFill>
                <a:latin typeface="Avenir Next"/>
                <a:ea typeface="Avenir Next"/>
                <a:cs typeface="Avenir Next"/>
              </a:defRPr>
            </a:pPr>
            <a:r>
              <a:rPr sz="623" b="1">
                <a:solidFill>
                  <a:srgbClr val="D9F7F4"/>
                </a:solidFill>
                <a:latin typeface="Avenir Next"/>
                <a:ea typeface="Avenir Next"/>
                <a:cs typeface="Avenir Next"/>
              </a:rPr>
              <a:t>Network layer: no COBOL rewrite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82DE86-B70E-4DC0-88E4-FBA8BC2C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43425"/>
            <a:ext cx="2495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49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FC79D0-A578-4F75-A6DA-730F2906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91050"/>
            <a:ext cx="2266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D9F7F4"/>
                </a:solidFill>
                <a:latin typeface="Avenir Next"/>
                <a:ea typeface="Avenir Next"/>
                <a:cs typeface="Avenir Next"/>
              </a:defRPr>
            </a:pPr>
            <a:r>
              <a:rPr sz="623" b="1">
                <a:solidFill>
                  <a:srgbClr val="D9F7F4"/>
                </a:solidFill>
                <a:latin typeface="Avenir Next"/>
                <a:ea typeface="Avenir Next"/>
                <a:cs typeface="Avenir Next"/>
              </a:rPr>
              <a:t>Passive discovery + policy enforcement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612CD7-DD76-4F45-A436-03AC2785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2425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E0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9694CE-D0F8-4D0B-B221-3AFA1867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EE0D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EE0D7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1bf5fa918415d">
            <a:extLst>
              <a:ext uri="{96DAC541-7B7A-43D3-8B79-37D633B846F1}">
                <asvg:svgBlip xmlns:asvg="http://schemas.microsoft.com/office/drawing/2016/SVG/main" r:embed="R59f3db538c324c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05825" y="28194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413BFB-1488-4C88-84CF-6CCE5008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4320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6"/>
          </a:solidFill>
          <a:ln xmlns:a="http://schemas.openxmlformats.org/drawingml/2006/main" w="9525">
            <a:solidFill>
              <a:srgbClr val="39485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9CEC12-73FD-4B7D-9B4A-596BEA4C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Cloud and API consumers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5C1697-B8A6-4B5E-86FA-0C1D55FA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527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BAC4D2"/>
                </a:solidFill>
                <a:latin typeface="Avenir Next"/>
                <a:ea typeface="Avenir Next"/>
                <a:cs typeface="Avenir Next"/>
              </a:defRPr>
            </a:pPr>
            <a:r>
              <a:rPr sz="720" b="0">
                <a:solidFill>
                  <a:srgbClr val="BAC4D2"/>
                </a:solidFill>
                <a:latin typeface="Avenir Next"/>
                <a:ea typeface="Avenir Next"/>
                <a:cs typeface="Avenir Next"/>
              </a:rPr>
              <a:t>Fraud engines, mobile apps, partner APIs, migration platforms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6092ee59346ff">
            <a:extLst>
              <a:ext uri="{96DAC541-7B7A-43D3-8B79-37D633B846F1}">
                <asvg:svgBlip xmlns:asvg="http://schemas.microsoft.com/office/drawing/2016/SVG/main" r:embed="R823d05099b274a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05825" y="37433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27493E-4A3E-4768-B83B-C8AB593C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6"/>
          </a:solidFill>
          <a:ln xmlns:a="http://schemas.openxmlformats.org/drawingml/2006/main" w="9525">
            <a:solidFill>
              <a:srgbClr val="39485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C1F3D9-7AE1-4127-9CA5-12E27A8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1000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Modernization path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EED5C0-FD04-4DD3-BDBC-A25D097A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8622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BAC4D2"/>
                </a:solidFill>
                <a:latin typeface="Avenir Next"/>
                <a:ea typeface="Avenir Next"/>
                <a:cs typeface="Avenir Next"/>
              </a:defRPr>
            </a:pPr>
            <a:r>
              <a:rPr sz="720" b="0">
                <a:solidFill>
                  <a:srgbClr val="BAC4D2"/>
                </a:solidFill>
                <a:latin typeface="Avenir Next"/>
                <a:ea typeface="Avenir Next"/>
                <a:cs typeface="Avenir Next"/>
              </a:rPr>
              <a:t>Specs, adapters, generated tests, risk plan, compliance 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C75FA3-5CFD-4143-ABF5-0238B2B4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A2A5CF-942F-4DB2-A00E-D6BD1D46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E4E909-371C-4253-824C-367570C2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524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2-4 hrs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F5901B-93C4-4D05-AE0F-8548DD47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570" b="1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DISCOVERY AND INITIAL PROTECTION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5CC8D9-8448-4FDF-89B5-A8CDA751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721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vs. 6-12 months manual protocol work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7556B0-98A2-4FCE-A776-AD217F1C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248275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7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730BB0-FB29-4574-88D8-3B6F6461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86375"/>
            <a:ext cx="1524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NIST L5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EF55D6-32F6-491B-83E7-CDF347DC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197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570" b="1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QUANTUM-SAFE POSTURE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7B3DE7-8E91-4EF9-9768-67DB6ECF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721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Kyber-1024 and Dilithium-5 defaults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DDB4B2-2B18-4E7C-A04A-D50FFCB7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48275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CA2108-CDC0-408D-A71A-19854F6C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286375"/>
            <a:ext cx="1524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&lt;1 ms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3D0F84-CD51-4FB3-9728-08F4BC30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6197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570" b="1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ENCRYPTION OVERHEAD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ED7F4E-0EE6-4957-BC54-40FB4140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7721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source claim for PQC data plane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ED4FBF-D7F1-491B-BCE7-5F386FE7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48275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A6B061-3AEB-46F1-9FDA-C455BED3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286375"/>
            <a:ext cx="1524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0DDE46-D14C-44D7-89F3-E17A2353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6197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570" b="1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COBOL CODE CHANGES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AF2F42-86D5-4395-B0E6-ABC18C44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7721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protect first; modernization stays optional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35672A-26A1-4C64-AD77-57B75262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191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6CEF40-0322-4F95-8D57-AD2DC4E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A6C6A4-77C8-402F-88EA-40172DDB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47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555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Sources: QBITEL product reference; UC1 Legacy Mainframe Modernization demo script.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741292-E779-4CC3-8C15-D9964683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877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5E687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25675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B95F41-30D1-4C2F-84F0-C296BF07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1380C-DD4E-4E1C-9745-D7618005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3ED929F-7C68-4C96-9AA6-81F2B31B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F485318-3B49-4CEC-BBEC-FED77D88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U S E - C A S E   M O T I O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1EBC2-F980-406B-98EA-76F4BB12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191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182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D1826"/>
                </a:solidFill>
                <a:latin typeface="Avenir Next"/>
                <a:ea typeface="Avenir Next"/>
                <a:cs typeface="Avenir Next"/>
              </a:rPr>
              <a:t>QBITEL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70722-6490-4400-954E-EE28355B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762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One overlay moves legacy systems from unpatchable exposure to governed modernization.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37B85-CD4A-4B46-97E2-F9E6D012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885825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1065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The product story is not a rip-and-replace migration. It is a staged shield: protect traffic, learn behavior, translate safely, and prove governance.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001B0-D46C-4B21-82CE-E1ECC1B7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40957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5B7D7-9628-45D6-BAC3-1D1A3935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OPERATING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E4882-7A30-4610-967B-D48DAE74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00375"/>
            <a:ext cx="19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0E0C8-1F99-451A-8F7A-4D9A7BC3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D351A-E4D5-4442-867D-DD13BC4E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71775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99A11-DEB6-4110-B11D-4E7E9CE0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860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Discover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B79A4-E125-412A-8492-FA841F40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81325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Passive traffic analysis maps protocols, fields, EBCDIC records, message types, and system owners.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4B719-D4E2-45FB-8402-79C57AC0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622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30967-D365-4007-B37E-D5E56880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3213F-39BD-46E4-8554-4BF1C3AF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385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4E3FD-8794-4019-9979-EF9277A1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528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Protect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17A48-FC41-4E95-A9D5-1A345AED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Quantum-safe wrapper enforces encrypted, authenticated paths around legacy communication.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7D2D1-2862-4B10-B72C-9DCC1F2A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60107-3784-4211-AF1B-1F57D730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7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0620F-E704-47C2-829B-D9F0260B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05325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883FA-21CA-41E2-9458-9B3564F8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19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Translate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2BA83-973A-49BC-9E7C-753D53D7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14875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Generated adapters expose REST/API contracts while preserving mainframe behavior.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A7A43-A010-47B1-AB35-34FF0046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958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7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2F64B5-DE01-4129-96E5-CEA2D7FF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E5D432-42BE-4B42-89D2-0CA43F4E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721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16F39A-BE67-41F3-8208-F276112D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8637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Govern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DB62B9-D2F7-462D-BAC2-A8ADAF72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8165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Risk, compliance, modernization plans, and evidence trails stay attached to the system.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724621-5E28-4CE6-935E-D18CE0BC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26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5A3B9D-2B2E-44A5-AB9E-5D97DFAC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6865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FC8373-F8AA-4BF0-BEA3-B9F24D79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479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PRIORITY USE CASES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FC70C-B3EE-4810-9A12-804CBF37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527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Legacy estate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0BE97E-C35C-4731-BAC9-D044F60F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527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Exposure before shield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107CA8-7F6E-46CC-B920-6E377A7B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55270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QBITEL shield outcome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7C7501-5E36-48BB-9F09-8AD1F79B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003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33E404-3A06-4909-9E03-67FE9BE3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480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1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Banking mainframes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8CB6F3-F1AA-4AF5-BE46-53C9C70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SWIFT/FedWire links and core banking flows stay quantum-vulnerable.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0ED4DE-6944-41D5-9B32-10947F67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480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NIST Level 5 encrypted traffic with zero COBOL change.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44C87A-0310-44B6-A237-B01F9110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289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2232D5-7C84-4C41-A8E9-2A5E27E1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766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81AE75-6F94-4E9F-9521-2B2AEABA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38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1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Insurance policy admin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0C0A2D-43A5-4B15-9080-2AC4A27D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COBOL policy records and claims feeds are hard to document.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74D3DC-A0AB-4446-A921-49D7B2FD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6385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AI-generated specs and adapters create governed API paths.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06D87F-5C3F-441D-BD68-AA2490E5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1950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7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9D2A6C-E95E-424F-80CF-D148DBC4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671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494FC5-73E2-4BC7-8443-250D6146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29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1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BPO and call centers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8A5FDE-44E9-4FDB-9F58-CBFD11C3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2910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Legacy CRM, IVR, and payment screens expose old protocols.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B23209-A63E-4EDA-B70A-8568B493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291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Shielded integration supports secure agents and audit trails.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2FF4DA-26E8-4BA3-AA06-88E34ACA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1005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9FC0B7-3605-48FE-8FB3-22D595A9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577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02AA66-B8E5-44FC-B352-C8CF2515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19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1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Healthcare claims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F11D8D-808A-4F99-B729-7E3B26A5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1965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Mainframe and batch channels carry long-lived PHI exposure.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6C50E5-F480-4635-8CAC-F3A6223C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8196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Quantum-safe wrapper plus translation to modern workflows.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E10534-4221-4BA4-9148-B1DFE7A7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0060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9384C3-F908-4E3D-8D99-DB2D69B2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482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269FAC-C6A9-453D-9EBD-4F429F05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48300"/>
            <a:ext cx="5572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1EE"/>
          </a:solidFill>
          <a:ln xmlns:a="http://schemas.openxmlformats.org/drawingml/2006/main" w="9525">
            <a:solidFill>
              <a:srgbClr val="B7DA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AE5632-D2FD-4896-8FD6-BB86B1A5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14975"/>
            <a:ext cx="529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Positioning line: Quantum-safe mainframe security now; modernization intelligence from the same deployment.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F8E6DC-9987-4FC6-9711-B515E216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814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B44D2E-E99F-41D5-8314-CAE0939A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862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8A8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E8A86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8E4242A-B6CB-4686-8784-A9DD1E4F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76300"/>
            <a:ext cx="9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2E1BC5-8290-4281-9617-B0AD1370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033E55-3162-433D-BA86-B125704D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47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" b="0">
                <a:solidFill>
                  <a:srgbClr val="5E6877"/>
                </a:solidFill>
                <a:latin typeface="Avenir Next"/>
                <a:ea typeface="Avenir Next"/>
                <a:cs typeface="Avenir Next"/>
              </a:defRPr>
            </a:pPr>
            <a:r>
              <a:rPr sz="555" b="0">
                <a:solidFill>
                  <a:srgbClr val="5E6877"/>
                </a:solidFill>
                <a:latin typeface="Avenir Next"/>
                <a:ea typeface="Avenir Next"/>
                <a:cs typeface="Avenir Next"/>
              </a:rPr>
              <a:t>Sources: UC1 README and demo script; Legacy System Whisperer documentation; QBITEL product reference.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A1CD6C-0E75-4DBB-A92F-7BEE1CED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877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5E687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9922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2026-05-14T10:11:08.7030000Z</dcterms:created>
  <dcterms:modified xsi:type="dcterms:W3CDTF">2026-05-14T10:11:08.7030000Z</dcterms:modified>
</coreProperties>
</file>